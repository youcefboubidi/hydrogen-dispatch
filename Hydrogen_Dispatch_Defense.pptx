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3.png" ContentType="image/png"/>
  <Override PartName="/ppt/media/image4.png" ContentType="image/png"/>
  <Override PartName="/ppt/media/image9.png" ContentType="image/png"/>
  <Override PartName="/ppt/media/image18.png" ContentType="image/png"/>
  <Override PartName="/ppt/media/image20.png" ContentType="image/png"/>
  <Override PartName="/ppt/media/image12.png" ContentType="image/png"/>
  <Override PartName="/ppt/media/image3.png" ContentType="image/png"/>
  <Override PartName="/ppt/media/image8.png" ContentType="image/png"/>
  <Override PartName="/ppt/media/image17.png" ContentType="image/png"/>
  <Override PartName="/ppt/media/image22.png" ContentType="image/png"/>
  <Override PartName="/ppt/media/image21.png" ContentType="image/png"/>
  <Override PartName="/ppt/media/image19.png" ContentType="image/png"/>
  <Override PartName="/ppt/media/image2.jpeg" ContentType="image/jpeg"/>
  <Override PartName="/ppt/media/image5.png" ContentType="image/png"/>
  <Override PartName="/ppt/media/image14.png" ContentType="image/png"/>
  <Override PartName="/ppt/media/image6.png" ContentType="image/png"/>
  <Override PartName="/ppt/media/image15.png" ContentType="image/png"/>
  <Override PartName="/ppt/media/image10.png" ContentType="image/png"/>
  <Override PartName="/ppt/media/image1.png" ContentType="image/png"/>
  <Override PartName="/ppt/media/image16.png" ContentType="image/png"/>
  <Override PartName="/ppt/media/image7.png" ContentType="image/png"/>
  <Override PartName="/ppt/media/image11.png" ContentType="image/png"/>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_rels/slide9.xml.rels" ContentType="application/vnd.openxmlformats-package.relationships+xml"/>
  <Override PartName="/ppt/slides/_rels/slide26.xml.rels" ContentType="application/vnd.openxmlformats-package.relationships+xml"/>
  <Override PartName="/ppt/slides/_rels/slide11.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8.xml.rels" ContentType="application/vnd.openxmlformats-package.relationships+xml"/>
  <Override PartName="/ppt/slides/_rels/slide12.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19.xml.rels" ContentType="application/vnd.openxmlformats-package.relationships+xml"/>
  <Override PartName="/ppt/slides/_rels/slide13.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33.xml.rels" ContentType="application/vnd.openxmlformats-package.relationships+xml"/>
  <Override PartName="/ppt/slides/_rels/slide32.xml.rels" ContentType="application/vnd.openxmlformats-package.relationships+xml"/>
  <Override PartName="/ppt/slides/_rels/slide34.xml.rels" ContentType="application/vnd.openxmlformats-package.relationships+xml"/>
  <Override PartName="/ppt/slides/_rels/slide10.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36.xml.rels" ContentType="application/vnd.openxmlformats-package.relationships+xml"/>
  <Override PartName="/ppt/slides/_rels/slide28.xml.rels" ContentType="application/vnd.openxmlformats-package.relationships+xml"/>
  <Override PartName="/ppt/slides/_rels/slide30.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37.xml.rels" ContentType="application/vnd.openxmlformats-package.relationships+xml"/>
  <Override PartName="/ppt/slides/_rels/slide29.xml.rels" ContentType="application/vnd.openxmlformats-package.relationships+xml"/>
  <Override PartName="/ppt/slides/_rels/slide31.xml.rels" ContentType="application/vnd.openxmlformats-package.relationships+xml"/>
  <Override PartName="/ppt/slides/_rels/slide35.xml.rels" ContentType="application/vnd.openxmlformats-package.relationships+xml"/>
  <Override PartName="/ppt/slides/_rels/slide38.xml.rels" ContentType="application/vnd.openxmlformats-package.relationships+xml"/>
  <Override PartName="/ppt/slides/_rels/slide40.xml.rels" ContentType="application/vnd.openxmlformats-package.relationships+xml"/>
  <Override PartName="/ppt/slides/_rels/slide39.xml.rels" ContentType="application/vnd.openxmlformats-package.relationships+xml"/>
  <Override PartName="/ppt/slides/_rels/slide41.xml.rels" ContentType="application/vnd.openxmlformats-package.relationships+xml"/>
  <Override PartName="/ppt/slides/_rels/slide42.xml.rels" ContentType="application/vnd.openxmlformats-package.relationships+xml"/>
  <Override PartName="/ppt/slides/_rels/slide43.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8.xml.rels" ContentType="application/vnd.openxmlformats-package.relationships+xml"/>
  <Override PartName="/ppt/slides/_rels/slide25.xml.rels" ContentType="application/vnd.openxmlformats-package.relationships+xml"/>
  <Override PartName="/ppt/slides/_rels/slide7.xml.rels" ContentType="application/vnd.openxmlformats-package.relationships+xml"/>
  <Override PartName="/ppt/slides/_rels/slide24.xml.rels" ContentType="application/vnd.openxmlformats-package.relationships+xml"/>
  <Override PartName="/ppt/slides/slide38.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31.xml" ContentType="application/vnd.openxmlformats-officedocument.presentationml.slide+xml"/>
  <Override PartName="/ppt/slides/slide43.xml" ContentType="application/vnd.openxmlformats-officedocument.presentationml.slide+xml"/>
  <Override PartName="/ppt/slides/slide30.xml" ContentType="application/vnd.openxmlformats-officedocument.presentationml.slide+xml"/>
  <Override PartName="/ppt/slides/slide25.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notesSlides/_rels/notesSlide18.xml.rels" ContentType="application/vnd.openxmlformats-package.relationships+xml"/>
  <Override PartName="/ppt/notesSlides/_rels/notesSlide9.xml.rels" ContentType="application/vnd.openxmlformats-package.relationships+xml"/>
  <Override PartName="/ppt/notesSlides/_rels/notesSlide17.xml.rels" ContentType="application/vnd.openxmlformats-package.relationships+xml"/>
  <Override PartName="/ppt/notesSlides/_rels/notesSlide8.xml.rels" ContentType="application/vnd.openxmlformats-package.relationships+xml"/>
  <Override PartName="/ppt/notesSlides/_rels/notesSlide3.xml.rels" ContentType="application/vnd.openxmlformats-package.relationships+xml"/>
  <Override PartName="/ppt/notesSlides/_rels/notesSlide12.xml.rels" ContentType="application/vnd.openxmlformats-package.relationships+xml"/>
  <Override PartName="/ppt/notesSlides/_rels/notesSlide16.xml.rels" ContentType="application/vnd.openxmlformats-package.relationships+xml"/>
  <Override PartName="/ppt/notesSlides/_rels/notesSlide7.xml.rels" ContentType="application/vnd.openxmlformats-package.relationships+xml"/>
  <Override PartName="/ppt/notesSlides/_rels/notesSlide27.xml.rels" ContentType="application/vnd.openxmlformats-package.relationships+xml"/>
  <Override PartName="/ppt/notesSlides/_rels/notesSlide14.xml.rels" ContentType="application/vnd.openxmlformats-package.relationships+xml"/>
  <Override PartName="/ppt/notesSlides/_rels/notesSlide5.xml.rels" ContentType="application/vnd.openxmlformats-package.relationships+xml"/>
  <Override PartName="/ppt/notesSlides/_rels/notesSlide1.xml.rels" ContentType="application/vnd.openxmlformats-package.relationships+xml"/>
  <Override PartName="/ppt/notesSlides/_rels/notesSlide10.xml.rels" ContentType="application/vnd.openxmlformats-package.relationships+xml"/>
  <Override PartName="/ppt/notesSlides/_rels/notesSlide32.xml.rels" ContentType="application/vnd.openxmlformats-package.relationships+xml"/>
  <Override PartName="/ppt/notesSlides/_rels/notesSlide20.xml.rels" ContentType="application/vnd.openxmlformats-package.relationships+xml"/>
  <Override PartName="/ppt/notesSlides/_rels/notesSlide19.xml.rels" ContentType="application/vnd.openxmlformats-package.relationships+xml"/>
  <Override PartName="/ppt/notesSlides/_rels/notesSlide21.xml.rels" ContentType="application/vnd.openxmlformats-package.relationships+xml"/>
  <Override PartName="/ppt/notesSlides/_rels/notesSlide15.xml.rels" ContentType="application/vnd.openxmlformats-package.relationships+xml"/>
  <Override PartName="/ppt/notesSlides/_rels/notesSlide6.xml.rels" ContentType="application/vnd.openxmlformats-package.relationships+xml"/>
  <Override PartName="/ppt/notesSlides/_rels/notesSlide33.xml.rels" ContentType="application/vnd.openxmlformats-package.relationships+xml"/>
  <Override PartName="/ppt/notesSlides/_rels/notesSlide34.xml.rels" ContentType="application/vnd.openxmlformats-package.relationships+xml"/>
  <Override PartName="/ppt/notesSlides/_rels/notesSlide22.xml.rels" ContentType="application/vnd.openxmlformats-package.relationships+xml"/>
  <Override PartName="/ppt/notesSlides/_rels/notesSlide35.xml.rels" ContentType="application/vnd.openxmlformats-package.relationships+xml"/>
  <Override PartName="/ppt/notesSlides/_rels/notesSlide23.xml.rels" ContentType="application/vnd.openxmlformats-package.relationships+xml"/>
  <Override PartName="/ppt/notesSlides/_rels/notesSlide36.xml.rels" ContentType="application/vnd.openxmlformats-package.relationships+xml"/>
  <Override PartName="/ppt/notesSlides/_rels/notesSlide24.xml.rels" ContentType="application/vnd.openxmlformats-package.relationships+xml"/>
  <Override PartName="/ppt/notesSlides/_rels/notesSlide25.xml.rels" ContentType="application/vnd.openxmlformats-package.relationships+xml"/>
  <Override PartName="/ppt/notesSlides/_rels/notesSlide26.xml.rels" ContentType="application/vnd.openxmlformats-package.relationships+xml"/>
  <Override PartName="/ppt/notesSlides/_rels/notesSlide37.xml.rels" ContentType="application/vnd.openxmlformats-package.relationships+xml"/>
  <Override PartName="/ppt/notesSlides/_rels/notesSlide38.xml.rels" ContentType="application/vnd.openxmlformats-package.relationships+xml"/>
  <Override PartName="/ppt/notesSlides/_rels/notesSlide40.xml.rels" ContentType="application/vnd.openxmlformats-package.relationships+xml"/>
  <Override PartName="/ppt/notesSlides/_rels/notesSlide39.xml.rels" ContentType="application/vnd.openxmlformats-package.relationships+xml"/>
  <Override PartName="/ppt/notesSlides/_rels/notesSlide41.xml.rels" ContentType="application/vnd.openxmlformats-package.relationships+xml"/>
  <Override PartName="/ppt/notesSlides/_rels/notesSlide42.xml.rels" ContentType="application/vnd.openxmlformats-package.relationships+xml"/>
  <Override PartName="/ppt/notesSlides/_rels/notesSlide31.xml.rels" ContentType="application/vnd.openxmlformats-package.relationships+xml"/>
  <Override PartName="/ppt/notesSlides/_rels/notesSlide29.xml.rels" ContentType="application/vnd.openxmlformats-package.relationships+xml"/>
  <Override PartName="/ppt/notesSlides/_rels/notesSlide43.xml.rels" ContentType="application/vnd.openxmlformats-package.relationships+xml"/>
  <Override PartName="/ppt/notesSlides/_rels/notesSlide30.xml.rels" ContentType="application/vnd.openxmlformats-package.relationships+xml"/>
  <Override PartName="/ppt/notesSlides/_rels/notesSlide28.xml.rels" ContentType="application/vnd.openxmlformats-package.relationships+xml"/>
  <Override PartName="/ppt/notesSlides/_rels/notesSlide4.xml.rels" ContentType="application/vnd.openxmlformats-package.relationships+xml"/>
  <Override PartName="/ppt/notesSlides/_rels/notesSlide13.xml.rels" ContentType="application/vnd.openxmlformats-package.relationships+xml"/>
  <Override PartName="/ppt/notesSlides/_rels/notesSlide11.xml.rels" ContentType="application/vnd.openxmlformats-package.relationships+xml"/>
  <Override PartName="/ppt/notesSlides/_rels/notesSlide2.xml.rels" ContentType="application/vnd.openxmlformats-package.relationships+xml"/>
  <Override PartName="/ppt/notesSlides/notesSlide26.xml" ContentType="application/vnd.openxmlformats-officedocument.presentationml.notesSlide+xml"/>
  <Override PartName="/ppt/notesSlides/notesSlide9.xml" ContentType="application/vnd.openxmlformats-officedocument.presentationml.notesSlide+xml"/>
  <Override PartName="/ppt/notesSlides/notesSlide25.xml" ContentType="application/vnd.openxmlformats-officedocument.presentationml.notesSlide+xml"/>
  <Override PartName="/ppt/notesSlides/notesSlide8.xml" ContentType="application/vnd.openxmlformats-officedocument.presentationml.notesSlide+xml"/>
  <Override PartName="/ppt/notesSlides/notesSlide24.xml" ContentType="application/vnd.openxmlformats-officedocument.presentationml.notesSlide+xml"/>
  <Override PartName="/ppt/notesSlides/notesSlide7.xml" ContentType="application/vnd.openxmlformats-officedocument.presentationml.notesSlide+xml"/>
  <Override PartName="/ppt/notesSlides/notesSlide23.xml" ContentType="application/vnd.openxmlformats-officedocument.presentationml.notesSlide+xml"/>
  <Override PartName="/ppt/notesSlides/notesSlide6.xml" ContentType="application/vnd.openxmlformats-officedocument.presentationml.notesSlide+xml"/>
  <Override PartName="/ppt/notesSlides/notesSlide22.xml" ContentType="application/vnd.openxmlformats-officedocument.presentationml.notesSlide+xml"/>
  <Override PartName="/ppt/notesSlides/notesSlide5.xml" ContentType="application/vnd.openxmlformats-officedocument.presentationml.notesSlide+xml"/>
  <Override PartName="/ppt/notesSlides/notesSlide21.xml" ContentType="application/vnd.openxmlformats-officedocument.presentationml.notesSlide+xml"/>
  <Override PartName="/ppt/notesSlides/notesSlide4.xml" ContentType="application/vnd.openxmlformats-officedocument.presentationml.notesSlide+xml"/>
  <Override PartName="/ppt/notesSlides/notesSlide19.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0.xml" ContentType="application/vnd.openxmlformats-officedocument.presentationml.notesSlide+xml"/>
  <Override PartName="/ppt/notesSlides/notesSlide39.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31.xml" ContentType="application/vnd.openxmlformats-officedocument.presentationml.notesSlide+xml"/>
  <Override PartName="/ppt/notesSlides/notesSlide29.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3.xml" ContentType="application/vnd.openxmlformats-officedocument.presentationml.notesSlide+xml"/>
  <Override PartName="/ppt/notesSlides/notesSlide30.xml" ContentType="application/vnd.openxmlformats-officedocument.presentationml.notesSlide+xml"/>
  <Override PartName="/ppt/notesSlides/notesSlide2.xml" ContentType="application/vnd.openxmlformats-officedocument.presentationml.notesSlide+xml"/>
  <Override PartName="/ppt/notesSlides/notesSlide28.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1.xml" ContentType="application/vnd.openxmlformats-officedocument.presentationml.notesSlide+xml"/>
  <Override PartName="/ppt/notesSlides/notesSlide27.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en-US" sz="4400" spc="-1" strike="noStrike">
                <a:solidFill>
                  <a:srgbClr val="000000"/>
                </a:solidFill>
                <a:latin typeface="Arial"/>
              </a:rPr>
              <a:t>Click to move the slide</a:t>
            </a:r>
            <a:endParaRPr b="0" lang="en-US" sz="4400" spc="-1" strike="noStrike">
              <a:solidFill>
                <a:srgbClr val="000000"/>
              </a:solidFill>
              <a:latin typeface="Arial"/>
            </a:endParaRP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5"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953AB53F-009B-4407-A040-D74B9AB306A6}"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7" name="PlaceHolder 1"/>
          <p:cNvSpPr>
            <a:spLocks noGrp="1"/>
          </p:cNvSpPr>
          <p:nvPr>
            <p:ph type="sldImg"/>
          </p:nvPr>
        </p:nvSpPr>
        <p:spPr>
          <a:xfrm>
            <a:off x="685800" y="1143000"/>
            <a:ext cx="5485680" cy="3085560"/>
          </a:xfrm>
          <a:prstGeom prst="rect">
            <a:avLst/>
          </a:prstGeom>
          <a:ln w="0">
            <a:noFill/>
          </a:ln>
        </p:spPr>
      </p:sp>
      <p:sp>
        <p:nvSpPr>
          <p:cNvPr id="838"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OPENING (Presenter 1). 'Honourable jury, thank you. We present an automatic supervisory controller for a solar + grid + electrolyzer hydrogen plant. Every step it decides how much power to draw and from where, to make the required hydrogen at least cost, while keeping the electrical network inside its safe limits. The plant model is validated against ETAP (24/24 checks), the weather is real Ghardaïa 2023 data, and the prices are the real Algerian CREG time-of-use tariff. The controller is Model-Predictive Control; the optimizer inside it is Particle-Swarm Optimization.' Frame it as a CONTROL problem: disturbance = weather, control input = electrolyzer setpoint, constraints = voltage/transformer limits, objective = the tariff. Replace the bracketed placeholders before the defense.</a:t>
            </a:r>
            <a:endParaRPr b="0" lang="en-US" sz="2000" spc="-1" strike="noStrike">
              <a:solidFill>
                <a:srgbClr val="000000"/>
              </a:solidFill>
              <a:latin typeface="Arial"/>
            </a:endParaRPr>
          </a:p>
        </p:txBody>
      </p:sp>
      <p:sp>
        <p:nvSpPr>
          <p:cNvPr id="839" name="PlaceHolder 3"/>
          <p:cNvSpPr>
            <a:spLocks noGrp="1"/>
          </p:cNvSpPr>
          <p:nvPr>
            <p:ph type="sldNum" idx="4"/>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7CBC2E59-1BCE-435A-9BE0-9D9882AE4830}"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0" name="PlaceHolder 1"/>
          <p:cNvSpPr>
            <a:spLocks noGrp="1"/>
          </p:cNvSpPr>
          <p:nvPr>
            <p:ph type="sldImg"/>
          </p:nvPr>
        </p:nvSpPr>
        <p:spPr>
          <a:xfrm>
            <a:off x="685800" y="1143000"/>
            <a:ext cx="5485680" cy="3085560"/>
          </a:xfrm>
          <a:prstGeom prst="rect">
            <a:avLst/>
          </a:prstGeom>
          <a:ln w="0">
            <a:noFill/>
          </a:ln>
        </p:spPr>
      </p:sp>
      <p:sp>
        <p:nvSpPr>
          <p:cNvPr id="841"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~30 s. Read the four parts WITH their minutes — the jury immediately sees a planned, rehearsed talk. Announce the split: Presenter 1 owns the plant and the problem (through the control-formulation slide), Presenter 2 owns the solver, the controller, the results and the demo. The handover is mid-Part II — rehearse the handover sentence (it is written in the A0 run-of-show backup slide).</a:t>
            </a:r>
            <a:endParaRPr b="0" lang="en-US" sz="2000" spc="-1" strike="noStrike">
              <a:solidFill>
                <a:srgbClr val="000000"/>
              </a:solidFill>
              <a:latin typeface="Arial"/>
            </a:endParaRPr>
          </a:p>
        </p:txBody>
      </p:sp>
      <p:sp>
        <p:nvSpPr>
          <p:cNvPr id="842" name="PlaceHolder 3"/>
          <p:cNvSpPr>
            <a:spLocks noGrp="1"/>
          </p:cNvSpPr>
          <p:nvPr>
            <p:ph type="sldNum" idx="5"/>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953056D7-156A-4DF5-9763-749993323C6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3" name="PlaceHolder 1"/>
          <p:cNvSpPr>
            <a:spLocks noGrp="1"/>
          </p:cNvSpPr>
          <p:nvPr>
            <p:ph type="sldImg"/>
          </p:nvPr>
        </p:nvSpPr>
        <p:spPr>
          <a:xfrm>
            <a:off x="685800" y="1143000"/>
            <a:ext cx="5485680" cy="3085560"/>
          </a:xfrm>
          <a:prstGeom prst="rect">
            <a:avLst/>
          </a:prstGeom>
          <a:ln w="0">
            <a:noFill/>
          </a:ln>
        </p:spPr>
      </p:sp>
      <p:sp>
        <p:nvSpPr>
          <p:cNvPr id="844"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Transition into the motivation. New structure: the product (what hydrogen is, why green, 3× diesel) → the moment (fossils pricing out, solar pricing in, Algeria's hand) → the problem (three strategies, two fail on real numbers) → objectives. This is the 'why should the jury care' part.</a:t>
            </a:r>
            <a:endParaRPr b="0" lang="en-US" sz="2000" spc="-1" strike="noStrike">
              <a:solidFill>
                <a:srgbClr val="000000"/>
              </a:solidFill>
              <a:latin typeface="Arial"/>
            </a:endParaRPr>
          </a:p>
        </p:txBody>
      </p:sp>
      <p:sp>
        <p:nvSpPr>
          <p:cNvPr id="845" name="PlaceHolder 3"/>
          <p:cNvSpPr>
            <a:spLocks noGrp="1"/>
          </p:cNvSpPr>
          <p:nvPr>
            <p:ph type="sldNum" idx="6"/>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6F86FB95-3CFC-4A78-B7FA-1DF685C90AD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6" name="PlaceHolder 1"/>
          <p:cNvSpPr>
            <a:spLocks noGrp="1"/>
          </p:cNvSpPr>
          <p:nvPr>
            <p:ph type="sldImg"/>
          </p:nvPr>
        </p:nvSpPr>
        <p:spPr>
          <a:xfrm>
            <a:off x="685800" y="1143000"/>
            <a:ext cx="5485680" cy="3085560"/>
          </a:xfrm>
          <a:prstGeom prst="rect">
            <a:avLst/>
          </a:prstGeom>
          <a:ln w="0">
            <a:noFill/>
          </a:ln>
        </p:spPr>
      </p:sp>
      <p:sp>
        <p:nvSpPr>
          <p:cNvPr id="847"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~60 s. Define the product once so nobody is lost later. Walk the bar chart: 1 kg of hydrogen holds 33.3 kWh (LHV) — three times diesel's 11.9, and the exhaust is water. Then the scale: the world already uses ≈97 Mt/yr (IEA Global Hydrogen Review 2023) — fertiliser, refining, steel — but ~99 % is grey, made from fossil gas at 9–10 kg CO₂ per kg. Green = the same molecule from electrolysis on renewables. Two numbers to say slowly: 33.3 kWh contained vs ≈50–55 kWh consumed to make one kg (≈60 % efficient) — that pre-empts the efficiency question. Land the banner chain: electricity-cost → timing → control. SOURCES if asked: LHV values U.S. DOE/engineering handbooks (H₂ 120 MJ/kg, diesel ≈42.8, gasoline ≈43.4, methane ≈50); demand &amp; emissions IEA Global Hydrogen Review 2023.</a:t>
            </a:r>
            <a:endParaRPr b="0" lang="en-US" sz="2000" spc="-1" strike="noStrike">
              <a:solidFill>
                <a:srgbClr val="000000"/>
              </a:solidFill>
              <a:latin typeface="Arial"/>
            </a:endParaRPr>
          </a:p>
        </p:txBody>
      </p:sp>
      <p:sp>
        <p:nvSpPr>
          <p:cNvPr id="848" name="PlaceHolder 3"/>
          <p:cNvSpPr>
            <a:spLocks noGrp="1"/>
          </p:cNvSpPr>
          <p:nvPr>
            <p:ph type="sldNum" idx="7"/>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3A2E02D4-C5F5-40E6-8EF8-5E9E85BE089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9" name="PlaceHolder 1"/>
          <p:cNvSpPr>
            <a:spLocks noGrp="1"/>
          </p:cNvSpPr>
          <p:nvPr>
            <p:ph type="sldImg"/>
          </p:nvPr>
        </p:nvSpPr>
        <p:spPr>
          <a:xfrm>
            <a:off x="685800" y="1143000"/>
            <a:ext cx="5485680" cy="3085560"/>
          </a:xfrm>
          <a:prstGeom prst="rect">
            <a:avLst/>
          </a:prstGeom>
          <a:ln w="0">
            <a:noFill/>
          </a:ln>
        </p:spPr>
      </p:sp>
      <p:sp>
        <p:nvSpPr>
          <p:cNvPr id="850"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~55 s. The 'why now' in three verifiable moves — no crystal-ball claims: (1) fossils are finite (EI Statistical Review: oil R/P ≈ 50 years) and carbon-priced — the EU border tax CBAM enters its definitive regime in 2026, which directly touches Algeria's main export market; (2) solar collapsed in cost — IRENA: utility PV LCOE down ≈89–90 % between 2010 and the early 2020s, the cheapest electricity in history, but intermittent; (3) clean-hydrogen demand grows from ≈97 Mt today to ≈430 Mt by 2050 in the IEA net-zero pathway. Then Algeria's hand: world-class irradiance (the very Ghardaïa data this thesis runs on), a hydrocarbon-dependent export economy (≈90 % of export revenue) that must diversify, and a declared national hydrogen roadmap (2023) with the SoutH2 pipeline corridor to Italy/Germany — ambition ≈10 % of Europe's imports by 2040. Punchline on the banner: green H₂ is how desert sun becomes an export product.</a:t>
            </a:r>
            <a:endParaRPr b="0" lang="en-US" sz="2000" spc="-1" strike="noStrike">
              <a:solidFill>
                <a:srgbClr val="000000"/>
              </a:solidFill>
              <a:latin typeface="Arial"/>
            </a:endParaRPr>
          </a:p>
        </p:txBody>
      </p:sp>
      <p:sp>
        <p:nvSpPr>
          <p:cNvPr id="851" name="PlaceHolder 3"/>
          <p:cNvSpPr>
            <a:spLocks noGrp="1"/>
          </p:cNvSpPr>
          <p:nvPr>
            <p:ph type="sldNum" idx="8"/>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F7551B62-46A6-4C05-A32D-160E298A2A65}"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2" name="PlaceHolder 1"/>
          <p:cNvSpPr>
            <a:spLocks noGrp="1"/>
          </p:cNvSpPr>
          <p:nvPr>
            <p:ph type="sldImg"/>
          </p:nvPr>
        </p:nvSpPr>
        <p:spPr>
          <a:xfrm>
            <a:off x="685800" y="1143000"/>
            <a:ext cx="5485680" cy="3085560"/>
          </a:xfrm>
          <a:prstGeom prst="rect">
            <a:avLst/>
          </a:prstGeom>
          <a:ln w="0">
            <a:noFill/>
          </a:ln>
        </p:spPr>
      </p:sp>
      <p:sp>
        <p:nvSpPr>
          <p:cNvPr id="853"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~70 s — the pivot slide of Part I; all three numbers are OURS, computed on the real clear-summer day (23 June 2023, 5.94 MWh of PV) with the validated model. Card 1: ignore the sun, run flat on grid at 0.409 MW → 141.3 DA/kg — five times the smart cost, because a flat schedule pays the 8.11 DA peak every evening. Card 2: solar-only (respecting the 0.08 MW turndown) → 117.3 kg, only 59 % of the 200 kg quota, with the stack idle 47 % of the day — free but starving. Card 3: the smart mix reaches 27.8 DA/kg AND the full quota — but it requires choosing 24 hourly setpoints, daily, without knowing tomorrow's clouds. IMPORTANT DISTINCTION if a jury member cross-checks with the Results section: the 'constant baseload' baseline there (67.9 DA/kg) still USES the PV passively; card 1 here ignores PV entirely (141) — different strategies, both computed. The mini bar-glyphs are schematic dispatch shapes: flat / sun-bell / night+midday-with-peak-gap.</a:t>
            </a:r>
            <a:endParaRPr b="0" lang="en-US" sz="2000" spc="-1" strike="noStrike">
              <a:solidFill>
                <a:srgbClr val="000000"/>
              </a:solidFill>
              <a:latin typeface="Arial"/>
            </a:endParaRPr>
          </a:p>
        </p:txBody>
      </p:sp>
      <p:sp>
        <p:nvSpPr>
          <p:cNvPr id="854" name="PlaceHolder 3"/>
          <p:cNvSpPr>
            <a:spLocks noGrp="1"/>
          </p:cNvSpPr>
          <p:nvPr>
            <p:ph type="sldNum" idx="9"/>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E80ED8A2-435F-48F0-A278-3509ECD202F0}"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5" name="PlaceHolder 1"/>
          <p:cNvSpPr>
            <a:spLocks noGrp="1"/>
          </p:cNvSpPr>
          <p:nvPr>
            <p:ph type="sldImg"/>
          </p:nvPr>
        </p:nvSpPr>
        <p:spPr>
          <a:xfrm>
            <a:off x="685800" y="1143000"/>
            <a:ext cx="5485680" cy="3085560"/>
          </a:xfrm>
          <a:prstGeom prst="rect">
            <a:avLst/>
          </a:prstGeom>
          <a:ln w="0">
            <a:noFill/>
          </a:ln>
        </p:spPr>
      </p:sp>
      <p:sp>
        <p:nvSpPr>
          <p:cNvPr id="856"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~45 s. Four promises, framed so the conclusion slide can tick them off one by one at the end. Deliberately NO tool names yet — 'industry-standard reference' and 'open, scriptable code' are enough; each tool is introduced in Part II at the moment it does its work. The navy strip quietly carries the state-of-the-art positioning (full table now in backup A11 if an examiner wants the literature discussion): commercial tools = accurate but GUI-bound; techno-economic dispatch studies = rarely network-checked or closed-loop. The contribution sentence to land: 'a working, validated, automated supervisory controller, on real data, with a live demonstration.'</a:t>
            </a:r>
            <a:endParaRPr b="0" lang="en-US" sz="2000" spc="-1" strike="noStrike">
              <a:solidFill>
                <a:srgbClr val="000000"/>
              </a:solidFill>
              <a:latin typeface="Arial"/>
            </a:endParaRPr>
          </a:p>
        </p:txBody>
      </p:sp>
      <p:sp>
        <p:nvSpPr>
          <p:cNvPr id="857" name="PlaceHolder 3"/>
          <p:cNvSpPr>
            <a:spLocks noGrp="1"/>
          </p:cNvSpPr>
          <p:nvPr>
            <p:ph type="sldNum" idx="10"/>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0F7DE3DD-F7D3-4EB6-B99B-515F44ED254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8" name="PlaceHolder 1"/>
          <p:cNvSpPr>
            <a:spLocks noGrp="1"/>
          </p:cNvSpPr>
          <p:nvPr>
            <p:ph type="sldImg"/>
          </p:nvPr>
        </p:nvSpPr>
        <p:spPr>
          <a:xfrm>
            <a:off x="685800" y="1143000"/>
            <a:ext cx="5485680" cy="3085560"/>
          </a:xfrm>
          <a:prstGeom prst="rect">
            <a:avLst/>
          </a:prstGeom>
          <a:ln w="0">
            <a:noFill/>
          </a:ln>
        </p:spPr>
      </p:sp>
      <p:sp>
        <p:nvSpPr>
          <p:cNvPr id="859"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Now the engineering. Order: the method in one picture → real data &amp; tariff → validation → electrolyzer physics → then the control core in three numbered acts: ① the problem (formulation + formal statement) → ② the solver (PSO ×2) → ③ the loop (MPC diagram + hour-by-hour). Tools are introduced one at a time, at the moment each does its work — watch the small badges in the slide headers.</a:t>
            </a:r>
            <a:endParaRPr b="0" lang="en-US" sz="2000" spc="-1" strike="noStrike">
              <a:solidFill>
                <a:srgbClr val="000000"/>
              </a:solidFill>
              <a:latin typeface="Arial"/>
            </a:endParaRPr>
          </a:p>
        </p:txBody>
      </p:sp>
      <p:sp>
        <p:nvSpPr>
          <p:cNvPr id="860" name="PlaceHolder 3"/>
          <p:cNvSpPr>
            <a:spLocks noGrp="1"/>
          </p:cNvSpPr>
          <p:nvPr>
            <p:ph type="sldNum" idx="11"/>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6C102A3B-DAD1-463D-92BE-5C7A5CDAD2BF}"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1" name="PlaceHolder 1"/>
          <p:cNvSpPr>
            <a:spLocks noGrp="1"/>
          </p:cNvSpPr>
          <p:nvPr>
            <p:ph type="sldImg"/>
          </p:nvPr>
        </p:nvSpPr>
        <p:spPr>
          <a:xfrm>
            <a:off x="685800" y="1143000"/>
            <a:ext cx="5485680" cy="3085560"/>
          </a:xfrm>
          <a:prstGeom prst="rect">
            <a:avLst/>
          </a:prstGeom>
          <a:ln w="0">
            <a:noFill/>
          </a:ln>
        </p:spPr>
      </p:sp>
      <p:sp>
        <p:nvSpPr>
          <p:cNvPr id="862"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~45 s. This is the map of Part II — four stages, and the thumbnails are REAL artefacts from the thesis, previewed before each is explained: the 2023 PV year, the validated load-flow diagram, the PSO convergence, the live dashboard. Promise the structure out loud: 'we will walk these four stages left to right, and every tool gets introduced when it starts working — watch the badges in the top-right of the coming slides.' One breath per stage: real measured inputs → a plant model proven against the industry reference → an hourly closed-loop controller → live proof. Do NOT explain the thumbnails here; they each get their own slide.</a:t>
            </a:r>
            <a:endParaRPr b="0" lang="en-US" sz="2000" spc="-1" strike="noStrike">
              <a:solidFill>
                <a:srgbClr val="000000"/>
              </a:solidFill>
              <a:latin typeface="Arial"/>
            </a:endParaRPr>
          </a:p>
        </p:txBody>
      </p:sp>
      <p:sp>
        <p:nvSpPr>
          <p:cNvPr id="863" name="PlaceHolder 3"/>
          <p:cNvSpPr>
            <a:spLocks noGrp="1"/>
          </p:cNvSpPr>
          <p:nvPr>
            <p:ph type="sldNum" idx="12"/>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787084A4-EA26-4750-9B8F-9527D0A1CCC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4" name="PlaceHolder 1"/>
          <p:cNvSpPr>
            <a:spLocks noGrp="1"/>
          </p:cNvSpPr>
          <p:nvPr>
            <p:ph type="sldImg"/>
          </p:nvPr>
        </p:nvSpPr>
        <p:spPr>
          <a:xfrm>
            <a:off x="685800" y="1143000"/>
            <a:ext cx="5485680" cy="3085560"/>
          </a:xfrm>
          <a:prstGeom prst="rect">
            <a:avLst/>
          </a:prstGeom>
          <a:ln w="0">
            <a:noFill/>
          </a:ln>
        </p:spPr>
      </p:sp>
      <p:sp>
        <p:nvSpPr>
          <p:cNvPr id="865"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Pre-empt the obvious question — 'is the data real?'. Yes, twice over: the LEFT figure is the full 2023 PV series (CAMS + ERA5 through NREL SAM, 1,435 MWh ≈ 2,150 kWh/kWp) with the three representative days marked; the RIGHT table is the official CREG/Sonelgaz grille, quoted to the exact centime — 811.47 / 216.45 / 120.50 cDA/kWh — with the true 22h30 night boundary. The 6.7× pointe-to-creuses ratio is the economic driver of the whole thesis. Two technicalities if probed: (1) the hourly model samples the hour start, so the 22h00–23h00 hour is billed pleines (conservative); (2) the prime de puissance is fixed by subscribed power, independent of dispatch, so it is excluded from the optimisation (backup A3). Note honestly if asked: an initial PySAM test run used a non-Ghardaïa weather file; it was replaced with real Ghardaïa CAMS data before any result was used.</a:t>
            </a:r>
            <a:endParaRPr b="0" lang="en-US" sz="2000" spc="-1" strike="noStrike">
              <a:solidFill>
                <a:srgbClr val="000000"/>
              </a:solidFill>
              <a:latin typeface="Arial"/>
            </a:endParaRPr>
          </a:p>
        </p:txBody>
      </p:sp>
      <p:sp>
        <p:nvSpPr>
          <p:cNvPr id="866" name="PlaceHolder 3"/>
          <p:cNvSpPr>
            <a:spLocks noGrp="1"/>
          </p:cNvSpPr>
          <p:nvPr>
            <p:ph type="sldNum" idx="13"/>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EB5D4C05-9D22-4821-A90F-CF5367F3D040}"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7" name="PlaceHolder 1"/>
          <p:cNvSpPr>
            <a:spLocks noGrp="1"/>
          </p:cNvSpPr>
          <p:nvPr>
            <p:ph type="sldImg"/>
          </p:nvPr>
        </p:nvSpPr>
        <p:spPr>
          <a:xfrm>
            <a:off x="685800" y="1143000"/>
            <a:ext cx="5485680" cy="3085560"/>
          </a:xfrm>
          <a:prstGeom prst="rect">
            <a:avLst/>
          </a:prstGeom>
          <a:ln w="0">
            <a:noFill/>
          </a:ln>
        </p:spPr>
      </p:sp>
      <p:sp>
        <p:nvSpPr>
          <p:cNvPr id="868"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This is the gate. Say plainly: 'I did not trust pandapower until it reproduced our ETAP load flow — and it does, to 4 decimal places on voltage.' The figure is the validated single-line load flow for the sunny case (the full 24-check table is a backup slide). If asked why two tools: ETAP is the trusted reference and the visuals; pandapower is what we can script for a full year and put inside the optimiser.</a:t>
            </a:r>
            <a:endParaRPr b="0" lang="en-US" sz="2000" spc="-1" strike="noStrike">
              <a:solidFill>
                <a:srgbClr val="000000"/>
              </a:solidFill>
              <a:latin typeface="Arial"/>
            </a:endParaRPr>
          </a:p>
        </p:txBody>
      </p:sp>
      <p:sp>
        <p:nvSpPr>
          <p:cNvPr id="869" name="PlaceHolder 3"/>
          <p:cNvSpPr>
            <a:spLocks noGrp="1"/>
          </p:cNvSpPr>
          <p:nvPr>
            <p:ph type="sldNum" idx="14"/>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2A375E48-9F72-41A2-AAA5-43BBA62E7DC0}"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0" name="PlaceHolder 1"/>
          <p:cNvSpPr>
            <a:spLocks noGrp="1"/>
          </p:cNvSpPr>
          <p:nvPr>
            <p:ph type="sldImg"/>
          </p:nvPr>
        </p:nvSpPr>
        <p:spPr>
          <a:xfrm>
            <a:off x="685800" y="1143000"/>
            <a:ext cx="5485680" cy="3085560"/>
          </a:xfrm>
          <a:prstGeom prst="rect">
            <a:avLst/>
          </a:prstGeom>
          <a:ln w="0">
            <a:noFill/>
          </a:ln>
        </p:spPr>
      </p:sp>
      <p:sp>
        <p:nvSpPr>
          <p:cNvPr id="871"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This is the Chapter-4 physics in 30 seconds, now with the actual curves — both figures are generated from src/physics/electrolyzer_model.py, the same code the optimiser calls. TOP-RIGHT: the cell — water split at the anode, protons cross the membrane, H₂ evolved at the cathode, electrons driven by the DC power u(k) we control. BOTTOM-LEFT panel: the polarisation curve with the loss decomposition (reversible 1.198 V at 60 °C + Tafel activation + ohmic r·i → 2.03 V at the rated 2 A/cm²). BOTTOM-RIGHT panel: the map g(u) the optimiser uses — 14.6 kg/h at rated, 54.6 kWh/kg, OFF below 10 % turndown. Note the dashed specific-energy line RISES with load (higher V at higher i): part load is MORE efficient per kg. If asked 'so why not always run at part load?' — because you also need throughput to meet 200 kg/day; the optimiser trades efficiency against schedule inside the tariff. Efficiency cross-check: 33.3 kWh/kg contained (LHV) ÷ ≈54 consumed ≈ 62 % — numbers agree with the primer.</a:t>
            </a:r>
            <a:endParaRPr b="0" lang="en-US" sz="2000" spc="-1" strike="noStrike">
              <a:solidFill>
                <a:srgbClr val="000000"/>
              </a:solidFill>
              <a:latin typeface="Arial"/>
            </a:endParaRPr>
          </a:p>
        </p:txBody>
      </p:sp>
      <p:sp>
        <p:nvSpPr>
          <p:cNvPr id="872" name="PlaceHolder 3"/>
          <p:cNvSpPr>
            <a:spLocks noGrp="1"/>
          </p:cNvSpPr>
          <p:nvPr>
            <p:ph type="sldNum" idx="15"/>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5289B97E-B802-4D00-A750-C9AC2A3A989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3" name="PlaceHolder 1"/>
          <p:cNvSpPr>
            <a:spLocks noGrp="1"/>
          </p:cNvSpPr>
          <p:nvPr>
            <p:ph type="sldImg"/>
          </p:nvPr>
        </p:nvSpPr>
        <p:spPr>
          <a:xfrm>
            <a:off x="685800" y="1143000"/>
            <a:ext cx="5485680" cy="3085560"/>
          </a:xfrm>
          <a:prstGeom prst="rect">
            <a:avLst/>
          </a:prstGeom>
          <a:ln w="0">
            <a:noFill/>
          </a:ln>
        </p:spPr>
      </p:sp>
      <p:sp>
        <p:nvSpPr>
          <p:cNvPr id="874"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This slide IS the control-engineering identity of the thesis. Read the table as a control problem the jury will recognise — state, input, disturbance, constraints, cost. Then the right box answers 'why not a textbook method': non-linear plant map, discontinuous (3-rate) cost, a disjoint input set, and an unknown disturbance. Land the roadmap strip hard — it is the outline of the next five slides: ② a solver for one perfect day, ③ a loop for imperfect forecasts. Deliberately NO acronyms yet: PSO and MPC each get named when they appear. Next: the same problem in equations — P1 delivers it, handover comes after.</a:t>
            </a:r>
            <a:endParaRPr b="0" lang="en-US" sz="2000" spc="-1" strike="noStrike">
              <a:solidFill>
                <a:srgbClr val="000000"/>
              </a:solidFill>
              <a:latin typeface="Arial"/>
            </a:endParaRPr>
          </a:p>
        </p:txBody>
      </p:sp>
      <p:sp>
        <p:nvSpPr>
          <p:cNvPr id="875" name="PlaceHolder 3"/>
          <p:cNvSpPr>
            <a:spLocks noGrp="1"/>
          </p:cNvSpPr>
          <p:nvPr>
            <p:ph type="sldNum" idx="16"/>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AFE1C052-43F9-4F4F-8553-1334D06D7B15}"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6" name="PlaceHolder 1"/>
          <p:cNvSpPr>
            <a:spLocks noGrp="1"/>
          </p:cNvSpPr>
          <p:nvPr>
            <p:ph type="sldImg"/>
          </p:nvPr>
        </p:nvSpPr>
        <p:spPr>
          <a:xfrm>
            <a:off x="685800" y="1143000"/>
            <a:ext cx="5485680" cy="3085560"/>
          </a:xfrm>
          <a:prstGeom prst="rect">
            <a:avLst/>
          </a:prstGeom>
          <a:ln w="0">
            <a:noFill/>
          </a:ln>
        </p:spPr>
      </p:sp>
      <p:sp>
        <p:nvSpPr>
          <p:cNvPr id="877"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~55 s — this slide exists for the MPC examiner; deliver it slowly and own the notation. TERMINOLOGY DISCIPLINE: do NOT say 'MPC' yet — on this slide it is just 'the least-cost dispatch problem'; the acronym arrives when the loop is drawn (slide ③), and there it becomes textbook 'economic MPC'. LEFT: one state x = cumulative H₂; the plant seen by the supervisory layer is a static nonlinearity g (the electrolyzer polarisation curve + Faraday's law) feeding an integrator — a Hammerstein structure. Say: 'locally, the supervisory plant is an integrator, G(z) = K/(z−1) with K = T·g-prime between 15 and 22 kg/MW across the window.' RIGHT: an economic objective — the stage cost is the actual bill p·[u−d]⁺, the demand enters as a TERMINAL constraint x(24) ≥ D, softened with λ = 10⁷ DA/kg so the program is always well-posed. PREPARED ANSWERS: (1) Recursive feasibility — shrinking horizon over a finite day; feasible whenever remaining capability Σ g(u_max)·T over the hours left ≥ remaining demand; the soft constraint keeps it well-posed even on a freak day. (2) Stability — not the relevant notion for a finite-horizon batch/economic problem with no equilibrium to stabilise; we measure performance against the perfect-foresight bound instead (+2.4 %). (3) Why PSO, not QP/MILP — disjoint input set {0}∪[0.08,0.8] (mixed-integer), non-linear g, discontinuous tariff; PSO handles all three directly and reproducibly (3 seeds, same optimum). (4) Why is d not in the state equation? — hydrogen depends only on u: the stack draws its setpoint whether the electrons are solar or grid, and the grid automatically covers u − d. So d is a disturbance on the COST, through the grid-import output q = [u − d]⁺, not on the dynamics. Line for the jury: 'clouds can never make the day infeasible — only expensive.' (5) What happens to surplus PV (u &lt; d)? — q clips at zero: exported/curtailed at zero revenue; no feed-in tariff is assumed, which is conservative. HANDOVER to Presenter 2 after this slide.</a:t>
            </a:r>
            <a:endParaRPr b="0" lang="en-US" sz="2000" spc="-1" strike="noStrike">
              <a:solidFill>
                <a:srgbClr val="000000"/>
              </a:solidFill>
              <a:latin typeface="Arial"/>
            </a:endParaRPr>
          </a:p>
        </p:txBody>
      </p:sp>
      <p:sp>
        <p:nvSpPr>
          <p:cNvPr id="878" name="PlaceHolder 3"/>
          <p:cNvSpPr>
            <a:spLocks noGrp="1"/>
          </p:cNvSpPr>
          <p:nvPr>
            <p:ph type="sldNum" idx="17"/>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FAD81B64-A7CC-4BF1-A757-D34E682E2D6A}"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9" name="PlaceHolder 1"/>
          <p:cNvSpPr>
            <a:spLocks noGrp="1"/>
          </p:cNvSpPr>
          <p:nvPr>
            <p:ph type="sldImg"/>
          </p:nvPr>
        </p:nvSpPr>
        <p:spPr>
          <a:xfrm>
            <a:off x="685800" y="1143000"/>
            <a:ext cx="5485680" cy="3085560"/>
          </a:xfrm>
          <a:prstGeom prst="rect">
            <a:avLst/>
          </a:prstGeom>
          <a:ln w="0">
            <a:noFill/>
          </a:ln>
        </p:spPr>
      </p:sp>
      <p:sp>
        <p:nvSpPr>
          <p:cNvPr id="880"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If asked about r₁, r₂: uniform random in (0,1), redrawn per particle per dimension per step — the stochastic weighting that keeps the swarm exploring; with a fixed seed the whole run is still reproducible. pymoo's PSO adapts w, c₁, c₂ online (starting 0.9 / 2.0 / 2.0) and caps velocity at 20 % of the variable range. Explain PSO before we apply it. Use the flock metaphor: each 'particle' is a full 24-hour plan; the swarm shares the best plan found so far. The update rule shows the three pulls — momentum (inertia), memory of its own best, and the social pull to the swarm's best. The one point that matters for a control jury: it is gradient-free, which is exactly why it suits our non-linear electrolyzer and the 3-rate discontinuous tariff (a gradient method would struggle). The NEXT slide shows it actually converging on our problem.</a:t>
            </a:r>
            <a:endParaRPr b="0" lang="en-US" sz="2000" spc="-1" strike="noStrike">
              <a:solidFill>
                <a:srgbClr val="000000"/>
              </a:solidFill>
              <a:latin typeface="Arial"/>
            </a:endParaRPr>
          </a:p>
        </p:txBody>
      </p:sp>
      <p:sp>
        <p:nvSpPr>
          <p:cNvPr id="881" name="PlaceHolder 3"/>
          <p:cNvSpPr>
            <a:spLocks noGrp="1"/>
          </p:cNvSpPr>
          <p:nvPr>
            <p:ph type="sldNum" idx="18"/>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ED3C9262-F1CC-4D20-A856-7DAD5250B085}"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2" name="PlaceHolder 1"/>
          <p:cNvSpPr>
            <a:spLocks noGrp="1"/>
          </p:cNvSpPr>
          <p:nvPr>
            <p:ph type="sldImg"/>
          </p:nvPr>
        </p:nvSpPr>
        <p:spPr>
          <a:xfrm>
            <a:off x="685800" y="1143000"/>
            <a:ext cx="5485680" cy="3085560"/>
          </a:xfrm>
          <a:prstGeom prst="rect">
            <a:avLst/>
          </a:prstGeom>
          <a:ln w="0">
            <a:noFill/>
          </a:ln>
        </p:spPr>
      </p:sp>
      <p:sp>
        <p:nvSpPr>
          <p:cNvPr id="883"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Explain PSO as a flock settling on the best feeding ground. The convergence curve drops from a random ~30,000 DA start to ~5,565 DA, and all three seeds land on the same value → reproducible, which matters for a thesis. Why not MILP/gradient methods? The electrolyzer curve is non-linear, the tariff discontinuous, the input set disjoint; PSO needs no derivatives. END ON THE LIMITATION — it is the segue: PSO alone is an open-loop planner that must know the whole day; given the true day it IS the perfect-foresight bound we benchmark against later. Real weather is never known → step ③, the loop.</a:t>
            </a:r>
            <a:endParaRPr b="0" lang="en-US" sz="2000" spc="-1" strike="noStrike">
              <a:solidFill>
                <a:srgbClr val="000000"/>
              </a:solidFill>
              <a:latin typeface="Arial"/>
            </a:endParaRPr>
          </a:p>
        </p:txBody>
      </p:sp>
      <p:sp>
        <p:nvSpPr>
          <p:cNvPr id="884" name="PlaceHolder 3"/>
          <p:cNvSpPr>
            <a:spLocks noGrp="1"/>
          </p:cNvSpPr>
          <p:nvPr>
            <p:ph type="sldNum" idx="19"/>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06F04E77-88C4-469B-B334-8E4D1EA5AC4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5" name="PlaceHolder 1"/>
          <p:cNvSpPr>
            <a:spLocks noGrp="1"/>
          </p:cNvSpPr>
          <p:nvPr>
            <p:ph type="sldImg"/>
          </p:nvPr>
        </p:nvSpPr>
        <p:spPr>
          <a:xfrm>
            <a:off x="685800" y="1143000"/>
            <a:ext cx="5485680" cy="3085560"/>
          </a:xfrm>
          <a:prstGeom prst="rect">
            <a:avLst/>
          </a:prstGeom>
          <a:ln w="0">
            <a:noFill/>
          </a:ln>
        </p:spPr>
      </p:sp>
      <p:sp>
        <p:nvSpPr>
          <p:cNvPr id="886"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~60 s. HERE is where MPC is named for the first time — introduce it as the answer to the PSO slide's closing limitation. The kicker line carries the relationship: PSO is the SOLVER (a function: horizon in, cheapest plan out); MPC is the CONTROLLER — the loop that calls that solver every hour, ~24 times a day. The GPS line seals it: plan the whole route, drive one block, re-route as reality arrives. LEFT: a standard closed loop. r = the daily H₂ target; the MPC block re-solves with PSO each hour; u(k) = the hourly setpoint; the plant is PV + grid + electrolyzer; clouds enter as the disturbance d; the green path is the measured feedback (what the sun and the stack actually did); the dashed blue box is the forecast feedforward. Say 'feedforward plus feedback' out loud — that phrase wins the room. And now the objective panel from the formal slide has its proper name: this is textbook ECONOMIC MPC — the stage cost is a bill, the reference a terminal quota. RIGHT: the receding horizon — gold cell = the one hour we commit; dashed cells = the plan we deliberately throw away; dark cells = history. BOTTOM: pre-empts 'where does this sit?' — a SUPERVISORY layer above the stack's own controllers, like an EMS above the PLCs. Next slide: the same loop in five plain words as the take-away.</a:t>
            </a:r>
            <a:endParaRPr b="0" lang="en-US" sz="2000" spc="-1" strike="noStrike">
              <a:solidFill>
                <a:srgbClr val="000000"/>
              </a:solidFill>
              <a:latin typeface="Arial"/>
            </a:endParaRPr>
          </a:p>
        </p:txBody>
      </p:sp>
      <p:sp>
        <p:nvSpPr>
          <p:cNvPr id="887" name="PlaceHolder 3"/>
          <p:cNvSpPr>
            <a:spLocks noGrp="1"/>
          </p:cNvSpPr>
          <p:nvPr>
            <p:ph type="sldNum" idx="20"/>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09B855EC-9806-4CBA-BD24-88A032016B3E}"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8" name="PlaceHolder 1"/>
          <p:cNvSpPr>
            <a:spLocks noGrp="1"/>
          </p:cNvSpPr>
          <p:nvPr>
            <p:ph type="sldImg"/>
          </p:nvPr>
        </p:nvSpPr>
        <p:spPr>
          <a:xfrm>
            <a:off x="685800" y="1143000"/>
            <a:ext cx="5485680" cy="3085560"/>
          </a:xfrm>
          <a:prstGeom prst="rect">
            <a:avLst/>
          </a:prstGeom>
          <a:ln w="0">
            <a:noFill/>
          </a:ln>
        </p:spPr>
      </p:sp>
      <p:sp>
        <p:nvSpPr>
          <p:cNvPr id="889"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~25 s — a quick verbal recap of the block diagram, in plain words; don't re-explain. Walk the five steps as a loop. The key idea: MPC never sees the future perfectly — it forecasts, acts on the first step, and corrects when reality differs. That correction is disturbance rejection. End by naming the two benchmarks so the results slide lands: perfect-foresight is the bound nobody can reach; the rule-based controller is what a plant does without us.</a:t>
            </a:r>
            <a:endParaRPr b="0" lang="en-US" sz="2000" spc="-1" strike="noStrike">
              <a:solidFill>
                <a:srgbClr val="000000"/>
              </a:solidFill>
              <a:latin typeface="Arial"/>
            </a:endParaRPr>
          </a:p>
        </p:txBody>
      </p:sp>
      <p:sp>
        <p:nvSpPr>
          <p:cNvPr id="890" name="PlaceHolder 3"/>
          <p:cNvSpPr>
            <a:spLocks noGrp="1"/>
          </p:cNvSpPr>
          <p:nvPr>
            <p:ph type="sldNum" idx="21"/>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1D4EFBCE-8949-411F-8FE2-36468C55ABF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1" name="PlaceHolder 1"/>
          <p:cNvSpPr>
            <a:spLocks noGrp="1"/>
          </p:cNvSpPr>
          <p:nvPr>
            <p:ph type="sldImg"/>
          </p:nvPr>
        </p:nvSpPr>
        <p:spPr>
          <a:xfrm>
            <a:off x="685800" y="1143000"/>
            <a:ext cx="5485680" cy="3085560"/>
          </a:xfrm>
          <a:prstGeom prst="rect">
            <a:avLst/>
          </a:prstGeom>
          <a:ln w="0">
            <a:noFill/>
          </a:ln>
        </p:spPr>
      </p:sp>
      <p:sp>
        <p:nvSpPr>
          <p:cNvPr id="892"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Hand over to Presenter 2. The results are the payoff — slow down here.</a:t>
            </a:r>
            <a:endParaRPr b="0" lang="en-US" sz="2000" spc="-1" strike="noStrike">
              <a:solidFill>
                <a:srgbClr val="000000"/>
              </a:solidFill>
              <a:latin typeface="Arial"/>
            </a:endParaRPr>
          </a:p>
        </p:txBody>
      </p:sp>
      <p:sp>
        <p:nvSpPr>
          <p:cNvPr id="893" name="PlaceHolder 3"/>
          <p:cNvSpPr>
            <a:spLocks noGrp="1"/>
          </p:cNvSpPr>
          <p:nvPr>
            <p:ph type="sldNum" idx="22"/>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347AF751-5C32-4885-831C-99D80C86CAE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4" name="PlaceHolder 1"/>
          <p:cNvSpPr>
            <a:spLocks noGrp="1"/>
          </p:cNvSpPr>
          <p:nvPr>
            <p:ph type="sldImg"/>
          </p:nvPr>
        </p:nvSpPr>
        <p:spPr>
          <a:xfrm>
            <a:off x="685800" y="1143000"/>
            <a:ext cx="5485680" cy="3085560"/>
          </a:xfrm>
          <a:prstGeom prst="rect">
            <a:avLst/>
          </a:prstGeom>
          <a:ln w="0">
            <a:noFill/>
          </a:ln>
        </p:spPr>
      </p:sp>
      <p:sp>
        <p:nvSpPr>
          <p:cNvPr id="895"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Nobody told it to avoid the peak — it derives that from the price signal. Three real 2023 days: clear summer, cloudy summer, clear winter. Point at the blue (cheap night) and red (peak) bands and show the setpoint following them. This is the qualitative 'it behaves intelligently' result; the next slide quantifies the value.</a:t>
            </a:r>
            <a:endParaRPr b="0" lang="en-US" sz="2000" spc="-1" strike="noStrike">
              <a:solidFill>
                <a:srgbClr val="000000"/>
              </a:solidFill>
              <a:latin typeface="Arial"/>
            </a:endParaRPr>
          </a:p>
        </p:txBody>
      </p:sp>
      <p:sp>
        <p:nvSpPr>
          <p:cNvPr id="896" name="PlaceHolder 3"/>
          <p:cNvSpPr>
            <a:spLocks noGrp="1"/>
          </p:cNvSpPr>
          <p:nvPr>
            <p:ph type="sldNum" idx="23"/>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AFAD2FA9-743F-4566-8E51-7372E2D22A90}"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7" name="PlaceHolder 1"/>
          <p:cNvSpPr>
            <a:spLocks noGrp="1"/>
          </p:cNvSpPr>
          <p:nvPr>
            <p:ph type="sldImg"/>
          </p:nvPr>
        </p:nvSpPr>
        <p:spPr>
          <a:xfrm>
            <a:off x="685800" y="1143000"/>
            <a:ext cx="5485680" cy="3085560"/>
          </a:xfrm>
          <a:prstGeom prst="rect">
            <a:avLst/>
          </a:prstGeom>
          <a:ln w="0">
            <a:noFill/>
          </a:ln>
        </p:spPr>
      </p:sp>
      <p:sp>
        <p:nvSpPr>
          <p:cNvPr id="898"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This quantifies the contribution against how a plant would actually run: a constant baseload, or greedily producing as soon as possible. At 200 kg/day the optimiser is ≈27.8 DA/kg vs 67.9 (constant) and 55.8 (greedy) — quote it as ≈28 so it matches the previous slide's card exactly. That is the measurable value of the controller. RELATION TO THE NEXT SLIDE: the optimiser here KNOWS the whole day (perfect foresight) — this slide establishes the SIZE OF THE PRIZE that timing intelligence is worth. The next slide removes the oracle and asks how much of that prize a deployable, forecast-driven closed loop actually collects. Careful: the −51 % here (vs greedy, this day) and the −51 % there (MPC vs reactive rule, across the year) are numerically coincidental — different comparisons.</a:t>
            </a:r>
            <a:endParaRPr b="0" lang="en-US" sz="2000" spc="-1" strike="noStrike">
              <a:solidFill>
                <a:srgbClr val="000000"/>
              </a:solidFill>
              <a:latin typeface="Arial"/>
            </a:endParaRPr>
          </a:p>
        </p:txBody>
      </p:sp>
      <p:sp>
        <p:nvSpPr>
          <p:cNvPr id="899" name="PlaceHolder 3"/>
          <p:cNvSpPr>
            <a:spLocks noGrp="1"/>
          </p:cNvSpPr>
          <p:nvPr>
            <p:ph type="sldNum" idx="24"/>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E8590343-1B04-439D-A789-7CBF977B7B7F}"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0" name="PlaceHolder 1"/>
          <p:cNvSpPr>
            <a:spLocks noGrp="1"/>
          </p:cNvSpPr>
          <p:nvPr>
            <p:ph type="sldImg"/>
          </p:nvPr>
        </p:nvSpPr>
        <p:spPr>
          <a:xfrm>
            <a:off x="685800" y="1143000"/>
            <a:ext cx="5485680" cy="3085560"/>
          </a:xfrm>
          <a:prstGeom prst="rect">
            <a:avLst/>
          </a:prstGeom>
          <a:ln w="0">
            <a:noFill/>
          </a:ln>
        </p:spPr>
      </p:sp>
      <p:sp>
        <p:nvSpPr>
          <p:cNvPr id="901"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This is the strongest control-engineering result and the headline of the defense. The blue (MPC) line sits almost on top of the green (optimum) line and far below the red (reactive rule), day after day. Message: feedback control tracks the optimal bound and far exceeds the reactive baseline, even though it never sees the weather perfectly. On a single worst-forecast day MPC can be ~+10 %; averaged it is ~+2.4 %. RELATION TO THE PREVIOUS SLIDE: slide 'vs traditional' priced the naive-to-optimal gap with the weather KNOWN; this slide is the same idea in the real world — that optimum becomes the unreachable green bound, the rule is what plants actually do, and closed-loop MPC lands within +2.4 % of the bound. The NEXT slide dissects one real cloudy day to show the mechanism that makes this possible.</a:t>
            </a:r>
            <a:endParaRPr b="0" lang="en-US" sz="2000" spc="-1" strike="noStrike">
              <a:solidFill>
                <a:srgbClr val="000000"/>
              </a:solidFill>
              <a:latin typeface="Arial"/>
            </a:endParaRPr>
          </a:p>
        </p:txBody>
      </p:sp>
      <p:sp>
        <p:nvSpPr>
          <p:cNvPr id="902" name="PlaceHolder 3"/>
          <p:cNvSpPr>
            <a:spLocks noGrp="1"/>
          </p:cNvSpPr>
          <p:nvPr>
            <p:ph type="sldNum" idx="25"/>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F1CEA871-1367-4684-B0A8-CDB5BF9CE98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3" name="PlaceHolder 1"/>
          <p:cNvSpPr>
            <a:spLocks noGrp="1"/>
          </p:cNvSpPr>
          <p:nvPr>
            <p:ph type="sldImg"/>
          </p:nvPr>
        </p:nvSpPr>
        <p:spPr>
          <a:xfrm>
            <a:off x="685800" y="1143000"/>
            <a:ext cx="5485680" cy="3085560"/>
          </a:xfrm>
          <a:prstGeom prst="rect">
            <a:avLst/>
          </a:prstGeom>
          <a:ln w="0">
            <a:noFill/>
          </a:ln>
        </p:spPr>
      </p:sp>
      <p:sp>
        <p:nvSpPr>
          <p:cNvPr id="904"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~45 s. This answers the question every practical examiner asks: 'and what happens when a cloud passes?' — with a REAL logged episode (3 July 2023, our cloudy representative day; MPC re-run with full logging). THREE TIMESCALES: (1) Within the committed hour, the setpoint is deliberately held constant — the grid covers every 15-minute dip automatically (the coral slivers in the figure), and when the cloud clears, any brief surplus is exported at zero revenue. Hydrogen output g(u) never sees the weather: a cloud costs money, never hydrogen — feasibility is untouchable. (2) At the next hour boundary, feedback acts: the realised solar energy updates the clearness ratio α(k) — watch the lower panel: a sunny start pushes α above 1, the midday clouds pull it to ≈0.75, and by evening it settles near 0.95 — and the remaining day is re-optimised with PSO. Because α integrates ENERGY, a fast transient barely moves it (no chattering, stack-friendly), while a persistent overcast genuinely re-shapes the plan. (3) The price of all this unpredictability, on this genuinely cloudy day: +2.1 % over perfect foresight, with the full 200 kg delivered. If asked 'what if the cloud stays all afternoon?' — α drops persistently, the re-plan hedges into the remaining cheap hours, and demand is still met because rated capability over the remaining hours far exceeds the remaining quota. If asked 'why not react sub-hourly?' — prices change hourly and there is no storage, so sub-hourly reaction adds nothing (backup A8); it would only chase noise.</a:t>
            </a:r>
            <a:endParaRPr b="0" lang="en-US" sz="2000" spc="-1" strike="noStrike">
              <a:solidFill>
                <a:srgbClr val="000000"/>
              </a:solidFill>
              <a:latin typeface="Arial"/>
            </a:endParaRPr>
          </a:p>
        </p:txBody>
      </p:sp>
      <p:sp>
        <p:nvSpPr>
          <p:cNvPr id="905" name="PlaceHolder 3"/>
          <p:cNvSpPr>
            <a:spLocks noGrp="1"/>
          </p:cNvSpPr>
          <p:nvPr>
            <p:ph type="sldNum" idx="26"/>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59E2DE3D-90DD-48FA-93BD-51DD44A3615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6" name="PlaceHolder 1"/>
          <p:cNvSpPr>
            <a:spLocks noGrp="1"/>
          </p:cNvSpPr>
          <p:nvPr>
            <p:ph type="sldImg"/>
          </p:nvPr>
        </p:nvSpPr>
        <p:spPr>
          <a:xfrm>
            <a:off x="685800" y="1143000"/>
            <a:ext cx="5485680" cy="3085560"/>
          </a:xfrm>
          <a:prstGeom prst="rect">
            <a:avLst/>
          </a:prstGeom>
          <a:ln w="0">
            <a:noFill/>
          </a:ln>
        </p:spPr>
      </p:sp>
      <p:sp>
        <p:nvSpPr>
          <p:cNvPr id="907"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The controller is not a one-day demo — it runs the whole year unattended and meets demand every single day. The calendar heatmap (green = cheap) makes the seasonality obvious. Use the KPIs as the headline numbers: 72.8 t/yr at 45.8 DA/kg average, 37 % directly solar-powered.</a:t>
            </a:r>
            <a:endParaRPr b="0" lang="en-US" sz="2000" spc="-1" strike="noStrike">
              <a:solidFill>
                <a:srgbClr val="000000"/>
              </a:solidFill>
              <a:latin typeface="Arial"/>
            </a:endParaRPr>
          </a:p>
        </p:txBody>
      </p:sp>
      <p:sp>
        <p:nvSpPr>
          <p:cNvPr id="908" name="PlaceHolder 3"/>
          <p:cNvSpPr>
            <a:spLocks noGrp="1"/>
          </p:cNvSpPr>
          <p:nvPr>
            <p:ph type="sldNum" idx="27"/>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5B742200-BA79-40FA-B534-EE493C3822B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9" name="PlaceHolder 1"/>
          <p:cNvSpPr>
            <a:spLocks noGrp="1"/>
          </p:cNvSpPr>
          <p:nvPr>
            <p:ph type="sldImg"/>
          </p:nvPr>
        </p:nvSpPr>
        <p:spPr>
          <a:xfrm>
            <a:off x="685800" y="1143000"/>
            <a:ext cx="5485680" cy="3085560"/>
          </a:xfrm>
          <a:prstGeom prst="rect">
            <a:avLst/>
          </a:prstGeom>
          <a:ln w="0">
            <a:noFill/>
          </a:ln>
        </p:spPr>
      </p:sp>
      <p:sp>
        <p:nvSpPr>
          <p:cNvPr id="910"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Present this as an honest feasibility result, not a sales pitch. Technically the battery works and behaves exactly as control intuition says (charge cheap, discharge at peak). Economically it does not pay back at the Algerian tariff spread — it would only pay under much higher price volatility or far cheaper batteries. Juries respect a negative result that is clearly reasoned. Optimiser detail (PSO + LP decomposition) is a backup slide.</a:t>
            </a:r>
            <a:endParaRPr b="0" lang="en-US" sz="2000" spc="-1" strike="noStrike">
              <a:solidFill>
                <a:srgbClr val="000000"/>
              </a:solidFill>
              <a:latin typeface="Arial"/>
            </a:endParaRPr>
          </a:p>
        </p:txBody>
      </p:sp>
      <p:sp>
        <p:nvSpPr>
          <p:cNvPr id="911" name="PlaceHolder 3"/>
          <p:cNvSpPr>
            <a:spLocks noGrp="1"/>
          </p:cNvSpPr>
          <p:nvPr>
            <p:ph type="sldNum" idx="28"/>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B26C4D94-D980-4CE7-BD6F-720C42CB5515}"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2" name="PlaceHolder 1"/>
          <p:cNvSpPr>
            <a:spLocks noGrp="1"/>
          </p:cNvSpPr>
          <p:nvPr>
            <p:ph type="sldImg"/>
          </p:nvPr>
        </p:nvSpPr>
        <p:spPr>
          <a:xfrm>
            <a:off x="685800" y="1143000"/>
            <a:ext cx="5485680" cy="3085560"/>
          </a:xfrm>
          <a:prstGeom prst="rect">
            <a:avLst/>
          </a:prstGeom>
          <a:ln w="0">
            <a:noFill/>
          </a:ln>
        </p:spPr>
      </p:sp>
      <p:sp>
        <p:nvSpPr>
          <p:cNvPr id="913"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Energy up — this is the part the jury remembers. Have the laptop ready.</a:t>
            </a:r>
            <a:endParaRPr b="0" lang="en-US" sz="2000" spc="-1" strike="noStrike">
              <a:solidFill>
                <a:srgbClr val="000000"/>
              </a:solidFill>
              <a:latin typeface="Arial"/>
            </a:endParaRPr>
          </a:p>
        </p:txBody>
      </p:sp>
      <p:sp>
        <p:nvSpPr>
          <p:cNvPr id="914" name="PlaceHolder 3"/>
          <p:cNvSpPr>
            <a:spLocks noGrp="1"/>
          </p:cNvSpPr>
          <p:nvPr>
            <p:ph type="sldNum" idx="29"/>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5BB3E4B6-4856-4C82-91D0-958F45B7044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5" name="PlaceHolder 1"/>
          <p:cNvSpPr>
            <a:spLocks noGrp="1"/>
          </p:cNvSpPr>
          <p:nvPr>
            <p:ph type="sldImg"/>
          </p:nvPr>
        </p:nvSpPr>
        <p:spPr>
          <a:xfrm>
            <a:off x="685800" y="1143000"/>
            <a:ext cx="5485680" cy="3085560"/>
          </a:xfrm>
          <a:prstGeom prst="rect">
            <a:avLst/>
          </a:prstGeom>
          <a:ln w="0">
            <a:noFill/>
          </a:ln>
        </p:spPr>
      </p:sp>
      <p:sp>
        <p:nvSpPr>
          <p:cNvPr id="916"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THE LIVE DEMO — the only one, so give it ~2 minutes. Run:  streamlit run app/dashboard.py  — then drag the demand slider and hit Run Optimization to show the schedule recompute live; flip to the Control Strategy tab to show MPC vs the optimum vs the rule; flip to Validation to show 24/24 PASS. If the laptop/projector misbehaves, this screenshot is the fallback.</a:t>
            </a:r>
            <a:endParaRPr b="0" lang="en-US" sz="2000" spc="-1" strike="noStrike">
              <a:solidFill>
                <a:srgbClr val="000000"/>
              </a:solidFill>
              <a:latin typeface="Arial"/>
            </a:endParaRPr>
          </a:p>
        </p:txBody>
      </p:sp>
      <p:sp>
        <p:nvSpPr>
          <p:cNvPr id="917" name="PlaceHolder 3"/>
          <p:cNvSpPr>
            <a:spLocks noGrp="1"/>
          </p:cNvSpPr>
          <p:nvPr>
            <p:ph type="sldNum" idx="30"/>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9DD2A890-B043-483B-8C93-3F77796309E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8" name="PlaceHolder 1"/>
          <p:cNvSpPr>
            <a:spLocks noGrp="1"/>
          </p:cNvSpPr>
          <p:nvPr>
            <p:ph type="sldImg"/>
          </p:nvPr>
        </p:nvSpPr>
        <p:spPr>
          <a:xfrm>
            <a:off x="685800" y="1143000"/>
            <a:ext cx="5485680" cy="3085560"/>
          </a:xfrm>
          <a:prstGeom prst="rect">
            <a:avLst/>
          </a:prstGeom>
          <a:ln w="0">
            <a:noFill/>
          </a:ln>
        </p:spPr>
      </p:sp>
      <p:sp>
        <p:nvSpPr>
          <p:cNvPr id="919"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Reaffirm the contribution as completed work (this is a defense, not a progress update). Tie the ticks back to the FOUR PROMISES of the objectives slide — trusted model (ticks 1–2), controller that decides (tick 3), proof it pays (ticks 4–5), something you can touch (tick 6). Land the one-liner with confidence.</a:t>
            </a:r>
            <a:endParaRPr b="0" lang="en-US" sz="2000" spc="-1" strike="noStrike">
              <a:solidFill>
                <a:srgbClr val="000000"/>
              </a:solidFill>
              <a:latin typeface="Arial"/>
            </a:endParaRPr>
          </a:p>
        </p:txBody>
      </p:sp>
      <p:sp>
        <p:nvSpPr>
          <p:cNvPr id="920" name="PlaceHolder 3"/>
          <p:cNvSpPr>
            <a:spLocks noGrp="1"/>
          </p:cNvSpPr>
          <p:nvPr>
            <p:ph type="sldNum" idx="31"/>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A7210DEF-3127-46D9-91A5-7001368BED2E}"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1" name="PlaceHolder 1"/>
          <p:cNvSpPr>
            <a:spLocks noGrp="1"/>
          </p:cNvSpPr>
          <p:nvPr>
            <p:ph type="sldImg"/>
          </p:nvPr>
        </p:nvSpPr>
        <p:spPr>
          <a:xfrm>
            <a:off x="685800" y="1143000"/>
            <a:ext cx="5485680" cy="3085560"/>
          </a:xfrm>
          <a:prstGeom prst="rect">
            <a:avLst/>
          </a:prstGeom>
          <a:ln w="0">
            <a:noFill/>
          </a:ln>
        </p:spPr>
      </p:sp>
      <p:sp>
        <p:nvSpPr>
          <p:cNvPr id="922"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Show you know where the work stops. State limitations before the jury does — it builds credibility. Each future-work item maps to a limitation. The 'size PV so limits bind' item is the most control-interesting next step and a good thing to volunteer.</a:t>
            </a:r>
            <a:endParaRPr b="0" lang="en-US" sz="2000" spc="-1" strike="noStrike">
              <a:solidFill>
                <a:srgbClr val="000000"/>
              </a:solidFill>
              <a:latin typeface="Arial"/>
            </a:endParaRPr>
          </a:p>
        </p:txBody>
      </p:sp>
      <p:sp>
        <p:nvSpPr>
          <p:cNvPr id="923" name="PlaceHolder 3"/>
          <p:cNvSpPr>
            <a:spLocks noGrp="1"/>
          </p:cNvSpPr>
          <p:nvPr>
            <p:ph type="sldNum" idx="32"/>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85CDD08D-DB8D-474E-A856-79303E9EFD7C}"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4" name="PlaceHolder 1"/>
          <p:cNvSpPr>
            <a:spLocks noGrp="1"/>
          </p:cNvSpPr>
          <p:nvPr>
            <p:ph type="sldImg"/>
          </p:nvPr>
        </p:nvSpPr>
        <p:spPr>
          <a:xfrm>
            <a:off x="685800" y="1143000"/>
            <a:ext cx="5485680" cy="3085560"/>
          </a:xfrm>
          <a:prstGeom prst="rect">
            <a:avLst/>
          </a:prstGeom>
          <a:ln w="0">
            <a:noFill/>
          </a:ln>
        </p:spPr>
      </p:sp>
      <p:sp>
        <p:nvSpPr>
          <p:cNvPr id="925"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Closing. Thank the jury, invite questions, and stay calm — the appendix slides that follow are there to answer the common ones (validation table, PSO/MPC detail, tariff, electrolyzer, resolution choice, storage architecture, provenance). Jump to them by slide number when relevant.</a:t>
            </a:r>
            <a:endParaRPr b="0" lang="en-US" sz="2000" spc="-1" strike="noStrike">
              <a:solidFill>
                <a:srgbClr val="000000"/>
              </a:solidFill>
              <a:latin typeface="Arial"/>
            </a:endParaRPr>
          </a:p>
        </p:txBody>
      </p:sp>
      <p:sp>
        <p:nvSpPr>
          <p:cNvPr id="926" name="PlaceHolder 3"/>
          <p:cNvSpPr>
            <a:spLocks noGrp="1"/>
          </p:cNvSpPr>
          <p:nvPr>
            <p:ph type="sldNum" idx="33"/>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AFC066AC-203E-46F3-8F22-55707D8222DE}"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7" name="PlaceHolder 1"/>
          <p:cNvSpPr>
            <a:spLocks noGrp="1"/>
          </p:cNvSpPr>
          <p:nvPr>
            <p:ph type="sldImg"/>
          </p:nvPr>
        </p:nvSpPr>
        <p:spPr>
          <a:xfrm>
            <a:off x="685800" y="1143000"/>
            <a:ext cx="5485680" cy="3085560"/>
          </a:xfrm>
          <a:prstGeom prst="rect">
            <a:avLst/>
          </a:prstGeom>
          <a:ln w="0">
            <a:noFill/>
          </a:ln>
        </p:spPr>
      </p:sp>
      <p:sp>
        <p:nvSpPr>
          <p:cNvPr id="928"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Not presented in the main talk — use these to answer questions precisely.</a:t>
            </a:r>
            <a:endParaRPr b="0" lang="en-US" sz="2000" spc="-1" strike="noStrike">
              <a:solidFill>
                <a:srgbClr val="000000"/>
              </a:solidFill>
              <a:latin typeface="Arial"/>
            </a:endParaRPr>
          </a:p>
        </p:txBody>
      </p:sp>
      <p:sp>
        <p:nvSpPr>
          <p:cNvPr id="929" name="PlaceHolder 3"/>
          <p:cNvSpPr>
            <a:spLocks noGrp="1"/>
          </p:cNvSpPr>
          <p:nvPr>
            <p:ph type="sldNum" idx="34"/>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A71D6001-3EAF-4D9E-A9B6-C2D756D6320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0" name="PlaceHolder 1"/>
          <p:cNvSpPr>
            <a:spLocks noGrp="1"/>
          </p:cNvSpPr>
          <p:nvPr>
            <p:ph type="sldImg"/>
          </p:nvPr>
        </p:nvSpPr>
        <p:spPr>
          <a:xfrm>
            <a:off x="685800" y="1143000"/>
            <a:ext cx="5485680" cy="3085560"/>
          </a:xfrm>
          <a:prstGeom prst="rect">
            <a:avLst/>
          </a:prstGeom>
          <a:ln w="0">
            <a:noFill/>
          </a:ln>
        </p:spPr>
      </p:sp>
      <p:sp>
        <p:nvSpPr>
          <p:cNvPr id="931"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Not presented — a rehearsal artefact for the two of you. Print it or keep it on a phone during practice runs. The timestamps assume a strict 20-minute slot; rehearse to 19:30 so questions never start late. The handover sentence (P1 → P2 at ≈9:20): 'That is the problem, stated formally — [Name] will now show you how we solve it, every hour, and what that is worth.'</a:t>
            </a:r>
            <a:endParaRPr b="0" lang="en-US" sz="2000" spc="-1" strike="noStrike">
              <a:solidFill>
                <a:srgbClr val="000000"/>
              </a:solidFill>
              <a:latin typeface="Arial"/>
            </a:endParaRPr>
          </a:p>
        </p:txBody>
      </p:sp>
      <p:sp>
        <p:nvSpPr>
          <p:cNvPr id="932" name="PlaceHolder 3"/>
          <p:cNvSpPr>
            <a:spLocks noGrp="1"/>
          </p:cNvSpPr>
          <p:nvPr>
            <p:ph type="sldNum" idx="35"/>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204E4BBC-96F1-4D25-A1AD-1983663DFA9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3" name="PlaceHolder 1"/>
          <p:cNvSpPr>
            <a:spLocks noGrp="1"/>
          </p:cNvSpPr>
          <p:nvPr>
            <p:ph type="sldImg"/>
          </p:nvPr>
        </p:nvSpPr>
        <p:spPr>
          <a:xfrm>
            <a:off x="685800" y="1143000"/>
            <a:ext cx="5485680" cy="3085560"/>
          </a:xfrm>
          <a:prstGeom prst="rect">
            <a:avLst/>
          </a:prstGeom>
          <a:ln w="0">
            <a:noFill/>
          </a:ln>
        </p:spPr>
      </p:sp>
      <p:sp>
        <p:nvSpPr>
          <p:cNvPr id="934"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If the jury wants proof of the validation, this is the full 24-row comparison, typeset from the CSV the validation script writes. Every row PASS — worst absolute voltage error 4.3 × 10⁻⁶ pu. The PV-export row is worth pointing at: the negative slack power (−0.5328 vs −0.53274 MW) shows the model reproduces the reverse-power-flow direction, not just magnitudes.</a:t>
            </a:r>
            <a:endParaRPr b="0" lang="en-US" sz="2000" spc="-1" strike="noStrike">
              <a:solidFill>
                <a:srgbClr val="000000"/>
              </a:solidFill>
              <a:latin typeface="Arial"/>
            </a:endParaRPr>
          </a:p>
        </p:txBody>
      </p:sp>
      <p:sp>
        <p:nvSpPr>
          <p:cNvPr id="935" name="PlaceHolder 3"/>
          <p:cNvSpPr>
            <a:spLocks noGrp="1"/>
          </p:cNvSpPr>
          <p:nvPr>
            <p:ph type="sldNum" idx="36"/>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07E7BD99-38B1-463E-811C-512AADE7498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6" name="PlaceHolder 1"/>
          <p:cNvSpPr>
            <a:spLocks noGrp="1"/>
          </p:cNvSpPr>
          <p:nvPr>
            <p:ph type="sldImg"/>
          </p:nvPr>
        </p:nvSpPr>
        <p:spPr>
          <a:xfrm>
            <a:off x="685800" y="1143000"/>
            <a:ext cx="5485680" cy="3085560"/>
          </a:xfrm>
          <a:prstGeom prst="rect">
            <a:avLst/>
          </a:prstGeom>
          <a:ln w="0">
            <a:noFill/>
          </a:ln>
        </p:spPr>
      </p:sp>
      <p:sp>
        <p:nvSpPr>
          <p:cNvPr id="937"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All parameters were taken from the ETAP project and recorded before the pandapower rebuild. The electrolyzer is a constant-power load (a regulated rectifier holds commanded power), which is why it draws exactly 0.8 MW at every operating point.</a:t>
            </a:r>
            <a:endParaRPr b="0" lang="en-US" sz="2000" spc="-1" strike="noStrike">
              <a:solidFill>
                <a:srgbClr val="000000"/>
              </a:solidFill>
              <a:latin typeface="Arial"/>
            </a:endParaRPr>
          </a:p>
        </p:txBody>
      </p:sp>
      <p:sp>
        <p:nvSpPr>
          <p:cNvPr id="938" name="PlaceHolder 3"/>
          <p:cNvSpPr>
            <a:spLocks noGrp="1"/>
          </p:cNvSpPr>
          <p:nvPr>
            <p:ph type="sldNum" idx="37"/>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F48A4C9F-CE23-4220-9AF3-F720B2C3B35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9" name="PlaceHolder 1"/>
          <p:cNvSpPr>
            <a:spLocks noGrp="1"/>
          </p:cNvSpPr>
          <p:nvPr>
            <p:ph type="sldImg"/>
          </p:nvPr>
        </p:nvSpPr>
        <p:spPr>
          <a:xfrm>
            <a:off x="685800" y="1143000"/>
            <a:ext cx="5485680" cy="3085560"/>
          </a:xfrm>
          <a:prstGeom prst="rect">
            <a:avLst/>
          </a:prstGeom>
          <a:ln w="0">
            <a:noFill/>
          </a:ln>
        </p:spPr>
      </p:sp>
      <p:sp>
        <p:nvSpPr>
          <p:cNvPr id="940"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Source URL is in src/economics.py (CREG, 'Comment lire votre facture'). The staircase figure shows the official day to the centime, including the 22h30 boundary. The peak ratio is the single most important economic fact in the thesis — it is why shifting load off the evening peak is worth so much. If asked about the demand charge: it is levied on SUBSCRIBED power, a contract constant — no dispatch decision changes it, so the optimisation correctly ignores it.</a:t>
            </a:r>
            <a:endParaRPr b="0" lang="en-US" sz="2000" spc="-1" strike="noStrike">
              <a:solidFill>
                <a:srgbClr val="000000"/>
              </a:solidFill>
              <a:latin typeface="Arial"/>
            </a:endParaRPr>
          </a:p>
        </p:txBody>
      </p:sp>
      <p:sp>
        <p:nvSpPr>
          <p:cNvPr id="941" name="PlaceHolder 3"/>
          <p:cNvSpPr>
            <a:spLocks noGrp="1"/>
          </p:cNvSpPr>
          <p:nvPr>
            <p:ph type="sldNum" idx="38"/>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797E5D0E-581B-4331-B4C2-ED0FDDC23B7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2" name="PlaceHolder 1"/>
          <p:cNvSpPr>
            <a:spLocks noGrp="1"/>
          </p:cNvSpPr>
          <p:nvPr>
            <p:ph type="sldImg"/>
          </p:nvPr>
        </p:nvSpPr>
        <p:spPr>
          <a:xfrm>
            <a:off x="685800" y="1143000"/>
            <a:ext cx="5485680" cy="3085560"/>
          </a:xfrm>
          <a:prstGeom prst="rect">
            <a:avLst/>
          </a:prstGeom>
          <a:ln w="0">
            <a:noFill/>
          </a:ln>
        </p:spPr>
      </p:sp>
      <p:sp>
        <p:nvSpPr>
          <p:cNvPr id="943"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This is the algorithmic backbone. If asked 'why PSO and not MILP', the answer is the non-linearity and the discontinuity — and that PSO converges reproducibly here, which we demonstrate with the three-seed plot.</a:t>
            </a:r>
            <a:endParaRPr b="0" lang="en-US" sz="2000" spc="-1" strike="noStrike">
              <a:solidFill>
                <a:srgbClr val="000000"/>
              </a:solidFill>
              <a:latin typeface="Arial"/>
            </a:endParaRPr>
          </a:p>
        </p:txBody>
      </p:sp>
      <p:sp>
        <p:nvSpPr>
          <p:cNvPr id="944" name="PlaceHolder 3"/>
          <p:cNvSpPr>
            <a:spLocks noGrp="1"/>
          </p:cNvSpPr>
          <p:nvPr>
            <p:ph type="sldNum" idx="39"/>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BE675BDF-405B-4D8A-A82F-9D125B51C32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5" name="PlaceHolder 1"/>
          <p:cNvSpPr>
            <a:spLocks noGrp="1"/>
          </p:cNvSpPr>
          <p:nvPr>
            <p:ph type="sldImg"/>
          </p:nvPr>
        </p:nvSpPr>
        <p:spPr>
          <a:xfrm>
            <a:off x="685800" y="1143000"/>
            <a:ext cx="5485680" cy="3085560"/>
          </a:xfrm>
          <a:prstGeom prst="rect">
            <a:avLst/>
          </a:prstGeom>
          <a:ln w="0">
            <a:noFill/>
          </a:ln>
        </p:spPr>
      </p:sp>
      <p:sp>
        <p:nvSpPr>
          <p:cNvPr id="946"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The forecast is deliberately simple (persistence + clearness correction), which makes the disturbance-rejection result honest — MPC does well despite a naive forecast. A learned forecaster is future work.</a:t>
            </a:r>
            <a:endParaRPr b="0" lang="en-US" sz="2000" spc="-1" strike="noStrike">
              <a:solidFill>
                <a:srgbClr val="000000"/>
              </a:solidFill>
              <a:latin typeface="Arial"/>
            </a:endParaRPr>
          </a:p>
        </p:txBody>
      </p:sp>
      <p:sp>
        <p:nvSpPr>
          <p:cNvPr id="947" name="PlaceHolder 3"/>
          <p:cNvSpPr>
            <a:spLocks noGrp="1"/>
          </p:cNvSpPr>
          <p:nvPr>
            <p:ph type="sldNum" idx="40"/>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0B9940F9-088A-4BB8-991D-15DE94D590E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8" name="PlaceHolder 1"/>
          <p:cNvSpPr>
            <a:spLocks noGrp="1"/>
          </p:cNvSpPr>
          <p:nvPr>
            <p:ph type="sldImg"/>
          </p:nvPr>
        </p:nvSpPr>
        <p:spPr>
          <a:xfrm>
            <a:off x="685800" y="1143000"/>
            <a:ext cx="5485680" cy="3085560"/>
          </a:xfrm>
          <a:prstGeom prst="rect">
            <a:avLst/>
          </a:prstGeom>
          <a:ln w="0">
            <a:noFill/>
          </a:ln>
        </p:spPr>
      </p:sp>
      <p:sp>
        <p:nvSpPr>
          <p:cNvPr id="949"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This is the conversion physics, with the curves generated from src/physics/electrolyzer_model.py — the exact code the optimiser calls. The two numbers — ≈54 kWh/kg and 14.6 kg/h at rated — let you sanity-check any hydrogen figure in the talk on the spot. Parameters are literature-sourced (Carmo et al. 2013; García-Valverde et al. 2012): α = 0.5, i₀ = 10⁻³ A/cm², r = 0.20 Ω·cm², 60 °C; the cell area is back-solved so rated power is exactly 0.800 MW.</a:t>
            </a:r>
            <a:endParaRPr b="0" lang="en-US" sz="2000" spc="-1" strike="noStrike">
              <a:solidFill>
                <a:srgbClr val="000000"/>
              </a:solidFill>
              <a:latin typeface="Arial"/>
            </a:endParaRPr>
          </a:p>
        </p:txBody>
      </p:sp>
      <p:sp>
        <p:nvSpPr>
          <p:cNvPr id="950" name="PlaceHolder 3"/>
          <p:cNvSpPr>
            <a:spLocks noGrp="1"/>
          </p:cNvSpPr>
          <p:nvPr>
            <p:ph type="sldNum" idx="41"/>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2A5A33A6-41F2-4F04-85FB-B7C6883D1BF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1" name="PlaceHolder 1"/>
          <p:cNvSpPr>
            <a:spLocks noGrp="1"/>
          </p:cNvSpPr>
          <p:nvPr>
            <p:ph type="sldImg"/>
          </p:nvPr>
        </p:nvSpPr>
        <p:spPr>
          <a:xfrm>
            <a:off x="685800" y="1143000"/>
            <a:ext cx="5485680" cy="3085560"/>
          </a:xfrm>
          <a:prstGeom prst="rect">
            <a:avLst/>
          </a:prstGeom>
          <a:ln w="0">
            <a:noFill/>
          </a:ln>
        </p:spPr>
      </p:sp>
      <p:sp>
        <p:nvSpPr>
          <p:cNvPr id="952"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Good slide to explain the economics intuitively: the controller is essentially free until demand exceeds the solar that fits in cheap hours, then cost rises as it is forced into more expensive grid windows.</a:t>
            </a:r>
            <a:endParaRPr b="0" lang="en-US" sz="2000" spc="-1" strike="noStrike">
              <a:solidFill>
                <a:srgbClr val="000000"/>
              </a:solidFill>
              <a:latin typeface="Arial"/>
            </a:endParaRPr>
          </a:p>
        </p:txBody>
      </p:sp>
      <p:sp>
        <p:nvSpPr>
          <p:cNvPr id="953" name="PlaceHolder 3"/>
          <p:cNvSpPr>
            <a:spLocks noGrp="1"/>
          </p:cNvSpPr>
          <p:nvPr>
            <p:ph type="sldNum" idx="42"/>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21AD4CAF-6086-4446-9309-82951379E2B0}"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4" name="PlaceHolder 1"/>
          <p:cNvSpPr>
            <a:spLocks noGrp="1"/>
          </p:cNvSpPr>
          <p:nvPr>
            <p:ph type="sldImg"/>
          </p:nvPr>
        </p:nvSpPr>
        <p:spPr>
          <a:xfrm>
            <a:off x="685800" y="1143000"/>
            <a:ext cx="5485680" cy="3085560"/>
          </a:xfrm>
          <a:prstGeom prst="rect">
            <a:avLst/>
          </a:prstGeom>
          <a:ln w="0">
            <a:noFill/>
          </a:ln>
        </p:spPr>
      </p:sp>
      <p:sp>
        <p:nvSpPr>
          <p:cNvPr id="955"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A classic methodology question — defend it explicitly. Decisions at the operator-realistic hourly cadence; accounting at the data's native 15-min resolution. This is a deliberate, justified choice, not a shortcut.</a:t>
            </a:r>
            <a:endParaRPr b="0" lang="en-US" sz="2000" spc="-1" strike="noStrike">
              <a:solidFill>
                <a:srgbClr val="000000"/>
              </a:solidFill>
              <a:latin typeface="Arial"/>
            </a:endParaRPr>
          </a:p>
        </p:txBody>
      </p:sp>
      <p:sp>
        <p:nvSpPr>
          <p:cNvPr id="956" name="PlaceHolder 3"/>
          <p:cNvSpPr>
            <a:spLocks noGrp="1"/>
          </p:cNvSpPr>
          <p:nvPr>
            <p:ph type="sldNum" idx="43"/>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84CB1200-65B4-4984-BB0D-8A11A57728C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7" name="PlaceHolder 1"/>
          <p:cNvSpPr>
            <a:spLocks noGrp="1"/>
          </p:cNvSpPr>
          <p:nvPr>
            <p:ph type="sldImg"/>
          </p:nvPr>
        </p:nvSpPr>
        <p:spPr>
          <a:xfrm>
            <a:off x="685800" y="1143000"/>
            <a:ext cx="5485680" cy="3085560"/>
          </a:xfrm>
          <a:prstGeom prst="rect">
            <a:avLst/>
          </a:prstGeom>
          <a:ln w="0">
            <a:noFill/>
          </a:ln>
        </p:spPr>
      </p:sp>
      <p:sp>
        <p:nvSpPr>
          <p:cNvPr id="958"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If asked how the battery is optimised: emphasise the decomposition. It is the clean engineering answer — PSO for the hard non-linear part, an exact LP for the part that is linear given the setpoints.</a:t>
            </a:r>
            <a:endParaRPr b="0" lang="en-US" sz="2000" spc="-1" strike="noStrike">
              <a:solidFill>
                <a:srgbClr val="000000"/>
              </a:solidFill>
              <a:latin typeface="Arial"/>
            </a:endParaRPr>
          </a:p>
        </p:txBody>
      </p:sp>
      <p:sp>
        <p:nvSpPr>
          <p:cNvPr id="959" name="PlaceHolder 3"/>
          <p:cNvSpPr>
            <a:spLocks noGrp="1"/>
          </p:cNvSpPr>
          <p:nvPr>
            <p:ph type="sldNum" idx="44"/>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CCE1DD86-7928-4E78-8711-DDD7D89AEC7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0" name="PlaceHolder 1"/>
          <p:cNvSpPr>
            <a:spLocks noGrp="1"/>
          </p:cNvSpPr>
          <p:nvPr>
            <p:ph type="sldImg"/>
          </p:nvPr>
        </p:nvSpPr>
        <p:spPr>
          <a:xfrm>
            <a:off x="685800" y="1143000"/>
            <a:ext cx="5485680" cy="3085560"/>
          </a:xfrm>
          <a:prstGeom prst="rect">
            <a:avLst/>
          </a:prstGeom>
          <a:ln w="0">
            <a:noFill/>
          </a:ln>
        </p:spPr>
      </p:sp>
      <p:sp>
        <p:nvSpPr>
          <p:cNvPr id="961"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The reproducibility / integrity slide. Each source is real and cited in code. Note the early-PySAM integrity point if asked: a test run used a non-Ghardaïa weather file and was replaced with real Ghardaïa CAMS data before any result was used — no location was misrepresented.</a:t>
            </a:r>
            <a:endParaRPr b="0" lang="en-US" sz="2000" spc="-1" strike="noStrike">
              <a:solidFill>
                <a:srgbClr val="000000"/>
              </a:solidFill>
              <a:latin typeface="Arial"/>
            </a:endParaRPr>
          </a:p>
        </p:txBody>
      </p:sp>
      <p:sp>
        <p:nvSpPr>
          <p:cNvPr id="962" name="PlaceHolder 3"/>
          <p:cNvSpPr>
            <a:spLocks noGrp="1"/>
          </p:cNvSpPr>
          <p:nvPr>
            <p:ph type="sldNum" idx="45"/>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77EE0343-38AF-4641-916D-10ECA35EA8F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3" name="PlaceHolder 1"/>
          <p:cNvSpPr>
            <a:spLocks noGrp="1"/>
          </p:cNvSpPr>
          <p:nvPr>
            <p:ph type="sldImg"/>
          </p:nvPr>
        </p:nvSpPr>
        <p:spPr>
          <a:xfrm>
            <a:off x="685800" y="1143000"/>
            <a:ext cx="5485680" cy="3085560"/>
          </a:xfrm>
          <a:prstGeom prst="rect">
            <a:avLst/>
          </a:prstGeom>
          <a:ln w="0">
            <a:noFill/>
          </a:ln>
        </p:spPr>
      </p:sp>
      <p:sp>
        <p:nvSpPr>
          <p:cNvPr id="964"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Backup for a literature/positioning question. Professional tools are accurate but not automatable; techno-economic dispatch studies rarely check the network each step or close the loop; we use PSO where it is established and frame the control explicitly. The surrogate-model line of work from the earlier project is deliberately demoted to future work.</a:t>
            </a:r>
            <a:endParaRPr b="0" lang="en-US" sz="2000" spc="-1" strike="noStrike">
              <a:solidFill>
                <a:srgbClr val="000000"/>
              </a:solidFill>
              <a:latin typeface="Arial"/>
            </a:endParaRPr>
          </a:p>
        </p:txBody>
      </p:sp>
      <p:sp>
        <p:nvSpPr>
          <p:cNvPr id="965" name="PlaceHolder 3"/>
          <p:cNvSpPr>
            <a:spLocks noGrp="1"/>
          </p:cNvSpPr>
          <p:nvPr>
            <p:ph type="sldNum" idx="46"/>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763EAA20-F18C-4031-AE85-C61889319AF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jpeg"/><Relationship Id="rId3" Type="http://schemas.openxmlformats.org/officeDocument/2006/relationships/slideLayout" Target="../slideLayouts/slideLayout1.xml"/><Relationship Id="rId4"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slideLayout" Target="../slideLayouts/slideLayout1.xml"/><Relationship Id="rId6"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slideLayout" Target="../slideLayouts/slideLayout1.xml"/><Relationship Id="rId4"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xml"/><Relationship Id="rId3"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xml"/><Relationship Id="rId3"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png"/><Relationship Id="rId3" Type="http://schemas.openxmlformats.org/officeDocument/2006/relationships/slideLayout" Target="../slideLayouts/slideLayout1.xml"/><Relationship Id="rId4"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slideLayout" Target="../slideLayouts/slideLayout1.xml"/><Relationship Id="rId4"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1.xml"/><Relationship Id="rId3"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1.xml"/><Relationship Id="rId3"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Relationship Id="rId3"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1.xml"/><Relationship Id="rId3"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1.xml"/><Relationship Id="rId3"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e2233"/>
        </a:solidFill>
      </p:bgPr>
    </p:bg>
    <p:spTree>
      <p:nvGrpSpPr>
        <p:cNvPr id="1" name=""/>
        <p:cNvGrpSpPr/>
        <p:nvPr/>
      </p:nvGrpSpPr>
      <p:grpSpPr>
        <a:xfrm>
          <a:off x="0" y="0"/>
          <a:ext cx="0" cy="0"/>
          <a:chOff x="0" y="0"/>
          <a:chExt cx="0" cy="0"/>
        </a:xfrm>
      </p:grpSpPr>
      <p:sp>
        <p:nvSpPr>
          <p:cNvPr id="8" name="Text 0"/>
          <p:cNvSpPr/>
          <p:nvPr/>
        </p:nvSpPr>
        <p:spPr>
          <a:xfrm>
            <a:off x="11338560" y="6400800"/>
            <a:ext cx="456480" cy="291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050" spc="-1" strike="noStrike">
                <a:solidFill>
                  <a:srgbClr val="8ea6bc"/>
                </a:solidFill>
                <a:latin typeface="Calibri"/>
                <a:ea typeface="Calibri"/>
              </a:rPr>
              <a:t>1</a:t>
            </a:r>
            <a:endParaRPr b="0" lang="en-US" sz="1050" spc="-1" strike="noStrike">
              <a:solidFill>
                <a:srgbClr val="ffffff"/>
              </a:solidFill>
              <a:latin typeface="Arial"/>
            </a:endParaRPr>
          </a:p>
        </p:txBody>
      </p:sp>
      <p:sp>
        <p:nvSpPr>
          <p:cNvPr id="9" name="Shape 1"/>
          <p:cNvSpPr/>
          <p:nvPr/>
        </p:nvSpPr>
        <p:spPr>
          <a:xfrm>
            <a:off x="9601200" y="-2103120"/>
            <a:ext cx="5119920" cy="5119920"/>
          </a:xfrm>
          <a:prstGeom prst="ellipse">
            <a:avLst/>
          </a:prstGeom>
          <a:solidFill>
            <a:srgbClr val="16344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 name="Shape 2"/>
          <p:cNvSpPr/>
          <p:nvPr/>
        </p:nvSpPr>
        <p:spPr>
          <a:xfrm>
            <a:off x="10607040" y="4114800"/>
            <a:ext cx="3931200" cy="3931200"/>
          </a:xfrm>
          <a:prstGeom prst="ellipse">
            <a:avLst/>
          </a:prstGeom>
          <a:solidFill>
            <a:srgbClr val="12283c"/>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 name="Text 3"/>
          <p:cNvSpPr/>
          <p:nvPr/>
        </p:nvSpPr>
        <p:spPr>
          <a:xfrm>
            <a:off x="685800" y="228600"/>
            <a:ext cx="1097208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97" strike="noStrike">
                <a:solidFill>
                  <a:srgbClr val="f4a623"/>
                </a:solidFill>
                <a:latin typeface="Calibri"/>
                <a:ea typeface="Calibri"/>
              </a:rPr>
              <a:t>MASTER'S THESIS DEFENSE  ·  M2 AUTOMATION  ·  UNIVERSITY OF BOUMERDÈS</a:t>
            </a:r>
            <a:endParaRPr b="0" lang="en-US" sz="1300" spc="-1" strike="noStrike">
              <a:solidFill>
                <a:srgbClr val="ffffff"/>
              </a:solidFill>
              <a:latin typeface="Arial"/>
            </a:endParaRPr>
          </a:p>
        </p:txBody>
      </p:sp>
      <p:sp>
        <p:nvSpPr>
          <p:cNvPr id="12" name="Text 4"/>
          <p:cNvSpPr/>
          <p:nvPr/>
        </p:nvSpPr>
        <p:spPr>
          <a:xfrm>
            <a:off x="640080" y="1600200"/>
            <a:ext cx="10972080" cy="1736640"/>
          </a:xfrm>
          <a:prstGeom prst="rect">
            <a:avLst/>
          </a:prstGeom>
          <a:noFill/>
          <a:ln w="0">
            <a:noFill/>
          </a:ln>
        </p:spPr>
        <p:style>
          <a:lnRef idx="0"/>
          <a:fillRef idx="0"/>
          <a:effectRef idx="0"/>
          <a:fontRef idx="minor"/>
        </p:style>
        <p:txBody>
          <a:bodyPr lIns="0" rIns="0" tIns="0" bIns="0" anchor="ctr">
            <a:noAutofit/>
          </a:bodyPr>
          <a:p>
            <a:pPr defTabSz="914400">
              <a:lnSpc>
                <a:spcPct val="104000"/>
              </a:lnSpc>
              <a:tabLst>
                <a:tab algn="l" pos="0"/>
              </a:tabLst>
            </a:pPr>
            <a:r>
              <a:rPr b="1" lang="en-US" sz="3700" spc="-1" strike="noStrike">
                <a:solidFill>
                  <a:srgbClr val="ffffff"/>
                </a:solidFill>
                <a:latin typeface="Cambria"/>
                <a:ea typeface="Cambria"/>
              </a:rPr>
              <a:t>Automated Supervisory Dispatch Control of a</a:t>
            </a:r>
            <a:endParaRPr b="0" lang="en-US" sz="3700" spc="-1" strike="noStrike">
              <a:solidFill>
                <a:srgbClr val="ffffff"/>
              </a:solidFill>
              <a:latin typeface="Arial"/>
            </a:endParaRPr>
          </a:p>
          <a:p>
            <a:pPr defTabSz="914400">
              <a:lnSpc>
                <a:spcPct val="104000"/>
              </a:lnSpc>
              <a:tabLst>
                <a:tab algn="l" pos="0"/>
              </a:tabLst>
            </a:pPr>
            <a:r>
              <a:rPr b="1" lang="en-US" sz="3700" spc="-1" strike="noStrike">
                <a:solidFill>
                  <a:srgbClr val="ffffff"/>
                </a:solidFill>
                <a:latin typeface="Cambria"/>
                <a:ea typeface="Cambria"/>
              </a:rPr>
              <a:t>Solar–Grid–Electrolyzer Hydrogen Plant</a:t>
            </a:r>
            <a:endParaRPr b="0" lang="en-US" sz="3700" spc="-1" strike="noStrike">
              <a:solidFill>
                <a:srgbClr val="ffffff"/>
              </a:solidFill>
              <a:latin typeface="Arial"/>
            </a:endParaRPr>
          </a:p>
        </p:txBody>
      </p:sp>
      <p:sp>
        <p:nvSpPr>
          <p:cNvPr id="13" name="Text 5"/>
          <p:cNvSpPr/>
          <p:nvPr/>
        </p:nvSpPr>
        <p:spPr>
          <a:xfrm>
            <a:off x="640080" y="3154680"/>
            <a:ext cx="10423440" cy="867960"/>
          </a:xfrm>
          <a:prstGeom prst="rect">
            <a:avLst/>
          </a:prstGeom>
          <a:noFill/>
          <a:ln w="0">
            <a:noFill/>
          </a:ln>
        </p:spPr>
        <p:style>
          <a:lnRef idx="0"/>
          <a:fillRef idx="0"/>
          <a:effectRef idx="0"/>
          <a:fontRef idx="minor"/>
        </p:style>
        <p:txBody>
          <a:bodyPr lIns="0" rIns="0" tIns="0" bIns="0" anchor="ctr">
            <a:noAutofit/>
          </a:bodyPr>
          <a:p>
            <a:pPr defTabSz="914400">
              <a:lnSpc>
                <a:spcPct val="112000"/>
              </a:lnSpc>
              <a:tabLst>
                <a:tab algn="l" pos="0"/>
              </a:tabLst>
            </a:pPr>
            <a:r>
              <a:rPr b="0" lang="en-US" sz="1600" spc="-1" strike="noStrike">
                <a:solidFill>
                  <a:srgbClr val="aec2d4"/>
                </a:solidFill>
                <a:latin typeface="Calibri"/>
                <a:ea typeface="Calibri"/>
              </a:rPr>
              <a:t>A receding-horizon (MPC) controller for least-cost green-hydrogen production — validated against an ETAP digital twin and driven by real Ghardaïa weather and the Algerian time-of-use tariff.</a:t>
            </a:r>
            <a:endParaRPr b="0" lang="en-US" sz="1600" spc="-1" strike="noStrike">
              <a:solidFill>
                <a:srgbClr val="ffffff"/>
              </a:solidFill>
              <a:latin typeface="Arial"/>
            </a:endParaRPr>
          </a:p>
        </p:txBody>
      </p:sp>
      <p:sp>
        <p:nvSpPr>
          <p:cNvPr id="14" name="Text 6"/>
          <p:cNvSpPr/>
          <p:nvPr/>
        </p:nvSpPr>
        <p:spPr>
          <a:xfrm>
            <a:off x="640080" y="4343400"/>
            <a:ext cx="45712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97" strike="noStrike">
                <a:solidFill>
                  <a:srgbClr val="6e869c"/>
                </a:solidFill>
                <a:latin typeface="Calibri"/>
                <a:ea typeface="Calibri"/>
              </a:rPr>
              <a:t>PRESENTED BY</a:t>
            </a:r>
            <a:endParaRPr b="0" lang="en-US" sz="1100" spc="-1" strike="noStrike">
              <a:solidFill>
                <a:srgbClr val="ffffff"/>
              </a:solidFill>
              <a:latin typeface="Arial"/>
            </a:endParaRPr>
          </a:p>
        </p:txBody>
      </p:sp>
      <p:sp>
        <p:nvSpPr>
          <p:cNvPr id="15" name="Text 7"/>
          <p:cNvSpPr/>
          <p:nvPr/>
        </p:nvSpPr>
        <p:spPr>
          <a:xfrm>
            <a:off x="640080" y="4617720"/>
            <a:ext cx="5668560" cy="100512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2000" spc="-1" strike="noStrike">
                <a:solidFill>
                  <a:srgbClr val="ffffff"/>
                </a:solidFill>
                <a:latin typeface="Calibri"/>
                <a:ea typeface="Calibri"/>
              </a:rPr>
              <a:t>BOUBIDI Youcef</a:t>
            </a:r>
            <a:endParaRPr b="0" lang="en-US" sz="2000" spc="-1" strike="noStrike">
              <a:solidFill>
                <a:srgbClr val="ffffff"/>
              </a:solidFill>
              <a:latin typeface="Arial"/>
            </a:endParaRPr>
          </a:p>
          <a:p>
            <a:pPr defTabSz="914400">
              <a:lnSpc>
                <a:spcPct val="112000"/>
              </a:lnSpc>
              <a:tabLst>
                <a:tab algn="l" pos="0"/>
              </a:tabLst>
            </a:pPr>
            <a:endParaRPr b="0" lang="en-US" sz="2000" spc="-1" strike="noStrike">
              <a:solidFill>
                <a:srgbClr val="ffffff"/>
              </a:solidFill>
              <a:latin typeface="Arial"/>
            </a:endParaRPr>
          </a:p>
          <a:p>
            <a:pPr defTabSz="914400">
              <a:lnSpc>
                <a:spcPct val="112000"/>
              </a:lnSpc>
              <a:tabLst>
                <a:tab algn="l" pos="0"/>
              </a:tabLst>
            </a:pPr>
            <a:r>
              <a:rPr b="1" lang="en-US" sz="2000" spc="-1" strike="noStrike">
                <a:solidFill>
                  <a:srgbClr val="ffffff"/>
                </a:solidFill>
                <a:latin typeface="Calibri"/>
                <a:ea typeface="Calibri"/>
              </a:rPr>
              <a:t>BOUDJADJA Mohamed Akrem</a:t>
            </a:r>
            <a:endParaRPr b="0" lang="en-US" sz="2000" spc="-1" strike="noStrike">
              <a:solidFill>
                <a:srgbClr val="ffffff"/>
              </a:solidFill>
              <a:latin typeface="Arial"/>
            </a:endParaRPr>
          </a:p>
        </p:txBody>
      </p:sp>
      <p:sp>
        <p:nvSpPr>
          <p:cNvPr id="16" name="Text 8"/>
          <p:cNvSpPr/>
          <p:nvPr/>
        </p:nvSpPr>
        <p:spPr>
          <a:xfrm>
            <a:off x="6583680" y="4617720"/>
            <a:ext cx="5028480" cy="1553760"/>
          </a:xfrm>
          <a:prstGeom prst="rect">
            <a:avLst/>
          </a:prstGeom>
          <a:noFill/>
          <a:ln w="0">
            <a:noFill/>
          </a:ln>
        </p:spPr>
        <p:style>
          <a:lnRef idx="0"/>
          <a:fillRef idx="0"/>
          <a:effectRef idx="0"/>
          <a:fontRef idx="minor"/>
        </p:style>
        <p:txBody>
          <a:bodyPr lIns="0" rIns="0" tIns="0" bIns="0" anchor="ctr">
            <a:noAutofit/>
          </a:bodyPr>
          <a:p>
            <a:pPr>
              <a:lnSpc>
                <a:spcPct val="100000"/>
              </a:lnSpc>
            </a:pPr>
            <a:r>
              <a:rPr b="0" lang="en-US" sz="1450" spc="-1" strike="noStrike">
                <a:solidFill>
                  <a:srgbClr val="8ea6bc"/>
                </a:solidFill>
                <a:latin typeface="Calibri"/>
                <a:ea typeface="Calibri"/>
              </a:rPr>
              <a:t>Supervisor:  </a:t>
            </a:r>
            <a:r>
              <a:rPr b="1" lang="en-US" sz="1450" spc="-1" strike="noStrike">
                <a:solidFill>
                  <a:srgbClr val="ffffff"/>
                </a:solidFill>
                <a:latin typeface="Calibri"/>
                <a:ea typeface="Calibri"/>
              </a:rPr>
              <a:t>TOUBAL MAAMAR Alla Eddine</a:t>
            </a:r>
            <a:endParaRPr b="0" lang="en-US" sz="1450" spc="-1" strike="noStrike">
              <a:solidFill>
                <a:srgbClr val="ffffff"/>
              </a:solidFill>
              <a:latin typeface="Arial"/>
            </a:endParaRPr>
          </a:p>
          <a:p>
            <a:pPr defTabSz="914400">
              <a:lnSpc>
                <a:spcPct val="115000"/>
              </a:lnSpc>
              <a:tabLst>
                <a:tab algn="l" pos="0"/>
              </a:tabLst>
            </a:pPr>
            <a:endParaRPr b="0" lang="en-US" sz="1450" spc="-1" strike="noStrike">
              <a:solidFill>
                <a:srgbClr val="ffffff"/>
              </a:solidFill>
              <a:latin typeface="Arial"/>
            </a:endParaRPr>
          </a:p>
          <a:p>
            <a:pPr defTabSz="914400">
              <a:lnSpc>
                <a:spcPct val="115000"/>
              </a:lnSpc>
              <a:tabLst>
                <a:tab algn="l" pos="0"/>
              </a:tabLst>
            </a:pPr>
            <a:r>
              <a:rPr b="0" lang="en-US" sz="1450" spc="-1" strike="noStrike">
                <a:solidFill>
                  <a:srgbClr val="8ea6bc"/>
                </a:solidFill>
                <a:latin typeface="Calibri"/>
                <a:ea typeface="Calibri"/>
              </a:rPr>
              <a:t>Jury:  </a:t>
            </a:r>
            <a:r>
              <a:rPr b="1" lang="en-US" sz="1450" spc="-1" strike="noStrike">
                <a:solidFill>
                  <a:srgbClr val="ffffff"/>
                </a:solidFill>
                <a:latin typeface="Calibri"/>
                <a:ea typeface="Calibri"/>
              </a:rPr>
              <a:t>Prof. AKROUM Hamza (President)</a:t>
            </a:r>
            <a:endParaRPr b="0" lang="en-US" sz="1450" spc="-1" strike="noStrike">
              <a:solidFill>
                <a:srgbClr val="ffffff"/>
              </a:solidFill>
              <a:latin typeface="Arial"/>
            </a:endParaRPr>
          </a:p>
          <a:p>
            <a:pPr defTabSz="914400">
              <a:lnSpc>
                <a:spcPct val="115000"/>
              </a:lnSpc>
              <a:tabLst>
                <a:tab algn="l" pos="0"/>
              </a:tabLst>
            </a:pPr>
            <a:r>
              <a:rPr b="1" lang="en-US" sz="1450" spc="-1" strike="noStrike">
                <a:solidFill>
                  <a:srgbClr val="ffffff"/>
                </a:solidFill>
                <a:latin typeface="Calibri"/>
                <a:ea typeface="Calibri"/>
              </a:rPr>
              <a:t>          </a:t>
            </a:r>
            <a:r>
              <a:rPr b="1" lang="en-US" sz="1450" spc="-1" strike="noStrike">
                <a:solidFill>
                  <a:srgbClr val="ffffff"/>
                </a:solidFill>
                <a:latin typeface="Calibri"/>
                <a:ea typeface="Calibri"/>
              </a:rPr>
              <a:t>Mrs. MILOUDI Lalia (Examiner)</a:t>
            </a:r>
            <a:endParaRPr b="0" lang="en-US" sz="1450" spc="-1" strike="noStrike">
              <a:solidFill>
                <a:srgbClr val="ffffff"/>
              </a:solidFill>
              <a:latin typeface="Arial"/>
            </a:endParaRPr>
          </a:p>
          <a:p>
            <a:pPr defTabSz="914400">
              <a:lnSpc>
                <a:spcPct val="115000"/>
              </a:lnSpc>
              <a:tabLst>
                <a:tab algn="l" pos="0"/>
              </a:tabLst>
            </a:pPr>
            <a:endParaRPr b="0" lang="en-US" sz="1450" spc="-1" strike="noStrike">
              <a:solidFill>
                <a:srgbClr val="ffffff"/>
              </a:solidFill>
              <a:latin typeface="Arial"/>
            </a:endParaRPr>
          </a:p>
          <a:p>
            <a:pPr defTabSz="914400">
              <a:lnSpc>
                <a:spcPct val="115000"/>
              </a:lnSpc>
              <a:tabLst>
                <a:tab algn="l" pos="0"/>
              </a:tabLst>
            </a:pPr>
            <a:r>
              <a:rPr b="0" lang="en-US" sz="1250" spc="-1" strike="noStrike">
                <a:solidFill>
                  <a:srgbClr val="8ea6bc"/>
                </a:solidFill>
                <a:latin typeface="Calibri"/>
                <a:ea typeface="Calibri"/>
              </a:rPr>
              <a:t>July 4, 2026</a:t>
            </a:r>
            <a:endParaRPr b="0" lang="en-US" sz="1250" spc="-1" strike="noStrike">
              <a:solidFill>
                <a:srgbClr val="ffffff"/>
              </a:solidFill>
              <a:latin typeface="Arial"/>
            </a:endParaRPr>
          </a:p>
        </p:txBody>
      </p:sp>
      <p:sp>
        <p:nvSpPr>
          <p:cNvPr id="17" name="Text 9"/>
          <p:cNvSpPr/>
          <p:nvPr/>
        </p:nvSpPr>
        <p:spPr>
          <a:xfrm>
            <a:off x="11338560" y="6400800"/>
            <a:ext cx="456480" cy="291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050" spc="-1" strike="noStrike">
                <a:solidFill>
                  <a:srgbClr val="8ea6bc"/>
                </a:solidFill>
                <a:latin typeface="Calibri"/>
                <a:ea typeface="Calibri"/>
              </a:rPr>
              <a:t>1</a:t>
            </a:r>
            <a:endParaRPr b="0" lang="en-US" sz="1050" spc="-1" strike="noStrike">
              <a:solidFill>
                <a:srgbClr val="ffffff"/>
              </a:solidFill>
              <a:latin typeface="Arial"/>
            </a:endParaRPr>
          </a:p>
        </p:txBody>
      </p:sp>
      <p:pic>
        <p:nvPicPr>
          <p:cNvPr id="18" name="" descr=""/>
          <p:cNvPicPr/>
          <p:nvPr/>
        </p:nvPicPr>
        <p:blipFill>
          <a:blip r:embed="rId1"/>
          <a:stretch/>
        </p:blipFill>
        <p:spPr>
          <a:xfrm>
            <a:off x="8915400" y="457200"/>
            <a:ext cx="1703880" cy="1208160"/>
          </a:xfrm>
          <a:prstGeom prst="rect">
            <a:avLst/>
          </a:prstGeom>
          <a:ln w="0">
            <a:noFill/>
          </a:ln>
        </p:spPr>
      </p:pic>
      <p:pic>
        <p:nvPicPr>
          <p:cNvPr id="19" name="" descr=""/>
          <p:cNvPicPr/>
          <p:nvPr/>
        </p:nvPicPr>
        <p:blipFill>
          <a:blip r:embed="rId2"/>
          <a:stretch/>
        </p:blipFill>
        <p:spPr>
          <a:xfrm>
            <a:off x="640080" y="685800"/>
            <a:ext cx="1188720" cy="122652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 name="Text 0"/>
          <p:cNvSpPr/>
          <p:nvPr/>
        </p:nvSpPr>
        <p:spPr>
          <a:xfrm>
            <a:off x="11338560" y="6400800"/>
            <a:ext cx="456480" cy="291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050" spc="-1" strike="noStrike">
                <a:solidFill>
                  <a:srgbClr val="6b7c8f"/>
                </a:solidFill>
                <a:latin typeface="Calibri"/>
                <a:ea typeface="Calibri"/>
              </a:rPr>
              <a:t>2</a:t>
            </a:r>
            <a:endParaRPr b="0" lang="en-US" sz="1050" spc="-1" strike="noStrike">
              <a:solidFill>
                <a:srgbClr val="000000"/>
              </a:solidFill>
              <a:latin typeface="Arial"/>
            </a:endParaRPr>
          </a:p>
        </p:txBody>
      </p:sp>
      <p:sp>
        <p:nvSpPr>
          <p:cNvPr id="21" name="Text 1"/>
          <p:cNvSpPr/>
          <p:nvPr/>
        </p:nvSpPr>
        <p:spPr>
          <a:xfrm>
            <a:off x="548640" y="384120"/>
            <a:ext cx="109720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296" strike="noStrike">
                <a:solidFill>
                  <a:srgbClr val="1c7293"/>
                </a:solidFill>
                <a:latin typeface="Calibri"/>
                <a:ea typeface="Calibri"/>
              </a:rPr>
              <a:t>OUTLINE</a:t>
            </a:r>
            <a:endParaRPr b="0" lang="en-US" sz="1200" spc="-1" strike="noStrike">
              <a:solidFill>
                <a:srgbClr val="000000"/>
              </a:solidFill>
              <a:latin typeface="Arial"/>
            </a:endParaRPr>
          </a:p>
        </p:txBody>
      </p:sp>
      <p:sp>
        <p:nvSpPr>
          <p:cNvPr id="22" name="Text 2"/>
          <p:cNvSpPr/>
          <p:nvPr/>
        </p:nvSpPr>
        <p:spPr>
          <a:xfrm>
            <a:off x="548640" y="658440"/>
            <a:ext cx="11063520" cy="77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900" spc="-1" strike="noStrike">
                <a:solidFill>
                  <a:srgbClr val="0e2233"/>
                </a:solidFill>
                <a:latin typeface="Cambria"/>
                <a:ea typeface="Cambria"/>
              </a:rPr>
              <a:t>What we will cover</a:t>
            </a:r>
            <a:endParaRPr b="0" lang="en-US" sz="2900" spc="-1" strike="noStrike">
              <a:solidFill>
                <a:srgbClr val="000000"/>
              </a:solidFill>
              <a:latin typeface="Arial"/>
            </a:endParaRPr>
          </a:p>
        </p:txBody>
      </p:sp>
      <p:sp>
        <p:nvSpPr>
          <p:cNvPr id="23" name="Shape 3"/>
          <p:cNvSpPr/>
          <p:nvPr/>
        </p:nvSpPr>
        <p:spPr>
          <a:xfrm>
            <a:off x="548640" y="1783080"/>
            <a:ext cx="7954560" cy="932040"/>
          </a:xfrm>
          <a:prstGeom prst="roundRect">
            <a:avLst>
              <a:gd name="adj" fmla="val 7843"/>
            </a:avLst>
          </a:prstGeom>
          <a:solidFill>
            <a:srgbClr val="eef3f7"/>
          </a:solidFill>
          <a:ln w="12700">
            <a:solidFill>
              <a:srgbClr val="dce5ec"/>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4" name="Shape 4"/>
          <p:cNvSpPr/>
          <p:nvPr/>
        </p:nvSpPr>
        <p:spPr>
          <a:xfrm>
            <a:off x="548640" y="1783080"/>
            <a:ext cx="90720" cy="932040"/>
          </a:xfrm>
          <a:prstGeom prst="rect">
            <a:avLst/>
          </a:prstGeom>
          <a:solidFill>
            <a:srgbClr val="1c729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 name="Text 5"/>
          <p:cNvSpPr/>
          <p:nvPr/>
        </p:nvSpPr>
        <p:spPr>
          <a:xfrm>
            <a:off x="713160" y="1783080"/>
            <a:ext cx="867960" cy="932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3000" spc="-1" strike="noStrike">
                <a:solidFill>
                  <a:srgbClr val="1c7293"/>
                </a:solidFill>
                <a:latin typeface="Cambria"/>
                <a:ea typeface="Cambria"/>
              </a:rPr>
              <a:t>I</a:t>
            </a:r>
            <a:endParaRPr b="0" lang="en-US" sz="3000" spc="-1" strike="noStrike">
              <a:solidFill>
                <a:srgbClr val="000000"/>
              </a:solidFill>
              <a:latin typeface="Arial"/>
            </a:endParaRPr>
          </a:p>
        </p:txBody>
      </p:sp>
      <p:sp>
        <p:nvSpPr>
          <p:cNvPr id="26" name="Text 6"/>
          <p:cNvSpPr/>
          <p:nvPr/>
        </p:nvSpPr>
        <p:spPr>
          <a:xfrm>
            <a:off x="1691640" y="1874520"/>
            <a:ext cx="5805720" cy="77652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1650" spc="-1" strike="noStrike">
                <a:solidFill>
                  <a:srgbClr val="1a2733"/>
                </a:solidFill>
                <a:latin typeface="Calibri"/>
                <a:ea typeface="Calibri"/>
              </a:rPr>
              <a:t>Context, problem &amp; objectives</a:t>
            </a:r>
            <a:endParaRPr b="0" lang="en-US" sz="1650" spc="-1" strike="noStrike">
              <a:solidFill>
                <a:srgbClr val="000000"/>
              </a:solidFill>
              <a:latin typeface="Arial"/>
            </a:endParaRPr>
          </a:p>
          <a:p>
            <a:pPr defTabSz="914400">
              <a:lnSpc>
                <a:spcPct val="104000"/>
              </a:lnSpc>
              <a:tabLst>
                <a:tab algn="l" pos="0"/>
              </a:tabLst>
            </a:pPr>
            <a:endParaRPr b="0" lang="en-US" sz="1650" spc="-1" strike="noStrike">
              <a:solidFill>
                <a:srgbClr val="000000"/>
              </a:solidFill>
              <a:latin typeface="Arial"/>
            </a:endParaRPr>
          </a:p>
          <a:p>
            <a:pPr defTabSz="914400">
              <a:lnSpc>
                <a:spcPct val="104000"/>
              </a:lnSpc>
              <a:tabLst>
                <a:tab algn="l" pos="0"/>
              </a:tabLst>
            </a:pPr>
            <a:r>
              <a:rPr b="0" lang="en-US" sz="1250" spc="-1" strike="noStrike">
                <a:solidFill>
                  <a:srgbClr val="6b7c8f"/>
                </a:solidFill>
                <a:latin typeface="Calibri"/>
                <a:ea typeface="Calibri"/>
              </a:rPr>
              <a:t>What green hydrogen is, why dispatch is a control problem, what we deliver.</a:t>
            </a:r>
            <a:endParaRPr b="0" lang="en-US" sz="1250" spc="-1" strike="noStrike">
              <a:solidFill>
                <a:srgbClr val="000000"/>
              </a:solidFill>
              <a:latin typeface="Arial"/>
            </a:endParaRPr>
          </a:p>
        </p:txBody>
      </p:sp>
      <p:sp>
        <p:nvSpPr>
          <p:cNvPr id="27" name="Text 7"/>
          <p:cNvSpPr/>
          <p:nvPr/>
        </p:nvSpPr>
        <p:spPr>
          <a:xfrm>
            <a:off x="7543800" y="1783080"/>
            <a:ext cx="822240" cy="9320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250" spc="-1" strike="noStrike">
                <a:solidFill>
                  <a:srgbClr val="1c7293"/>
                </a:solidFill>
                <a:latin typeface="Calibri"/>
                <a:ea typeface="Calibri"/>
              </a:rPr>
              <a:t>≈ </a:t>
            </a:r>
            <a:r>
              <a:rPr b="1" lang="en-US" sz="1250" spc="-1" strike="noStrike">
                <a:solidFill>
                  <a:srgbClr val="1c7293"/>
                </a:solidFill>
                <a:latin typeface="Calibri"/>
                <a:ea typeface="Calibri"/>
              </a:rPr>
              <a:t>4 min</a:t>
            </a:r>
            <a:endParaRPr b="0" lang="en-US" sz="1250" spc="-1" strike="noStrike">
              <a:solidFill>
                <a:srgbClr val="000000"/>
              </a:solidFill>
              <a:latin typeface="Arial"/>
            </a:endParaRPr>
          </a:p>
        </p:txBody>
      </p:sp>
      <p:sp>
        <p:nvSpPr>
          <p:cNvPr id="28" name="Shape 8"/>
          <p:cNvSpPr/>
          <p:nvPr/>
        </p:nvSpPr>
        <p:spPr>
          <a:xfrm>
            <a:off x="548640" y="2862000"/>
            <a:ext cx="7954560" cy="932040"/>
          </a:xfrm>
          <a:prstGeom prst="roundRect">
            <a:avLst>
              <a:gd name="adj" fmla="val 7843"/>
            </a:avLst>
          </a:prstGeom>
          <a:solidFill>
            <a:srgbClr val="eef3f7"/>
          </a:solidFill>
          <a:ln w="12700">
            <a:solidFill>
              <a:srgbClr val="dce5ec"/>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9" name="Shape 9"/>
          <p:cNvSpPr/>
          <p:nvPr/>
        </p:nvSpPr>
        <p:spPr>
          <a:xfrm>
            <a:off x="548640" y="2862000"/>
            <a:ext cx="90720" cy="932040"/>
          </a:xfrm>
          <a:prstGeom prst="rect">
            <a:avLst/>
          </a:prstGeom>
          <a:solidFill>
            <a:srgbClr val="f4a62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0" name="Text 10"/>
          <p:cNvSpPr/>
          <p:nvPr/>
        </p:nvSpPr>
        <p:spPr>
          <a:xfrm>
            <a:off x="713160" y="2862000"/>
            <a:ext cx="867960" cy="932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3000" spc="-1" strike="noStrike">
                <a:solidFill>
                  <a:srgbClr val="f4a623"/>
                </a:solidFill>
                <a:latin typeface="Cambria"/>
                <a:ea typeface="Cambria"/>
              </a:rPr>
              <a:t>II</a:t>
            </a:r>
            <a:endParaRPr b="0" lang="en-US" sz="3000" spc="-1" strike="noStrike">
              <a:solidFill>
                <a:srgbClr val="000000"/>
              </a:solidFill>
              <a:latin typeface="Arial"/>
            </a:endParaRPr>
          </a:p>
        </p:txBody>
      </p:sp>
      <p:sp>
        <p:nvSpPr>
          <p:cNvPr id="31" name="Text 11"/>
          <p:cNvSpPr/>
          <p:nvPr/>
        </p:nvSpPr>
        <p:spPr>
          <a:xfrm>
            <a:off x="1691640" y="2953440"/>
            <a:ext cx="5805720" cy="77652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1650" spc="-1" strike="noStrike">
                <a:solidFill>
                  <a:srgbClr val="1a2733"/>
                </a:solidFill>
                <a:latin typeface="Calibri"/>
                <a:ea typeface="Calibri"/>
              </a:rPr>
              <a:t>System &amp; methodology</a:t>
            </a:r>
            <a:endParaRPr b="0" lang="en-US" sz="1650" spc="-1" strike="noStrike">
              <a:solidFill>
                <a:srgbClr val="000000"/>
              </a:solidFill>
              <a:latin typeface="Arial"/>
            </a:endParaRPr>
          </a:p>
          <a:p>
            <a:pPr defTabSz="914400">
              <a:lnSpc>
                <a:spcPct val="104000"/>
              </a:lnSpc>
              <a:tabLst>
                <a:tab algn="l" pos="0"/>
              </a:tabLst>
            </a:pPr>
            <a:endParaRPr b="0" lang="en-US" sz="1650" spc="-1" strike="noStrike">
              <a:solidFill>
                <a:srgbClr val="000000"/>
              </a:solidFill>
              <a:latin typeface="Arial"/>
            </a:endParaRPr>
          </a:p>
          <a:p>
            <a:pPr defTabSz="914400">
              <a:lnSpc>
                <a:spcPct val="104000"/>
              </a:lnSpc>
              <a:tabLst>
                <a:tab algn="l" pos="0"/>
              </a:tabLst>
            </a:pPr>
            <a:r>
              <a:rPr b="0" lang="en-US" sz="1250" spc="-1" strike="noStrike">
                <a:solidFill>
                  <a:srgbClr val="6b7c8f"/>
                </a:solidFill>
                <a:latin typeface="Calibri"/>
                <a:ea typeface="Calibri"/>
              </a:rPr>
              <a:t>A real-data plant model validated against the industry reference; then the optimiser and the controller.</a:t>
            </a:r>
            <a:endParaRPr b="0" lang="en-US" sz="1250" spc="-1" strike="noStrike">
              <a:solidFill>
                <a:srgbClr val="000000"/>
              </a:solidFill>
              <a:latin typeface="Arial"/>
            </a:endParaRPr>
          </a:p>
        </p:txBody>
      </p:sp>
      <p:sp>
        <p:nvSpPr>
          <p:cNvPr id="32" name="Text 12"/>
          <p:cNvSpPr/>
          <p:nvPr/>
        </p:nvSpPr>
        <p:spPr>
          <a:xfrm>
            <a:off x="7543800" y="2862000"/>
            <a:ext cx="822240" cy="9320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250" spc="-1" strike="noStrike">
                <a:solidFill>
                  <a:srgbClr val="f4a623"/>
                </a:solidFill>
                <a:latin typeface="Calibri"/>
                <a:ea typeface="Calibri"/>
              </a:rPr>
              <a:t>≈ </a:t>
            </a:r>
            <a:r>
              <a:rPr b="1" lang="en-US" sz="1250" spc="-1" strike="noStrike">
                <a:solidFill>
                  <a:srgbClr val="f4a623"/>
                </a:solidFill>
                <a:latin typeface="Calibri"/>
                <a:ea typeface="Calibri"/>
              </a:rPr>
              <a:t>8 min</a:t>
            </a:r>
            <a:endParaRPr b="0" lang="en-US" sz="1250" spc="-1" strike="noStrike">
              <a:solidFill>
                <a:srgbClr val="000000"/>
              </a:solidFill>
              <a:latin typeface="Arial"/>
            </a:endParaRPr>
          </a:p>
        </p:txBody>
      </p:sp>
      <p:sp>
        <p:nvSpPr>
          <p:cNvPr id="33" name="Shape 13"/>
          <p:cNvSpPr/>
          <p:nvPr/>
        </p:nvSpPr>
        <p:spPr>
          <a:xfrm>
            <a:off x="548640" y="3940920"/>
            <a:ext cx="7954560" cy="932040"/>
          </a:xfrm>
          <a:prstGeom prst="roundRect">
            <a:avLst>
              <a:gd name="adj" fmla="val 7843"/>
            </a:avLst>
          </a:prstGeom>
          <a:solidFill>
            <a:srgbClr val="eef3f7"/>
          </a:solidFill>
          <a:ln w="12700">
            <a:solidFill>
              <a:srgbClr val="dce5ec"/>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4" name="Shape 14"/>
          <p:cNvSpPr/>
          <p:nvPr/>
        </p:nvSpPr>
        <p:spPr>
          <a:xfrm>
            <a:off x="548640" y="3940920"/>
            <a:ext cx="90720" cy="932040"/>
          </a:xfrm>
          <a:prstGeom prst="rect">
            <a:avLst/>
          </a:prstGeom>
          <a:solidFill>
            <a:srgbClr val="2a9d8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5" name="Text 15"/>
          <p:cNvSpPr/>
          <p:nvPr/>
        </p:nvSpPr>
        <p:spPr>
          <a:xfrm>
            <a:off x="713160" y="3940920"/>
            <a:ext cx="867960" cy="932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3000" spc="-1" strike="noStrike">
                <a:solidFill>
                  <a:srgbClr val="2a9d8f"/>
                </a:solidFill>
                <a:latin typeface="Cambria"/>
                <a:ea typeface="Cambria"/>
              </a:rPr>
              <a:t>III</a:t>
            </a:r>
            <a:endParaRPr b="0" lang="en-US" sz="3000" spc="-1" strike="noStrike">
              <a:solidFill>
                <a:srgbClr val="000000"/>
              </a:solidFill>
              <a:latin typeface="Arial"/>
            </a:endParaRPr>
          </a:p>
        </p:txBody>
      </p:sp>
      <p:sp>
        <p:nvSpPr>
          <p:cNvPr id="36" name="Text 16"/>
          <p:cNvSpPr/>
          <p:nvPr/>
        </p:nvSpPr>
        <p:spPr>
          <a:xfrm>
            <a:off x="1691640" y="4032360"/>
            <a:ext cx="5805720" cy="77652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1650" spc="-1" strike="noStrike">
                <a:solidFill>
                  <a:srgbClr val="1a2733"/>
                </a:solidFill>
                <a:latin typeface="Calibri"/>
                <a:ea typeface="Calibri"/>
              </a:rPr>
              <a:t>Results</a:t>
            </a:r>
            <a:endParaRPr b="0" lang="en-US" sz="1650" spc="-1" strike="noStrike">
              <a:solidFill>
                <a:srgbClr val="000000"/>
              </a:solidFill>
              <a:latin typeface="Arial"/>
            </a:endParaRPr>
          </a:p>
          <a:p>
            <a:pPr defTabSz="914400">
              <a:lnSpc>
                <a:spcPct val="104000"/>
              </a:lnSpc>
              <a:tabLst>
                <a:tab algn="l" pos="0"/>
              </a:tabLst>
            </a:pPr>
            <a:endParaRPr b="0" lang="en-US" sz="1650" spc="-1" strike="noStrike">
              <a:solidFill>
                <a:srgbClr val="000000"/>
              </a:solidFill>
              <a:latin typeface="Arial"/>
            </a:endParaRPr>
          </a:p>
          <a:p>
            <a:pPr defTabSz="914400">
              <a:lnSpc>
                <a:spcPct val="104000"/>
              </a:lnSpc>
              <a:tabLst>
                <a:tab algn="l" pos="0"/>
              </a:tabLst>
            </a:pPr>
            <a:r>
              <a:rPr b="0" lang="en-US" sz="1250" spc="-1" strike="noStrike">
                <a:solidFill>
                  <a:srgbClr val="6b7c8f"/>
                </a:solidFill>
                <a:latin typeface="Calibri"/>
                <a:ea typeface="Calibri"/>
              </a:rPr>
              <a:t>Daily dispatch, value vs traditional operation, MPC performance, full-year &amp; storage.</a:t>
            </a:r>
            <a:endParaRPr b="0" lang="en-US" sz="1250" spc="-1" strike="noStrike">
              <a:solidFill>
                <a:srgbClr val="000000"/>
              </a:solidFill>
              <a:latin typeface="Arial"/>
            </a:endParaRPr>
          </a:p>
        </p:txBody>
      </p:sp>
      <p:sp>
        <p:nvSpPr>
          <p:cNvPr id="37" name="Text 17"/>
          <p:cNvSpPr/>
          <p:nvPr/>
        </p:nvSpPr>
        <p:spPr>
          <a:xfrm>
            <a:off x="7543800" y="3940920"/>
            <a:ext cx="822240" cy="9320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250" spc="-1" strike="noStrike">
                <a:solidFill>
                  <a:srgbClr val="2a9d8f"/>
                </a:solidFill>
                <a:latin typeface="Calibri"/>
                <a:ea typeface="Calibri"/>
              </a:rPr>
              <a:t>≈ </a:t>
            </a:r>
            <a:r>
              <a:rPr b="1" lang="en-US" sz="1250" spc="-1" strike="noStrike">
                <a:solidFill>
                  <a:srgbClr val="2a9d8f"/>
                </a:solidFill>
                <a:latin typeface="Calibri"/>
                <a:ea typeface="Calibri"/>
              </a:rPr>
              <a:t>4 min</a:t>
            </a:r>
            <a:endParaRPr b="0" lang="en-US" sz="1250" spc="-1" strike="noStrike">
              <a:solidFill>
                <a:srgbClr val="000000"/>
              </a:solidFill>
              <a:latin typeface="Arial"/>
            </a:endParaRPr>
          </a:p>
        </p:txBody>
      </p:sp>
      <p:sp>
        <p:nvSpPr>
          <p:cNvPr id="38" name="Shape 18"/>
          <p:cNvSpPr/>
          <p:nvPr/>
        </p:nvSpPr>
        <p:spPr>
          <a:xfrm>
            <a:off x="548640" y="5020200"/>
            <a:ext cx="7954560" cy="932040"/>
          </a:xfrm>
          <a:prstGeom prst="roundRect">
            <a:avLst>
              <a:gd name="adj" fmla="val 7843"/>
            </a:avLst>
          </a:prstGeom>
          <a:solidFill>
            <a:srgbClr val="eef3f7"/>
          </a:solidFill>
          <a:ln w="12700">
            <a:solidFill>
              <a:srgbClr val="dce5ec"/>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9" name="Shape 19"/>
          <p:cNvSpPr/>
          <p:nvPr/>
        </p:nvSpPr>
        <p:spPr>
          <a:xfrm>
            <a:off x="548640" y="5020200"/>
            <a:ext cx="90720" cy="932040"/>
          </a:xfrm>
          <a:prstGeom prst="rect">
            <a:avLst/>
          </a:prstGeom>
          <a:solidFill>
            <a:srgbClr val="e2643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0" name="Text 20"/>
          <p:cNvSpPr/>
          <p:nvPr/>
        </p:nvSpPr>
        <p:spPr>
          <a:xfrm>
            <a:off x="713160" y="5020200"/>
            <a:ext cx="867960" cy="932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3000" spc="-1" strike="noStrike">
                <a:solidFill>
                  <a:srgbClr val="e2643b"/>
                </a:solidFill>
                <a:latin typeface="Cambria"/>
                <a:ea typeface="Cambria"/>
              </a:rPr>
              <a:t>IV</a:t>
            </a:r>
            <a:endParaRPr b="0" lang="en-US" sz="3000" spc="-1" strike="noStrike">
              <a:solidFill>
                <a:srgbClr val="000000"/>
              </a:solidFill>
              <a:latin typeface="Arial"/>
            </a:endParaRPr>
          </a:p>
        </p:txBody>
      </p:sp>
      <p:sp>
        <p:nvSpPr>
          <p:cNvPr id="41" name="Text 21"/>
          <p:cNvSpPr/>
          <p:nvPr/>
        </p:nvSpPr>
        <p:spPr>
          <a:xfrm>
            <a:off x="1691640" y="5111640"/>
            <a:ext cx="5805720" cy="77652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1650" spc="-1" strike="noStrike">
                <a:solidFill>
                  <a:srgbClr val="1a2733"/>
                </a:solidFill>
                <a:latin typeface="Calibri"/>
                <a:ea typeface="Calibri"/>
              </a:rPr>
              <a:t>Deliverables, demo &amp; conclusion</a:t>
            </a:r>
            <a:endParaRPr b="0" lang="en-US" sz="1650" spc="-1" strike="noStrike">
              <a:solidFill>
                <a:srgbClr val="000000"/>
              </a:solidFill>
              <a:latin typeface="Arial"/>
            </a:endParaRPr>
          </a:p>
          <a:p>
            <a:pPr defTabSz="914400">
              <a:lnSpc>
                <a:spcPct val="104000"/>
              </a:lnSpc>
              <a:tabLst>
                <a:tab algn="l" pos="0"/>
              </a:tabLst>
            </a:pPr>
            <a:endParaRPr b="0" lang="en-US" sz="1650" spc="-1" strike="noStrike">
              <a:solidFill>
                <a:srgbClr val="000000"/>
              </a:solidFill>
              <a:latin typeface="Arial"/>
            </a:endParaRPr>
          </a:p>
          <a:p>
            <a:pPr defTabSz="914400">
              <a:lnSpc>
                <a:spcPct val="104000"/>
              </a:lnSpc>
              <a:tabLst>
                <a:tab algn="l" pos="0"/>
              </a:tabLst>
            </a:pPr>
            <a:r>
              <a:rPr b="0" lang="en-US" sz="1250" spc="-1" strike="noStrike">
                <a:solidFill>
                  <a:srgbClr val="6b7c8f"/>
                </a:solidFill>
                <a:latin typeface="Calibri"/>
                <a:ea typeface="Calibri"/>
              </a:rPr>
              <a:t>The live dashboard, contributions and future work.</a:t>
            </a:r>
            <a:endParaRPr b="0" lang="en-US" sz="1250" spc="-1" strike="noStrike">
              <a:solidFill>
                <a:srgbClr val="000000"/>
              </a:solidFill>
              <a:latin typeface="Arial"/>
            </a:endParaRPr>
          </a:p>
        </p:txBody>
      </p:sp>
      <p:sp>
        <p:nvSpPr>
          <p:cNvPr id="42" name="Text 22"/>
          <p:cNvSpPr/>
          <p:nvPr/>
        </p:nvSpPr>
        <p:spPr>
          <a:xfrm>
            <a:off x="7543800" y="5020200"/>
            <a:ext cx="822240" cy="9320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250" spc="-1" strike="noStrike">
                <a:solidFill>
                  <a:srgbClr val="e2643b"/>
                </a:solidFill>
                <a:latin typeface="Calibri"/>
                <a:ea typeface="Calibri"/>
              </a:rPr>
              <a:t>≈ </a:t>
            </a:r>
            <a:r>
              <a:rPr b="1" lang="en-US" sz="1250" spc="-1" strike="noStrike">
                <a:solidFill>
                  <a:srgbClr val="e2643b"/>
                </a:solidFill>
                <a:latin typeface="Calibri"/>
                <a:ea typeface="Calibri"/>
              </a:rPr>
              <a:t>3 min</a:t>
            </a:r>
            <a:endParaRPr b="0" lang="en-US" sz="1250" spc="-1" strike="noStrike">
              <a:solidFill>
                <a:srgbClr val="000000"/>
              </a:solidFill>
              <a:latin typeface="Arial"/>
            </a:endParaRPr>
          </a:p>
        </p:txBody>
      </p:sp>
      <p:sp>
        <p:nvSpPr>
          <p:cNvPr id="43" name="Shape 23"/>
          <p:cNvSpPr/>
          <p:nvPr/>
        </p:nvSpPr>
        <p:spPr>
          <a:xfrm>
            <a:off x="8778240" y="1783080"/>
            <a:ext cx="2879640" cy="4050000"/>
          </a:xfrm>
          <a:prstGeom prst="roundRect">
            <a:avLst>
              <a:gd name="adj" fmla="val 3175"/>
            </a:avLst>
          </a:prstGeom>
          <a:solidFill>
            <a:srgbClr val="0e2233"/>
          </a:solidFill>
          <a:ln w="0">
            <a:noFill/>
          </a:ln>
          <a:effectLst>
            <a:outerShdw algn="bl" blurRad="114480" dir="5400000" dist="38160" kx="0" ky="0" rotWithShape="0" sx="100000" sy="100000">
              <a:srgbClr val="0e2233">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4" name="Text 24"/>
          <p:cNvSpPr/>
          <p:nvPr/>
        </p:nvSpPr>
        <p:spPr>
          <a:xfrm>
            <a:off x="8961120" y="2011680"/>
            <a:ext cx="255960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97" strike="noStrike">
                <a:solidFill>
                  <a:srgbClr val="f4a623"/>
                </a:solidFill>
                <a:latin typeface="Calibri"/>
                <a:ea typeface="Calibri"/>
              </a:rPr>
              <a:t>WHO PRESENTS</a:t>
            </a:r>
            <a:endParaRPr b="0" lang="en-US" sz="1100" spc="-1" strike="noStrike">
              <a:solidFill>
                <a:srgbClr val="000000"/>
              </a:solidFill>
              <a:latin typeface="Arial"/>
            </a:endParaRPr>
          </a:p>
        </p:txBody>
      </p:sp>
      <p:sp>
        <p:nvSpPr>
          <p:cNvPr id="45" name="Text 25"/>
          <p:cNvSpPr/>
          <p:nvPr/>
        </p:nvSpPr>
        <p:spPr>
          <a:xfrm>
            <a:off x="8961120" y="2423160"/>
            <a:ext cx="2559600" cy="278820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400" spc="-1" strike="noStrike">
                <a:solidFill>
                  <a:srgbClr val="ffffff"/>
                </a:solidFill>
                <a:latin typeface="Calibri"/>
                <a:ea typeface="Calibri"/>
              </a:rPr>
              <a:t>BOUBIDI Youcef</a:t>
            </a:r>
            <a:endParaRPr b="0" lang="en-US" sz="1400" spc="-1" strike="noStrike">
              <a:solidFill>
                <a:srgbClr val="000000"/>
              </a:solidFill>
              <a:latin typeface="Arial"/>
            </a:endParaRPr>
          </a:p>
          <a:p>
            <a:pPr defTabSz="914400">
              <a:lnSpc>
                <a:spcPct val="112000"/>
              </a:lnSpc>
              <a:tabLst>
                <a:tab algn="l" pos="0"/>
              </a:tabLst>
            </a:pPr>
            <a:endParaRPr b="0" lang="en-US" sz="1400" spc="-1" strike="noStrike">
              <a:solidFill>
                <a:srgbClr val="000000"/>
              </a:solidFill>
              <a:latin typeface="Arial"/>
            </a:endParaRPr>
          </a:p>
          <a:p>
            <a:pPr defTabSz="914400">
              <a:lnSpc>
                <a:spcPct val="112000"/>
              </a:lnSpc>
              <a:tabLst>
                <a:tab algn="l" pos="0"/>
              </a:tabLst>
            </a:pPr>
            <a:r>
              <a:rPr b="0" lang="en-US" sz="1250" spc="-1" strike="noStrike">
                <a:solidFill>
                  <a:srgbClr val="aec2d4"/>
                </a:solidFill>
                <a:latin typeface="Calibri"/>
                <a:ea typeface="Calibri"/>
              </a:rPr>
              <a:t>The plant &amp; the problem — context, real data, validated model, control formulation</a:t>
            </a:r>
            <a:endParaRPr b="0" lang="en-US" sz="1250" spc="-1" strike="noStrike">
              <a:solidFill>
                <a:srgbClr val="000000"/>
              </a:solidFill>
              <a:latin typeface="Arial"/>
            </a:endParaRPr>
          </a:p>
          <a:p>
            <a:pPr defTabSz="914400">
              <a:lnSpc>
                <a:spcPct val="112000"/>
              </a:lnSpc>
              <a:tabLst>
                <a:tab algn="l" pos="0"/>
              </a:tabLst>
            </a:pPr>
            <a:endParaRPr b="0" lang="en-US" sz="1250" spc="-1" strike="noStrike">
              <a:solidFill>
                <a:srgbClr val="000000"/>
              </a:solidFill>
              <a:latin typeface="Arial"/>
            </a:endParaRPr>
          </a:p>
          <a:p>
            <a:pPr defTabSz="914400">
              <a:lnSpc>
                <a:spcPct val="112000"/>
              </a:lnSpc>
              <a:tabLst>
                <a:tab algn="l" pos="0"/>
              </a:tabLst>
            </a:pPr>
            <a:endParaRPr b="0" lang="en-US" sz="1250" spc="-1" strike="noStrike">
              <a:solidFill>
                <a:srgbClr val="000000"/>
              </a:solidFill>
              <a:latin typeface="Arial"/>
            </a:endParaRPr>
          </a:p>
          <a:p>
            <a:pPr defTabSz="914400">
              <a:lnSpc>
                <a:spcPct val="112000"/>
              </a:lnSpc>
              <a:tabLst>
                <a:tab algn="l" pos="0"/>
              </a:tabLst>
            </a:pPr>
            <a:r>
              <a:rPr b="1" lang="en-US" sz="1400" spc="-1" strike="noStrike">
                <a:solidFill>
                  <a:srgbClr val="ffffff"/>
                </a:solidFill>
                <a:latin typeface="Calibri"/>
                <a:ea typeface="Calibri"/>
              </a:rPr>
              <a:t>BOUDJADJA Mohamed Akrem</a:t>
            </a:r>
            <a:endParaRPr b="0" lang="en-US" sz="1400" spc="-1" strike="noStrike">
              <a:solidFill>
                <a:srgbClr val="000000"/>
              </a:solidFill>
              <a:latin typeface="Arial"/>
            </a:endParaRPr>
          </a:p>
          <a:p>
            <a:pPr defTabSz="914400">
              <a:lnSpc>
                <a:spcPct val="112000"/>
              </a:lnSpc>
              <a:tabLst>
                <a:tab algn="l" pos="0"/>
              </a:tabLst>
            </a:pPr>
            <a:endParaRPr b="0" lang="en-US" sz="1400" spc="-1" strike="noStrike">
              <a:solidFill>
                <a:srgbClr val="000000"/>
              </a:solidFill>
              <a:latin typeface="Arial"/>
            </a:endParaRPr>
          </a:p>
          <a:p>
            <a:pPr defTabSz="914400">
              <a:lnSpc>
                <a:spcPct val="112000"/>
              </a:lnSpc>
              <a:tabLst>
                <a:tab algn="l" pos="0"/>
              </a:tabLst>
            </a:pPr>
            <a:r>
              <a:rPr b="0" lang="en-US" sz="1250" spc="-1" strike="noStrike">
                <a:solidFill>
                  <a:srgbClr val="aec2d4"/>
                </a:solidFill>
                <a:latin typeface="Calibri"/>
                <a:ea typeface="Calibri"/>
              </a:rPr>
              <a:t>The control &amp; the payoff — PSO, MPC, results, live demo, conclusion</a:t>
            </a:r>
            <a:endParaRPr b="0" lang="en-US" sz="1250" spc="-1" strike="noStrike">
              <a:solidFill>
                <a:srgbClr val="000000"/>
              </a:solidFill>
              <a:latin typeface="Arial"/>
            </a:endParaRPr>
          </a:p>
        </p:txBody>
      </p:sp>
      <p:sp>
        <p:nvSpPr>
          <p:cNvPr id="46" name="Text 26"/>
          <p:cNvSpPr/>
          <p:nvPr/>
        </p:nvSpPr>
        <p:spPr>
          <a:xfrm>
            <a:off x="8961120" y="5349240"/>
            <a:ext cx="255960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i="1" lang="en-US" sz="1150" spc="-1" strike="noStrike">
                <a:solidFill>
                  <a:srgbClr val="f4a623"/>
                </a:solidFill>
                <a:latin typeface="Calibri"/>
                <a:ea typeface="Calibri"/>
              </a:rPr>
              <a:t>≈ </a:t>
            </a:r>
            <a:r>
              <a:rPr b="1" i="1" lang="en-US" sz="1150" spc="-1" strike="noStrike">
                <a:solidFill>
                  <a:srgbClr val="f4a623"/>
                </a:solidFill>
                <a:latin typeface="Calibri"/>
                <a:ea typeface="Calibri"/>
              </a:rPr>
              <a:t>20 minutes · then questions</a:t>
            </a:r>
            <a:endParaRPr b="0" lang="en-US" sz="1150" spc="-1" strike="noStrike">
              <a:solidFill>
                <a:srgbClr val="000000"/>
              </a:solidFill>
              <a:latin typeface="Arial"/>
            </a:endParaRPr>
          </a:p>
        </p:txBody>
      </p:sp>
      <p:sp>
        <p:nvSpPr>
          <p:cNvPr id="47" name="Text 27"/>
          <p:cNvSpPr/>
          <p:nvPr/>
        </p:nvSpPr>
        <p:spPr>
          <a:xfrm>
            <a:off x="548640" y="6437520"/>
            <a:ext cx="82288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900" spc="-1" strike="noStrike">
                <a:solidFill>
                  <a:srgbClr val="6b7c8f"/>
                </a:solidFill>
                <a:latin typeface="Calibri"/>
                <a:ea typeface="Calibri"/>
              </a:rPr>
              <a:t>Supervisory Dispatch Control · Solar–Grid–Electrolyzer H₂ Plant</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e2233"/>
        </a:solidFill>
      </p:bgPr>
    </p:bg>
    <p:spTree>
      <p:nvGrpSpPr>
        <p:cNvPr id="1" name=""/>
        <p:cNvGrpSpPr/>
        <p:nvPr/>
      </p:nvGrpSpPr>
      <p:grpSpPr>
        <a:xfrm>
          <a:off x="0" y="0"/>
          <a:ext cx="0" cy="0"/>
          <a:chOff x="0" y="0"/>
          <a:chExt cx="0" cy="0"/>
        </a:xfrm>
      </p:grpSpPr>
      <p:sp>
        <p:nvSpPr>
          <p:cNvPr id="48" name="Text 0"/>
          <p:cNvSpPr/>
          <p:nvPr/>
        </p:nvSpPr>
        <p:spPr>
          <a:xfrm>
            <a:off x="11338560" y="6400800"/>
            <a:ext cx="456480" cy="291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050" spc="-1" strike="noStrike">
                <a:solidFill>
                  <a:srgbClr val="8ea6bc"/>
                </a:solidFill>
                <a:latin typeface="Calibri"/>
                <a:ea typeface="Calibri"/>
              </a:rPr>
              <a:t>3</a:t>
            </a:r>
            <a:endParaRPr b="0" lang="en-US" sz="1050" spc="-1" strike="noStrike">
              <a:solidFill>
                <a:srgbClr val="ffffff"/>
              </a:solidFill>
              <a:latin typeface="Arial"/>
            </a:endParaRPr>
          </a:p>
        </p:txBody>
      </p:sp>
      <p:sp>
        <p:nvSpPr>
          <p:cNvPr id="49" name="Shape 1"/>
          <p:cNvSpPr/>
          <p:nvPr/>
        </p:nvSpPr>
        <p:spPr>
          <a:xfrm>
            <a:off x="9509760" y="-2194560"/>
            <a:ext cx="5485680" cy="5485680"/>
          </a:xfrm>
          <a:prstGeom prst="ellipse">
            <a:avLst/>
          </a:prstGeom>
          <a:solidFill>
            <a:srgbClr val="16344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0" name="Shape 2"/>
          <p:cNvSpPr/>
          <p:nvPr/>
        </p:nvSpPr>
        <p:spPr>
          <a:xfrm>
            <a:off x="10607040" y="4023360"/>
            <a:ext cx="4022640" cy="4022640"/>
          </a:xfrm>
          <a:prstGeom prst="ellipse">
            <a:avLst/>
          </a:prstGeom>
          <a:solidFill>
            <a:srgbClr val="12283c"/>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1" name="Text 3"/>
          <p:cNvSpPr/>
          <p:nvPr/>
        </p:nvSpPr>
        <p:spPr>
          <a:xfrm>
            <a:off x="640080" y="1554480"/>
            <a:ext cx="2742480" cy="146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800" spc="-1" strike="noStrike">
                <a:solidFill>
                  <a:srgbClr val="27516e"/>
                </a:solidFill>
                <a:latin typeface="Cambria"/>
                <a:ea typeface="Cambria"/>
              </a:rPr>
              <a:t>I</a:t>
            </a:r>
            <a:endParaRPr b="0" lang="en-US" sz="8800" spc="-1" strike="noStrike">
              <a:solidFill>
                <a:srgbClr val="ffffff"/>
              </a:solidFill>
              <a:latin typeface="Arial"/>
            </a:endParaRPr>
          </a:p>
        </p:txBody>
      </p:sp>
      <p:sp>
        <p:nvSpPr>
          <p:cNvPr id="52" name="Shape 4"/>
          <p:cNvSpPr/>
          <p:nvPr/>
        </p:nvSpPr>
        <p:spPr>
          <a:xfrm>
            <a:off x="713160" y="3063240"/>
            <a:ext cx="639360" cy="63360"/>
          </a:xfrm>
          <a:prstGeom prst="rect">
            <a:avLst/>
          </a:prstGeom>
          <a:solidFill>
            <a:srgbClr val="f4a623"/>
          </a:solidFill>
          <a:ln w="0">
            <a:noFill/>
          </a:ln>
        </p:spPr>
        <p:style>
          <a:lnRef idx="0"/>
          <a:fillRef idx="0"/>
          <a:effectRef idx="0"/>
          <a:fontRef idx="minor"/>
        </p:style>
        <p:txBody>
          <a:bodyPr lIns="90000" rIns="90000" tIns="19080" bIns="19080" anchor="t">
            <a:noAutofit/>
          </a:bodyPr>
          <a:p>
            <a:pPr>
              <a:lnSpc>
                <a:spcPct val="100000"/>
              </a:lnSpc>
            </a:pPr>
            <a:endParaRPr b="0" lang="en-US" sz="1800" spc="-1" strike="noStrike">
              <a:solidFill>
                <a:srgbClr val="000000"/>
              </a:solidFill>
              <a:latin typeface="Arial"/>
            </a:endParaRPr>
          </a:p>
        </p:txBody>
      </p:sp>
      <p:sp>
        <p:nvSpPr>
          <p:cNvPr id="53" name="Text 5"/>
          <p:cNvSpPr/>
          <p:nvPr/>
        </p:nvSpPr>
        <p:spPr>
          <a:xfrm>
            <a:off x="640080" y="3246120"/>
            <a:ext cx="10514880" cy="913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600" spc="-1" strike="noStrike">
                <a:solidFill>
                  <a:srgbClr val="ffffff"/>
                </a:solidFill>
                <a:latin typeface="Cambria"/>
                <a:ea typeface="Cambria"/>
              </a:rPr>
              <a:t>Context, Problem &amp; Objectives</a:t>
            </a:r>
            <a:endParaRPr b="0" lang="en-US" sz="3600" spc="-1" strike="noStrike">
              <a:solidFill>
                <a:srgbClr val="ffffff"/>
              </a:solidFill>
              <a:latin typeface="Arial"/>
            </a:endParaRPr>
          </a:p>
        </p:txBody>
      </p:sp>
      <p:sp>
        <p:nvSpPr>
          <p:cNvPr id="54" name="Text 6"/>
          <p:cNvSpPr/>
          <p:nvPr/>
        </p:nvSpPr>
        <p:spPr>
          <a:xfrm>
            <a:off x="658440" y="4251960"/>
            <a:ext cx="9600480" cy="82224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lang="en-US" sz="1600" spc="-1" strike="noStrike">
                <a:solidFill>
                  <a:srgbClr val="aec2d4"/>
                </a:solidFill>
                <a:latin typeface="Calibri"/>
                <a:ea typeface="Calibri"/>
              </a:rPr>
              <a:t>Casting least-cost hydrogen production as an automatic control problem.</a:t>
            </a:r>
            <a:endParaRPr b="0" lang="en-US" sz="1600" spc="-1" strike="noStrike">
              <a:solidFill>
                <a:srgbClr val="ffffff"/>
              </a:solidFill>
              <a:latin typeface="Arial"/>
            </a:endParaRPr>
          </a:p>
        </p:txBody>
      </p:sp>
      <p:sp>
        <p:nvSpPr>
          <p:cNvPr id="55" name="Text 7"/>
          <p:cNvSpPr/>
          <p:nvPr/>
        </p:nvSpPr>
        <p:spPr>
          <a:xfrm>
            <a:off x="658440" y="5212080"/>
            <a:ext cx="914328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i="1" lang="en-US" sz="1300" spc="-1" strike="noStrike">
                <a:solidFill>
                  <a:srgbClr val="f4a623"/>
                </a:solidFill>
                <a:latin typeface="Calibri"/>
                <a:ea typeface="Calibri"/>
              </a:rPr>
              <a:t>Presented by BOUBIDI Youcef</a:t>
            </a:r>
            <a:endParaRPr b="0" lang="en-US" sz="1300" spc="-1" strike="noStrike">
              <a:solidFill>
                <a:srgbClr val="ffffff"/>
              </a:solidFill>
              <a:latin typeface="Arial"/>
            </a:endParaRPr>
          </a:p>
        </p:txBody>
      </p:sp>
      <p:sp>
        <p:nvSpPr>
          <p:cNvPr id="56" name="Text 8"/>
          <p:cNvSpPr/>
          <p:nvPr/>
        </p:nvSpPr>
        <p:spPr>
          <a:xfrm>
            <a:off x="11338560" y="6400800"/>
            <a:ext cx="456480" cy="291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050" spc="-1" strike="noStrike">
                <a:solidFill>
                  <a:srgbClr val="8ea6bc"/>
                </a:solidFill>
                <a:latin typeface="Calibri"/>
                <a:ea typeface="Calibri"/>
              </a:rPr>
              <a:t>3</a:t>
            </a:r>
            <a:endParaRPr b="0" lang="en-US" sz="10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7" name="Text 0"/>
          <p:cNvSpPr/>
          <p:nvPr/>
        </p:nvSpPr>
        <p:spPr>
          <a:xfrm>
            <a:off x="11338560" y="6400800"/>
            <a:ext cx="456480" cy="291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050" spc="-1" strike="noStrike">
                <a:solidFill>
                  <a:srgbClr val="6b7c8f"/>
                </a:solidFill>
                <a:latin typeface="Calibri"/>
                <a:ea typeface="Calibri"/>
              </a:rPr>
              <a:t>4</a:t>
            </a:r>
            <a:endParaRPr b="0" lang="en-US" sz="1050" spc="-1" strike="noStrike">
              <a:solidFill>
                <a:srgbClr val="000000"/>
              </a:solidFill>
              <a:latin typeface="Arial"/>
            </a:endParaRPr>
          </a:p>
        </p:txBody>
      </p:sp>
      <p:sp>
        <p:nvSpPr>
          <p:cNvPr id="58" name="Text 1"/>
          <p:cNvSpPr/>
          <p:nvPr/>
        </p:nvSpPr>
        <p:spPr>
          <a:xfrm>
            <a:off x="548640" y="384120"/>
            <a:ext cx="109720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296" strike="noStrike">
                <a:solidFill>
                  <a:srgbClr val="1c7293"/>
                </a:solidFill>
                <a:latin typeface="Calibri"/>
                <a:ea typeface="Calibri"/>
              </a:rPr>
              <a:t>CONTEXT (1/2) — THE PRODUCT</a:t>
            </a:r>
            <a:endParaRPr b="0" lang="en-US" sz="1200" spc="-1" strike="noStrike">
              <a:solidFill>
                <a:srgbClr val="000000"/>
              </a:solidFill>
              <a:latin typeface="Arial"/>
            </a:endParaRPr>
          </a:p>
        </p:txBody>
      </p:sp>
      <p:sp>
        <p:nvSpPr>
          <p:cNvPr id="59" name="Text 2"/>
          <p:cNvSpPr/>
          <p:nvPr/>
        </p:nvSpPr>
        <p:spPr>
          <a:xfrm>
            <a:off x="548640" y="658440"/>
            <a:ext cx="11063520" cy="77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900" spc="-1" strike="noStrike">
                <a:solidFill>
                  <a:srgbClr val="0e2233"/>
                </a:solidFill>
                <a:latin typeface="Cambria"/>
                <a:ea typeface="Cambria"/>
              </a:rPr>
              <a:t>Hydrogen: the densest clean fuel we can make</a:t>
            </a:r>
            <a:endParaRPr b="0" lang="en-US" sz="2900" spc="-1" strike="noStrike">
              <a:solidFill>
                <a:srgbClr val="000000"/>
              </a:solidFill>
              <a:latin typeface="Arial"/>
            </a:endParaRPr>
          </a:p>
        </p:txBody>
      </p:sp>
      <p:sp>
        <p:nvSpPr>
          <p:cNvPr id="60" name="Text 3"/>
          <p:cNvSpPr/>
          <p:nvPr/>
        </p:nvSpPr>
        <p:spPr>
          <a:xfrm>
            <a:off x="548640" y="1627560"/>
            <a:ext cx="5439960" cy="2833920"/>
          </a:xfrm>
          <a:prstGeom prst="rect">
            <a:avLst/>
          </a:prstGeom>
          <a:noFill/>
          <a:ln w="0">
            <a:noFill/>
          </a:ln>
        </p:spPr>
        <p:style>
          <a:lnRef idx="0"/>
          <a:fillRef idx="0"/>
          <a:effectRef idx="0"/>
          <a:fontRef idx="minor"/>
        </p:style>
        <p:txBody>
          <a:bodyPr lIns="0" rIns="0" tIns="0" bIns="0" anchor="t">
            <a:noAutofit/>
          </a:bodyPr>
          <a:p>
            <a:pPr marL="177840" indent="-177840" defTabSz="914400">
              <a:lnSpc>
                <a:spcPct val="104000"/>
              </a:lnSpc>
              <a:spcAft>
                <a:spcPts val="799"/>
              </a:spcAft>
              <a:buClr>
                <a:srgbClr val="1a2733"/>
              </a:buClr>
              <a:buFont typeface="Symbol" charset="2"/>
              <a:buChar char=""/>
            </a:pPr>
            <a:r>
              <a:rPr b="0" lang="en-US" sz="1350" spc="-1" strike="noStrike">
                <a:solidFill>
                  <a:srgbClr val="1a2733"/>
                </a:solidFill>
                <a:latin typeface="Calibri"/>
                <a:ea typeface="Calibri"/>
              </a:rPr>
              <a:t>An energy carrier, not a source: you make it, store it, ship it — and using it releases only water.</a:t>
            </a:r>
            <a:endParaRPr b="0" lang="en-US" sz="135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350" spc="-1" strike="noStrike">
                <a:solidFill>
                  <a:srgbClr val="1a2733"/>
                </a:solidFill>
                <a:latin typeface="Calibri"/>
                <a:ea typeface="Calibri"/>
              </a:rPr>
              <a:t>The world already runs on it quietly: ≈ 97 Mt/yr for fertiliser (ammonia), refining and steel — ~99 % of it made from fossil gas today (IEA).</a:t>
            </a:r>
            <a:endParaRPr b="0" lang="en-US" sz="135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350" spc="-1" strike="noStrike">
                <a:solidFill>
                  <a:srgbClr val="1a2733"/>
                </a:solidFill>
                <a:latin typeface="Calibri"/>
                <a:ea typeface="Calibri"/>
              </a:rPr>
              <a:t>An electrolyzer makes the clean kind from water + electricity: it consumes ≈ 50–55 kWh per kg (vs the 33.3 kWh a kg stores → ≈ 60 % efficient).</a:t>
            </a:r>
            <a:endParaRPr b="0" lang="en-US" sz="135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350" spc="-1" strike="noStrike">
                <a:solidFill>
                  <a:srgbClr val="1a2733"/>
                </a:solidFill>
                <a:latin typeface="Calibri"/>
                <a:ea typeface="Calibri"/>
              </a:rPr>
              <a:t>So electricity is roughly two-thirds of the cost of every green kilogram — the whole game is cheap electrons.</a:t>
            </a:r>
            <a:endParaRPr b="0" lang="en-US" sz="1350" spc="-1" strike="noStrike">
              <a:solidFill>
                <a:srgbClr val="000000"/>
              </a:solidFill>
              <a:latin typeface="Arial"/>
            </a:endParaRPr>
          </a:p>
        </p:txBody>
      </p:sp>
      <p:sp>
        <p:nvSpPr>
          <p:cNvPr id="61" name="Text 4"/>
          <p:cNvSpPr/>
          <p:nvPr/>
        </p:nvSpPr>
        <p:spPr>
          <a:xfrm>
            <a:off x="548640" y="4572000"/>
            <a:ext cx="539424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94" strike="noStrike">
                <a:solidFill>
                  <a:srgbClr val="1c7293"/>
                </a:solidFill>
                <a:latin typeface="Calibri"/>
                <a:ea typeface="Calibri"/>
              </a:rPr>
              <a:t>THE “COLOURS” OF HYDROGEN</a:t>
            </a:r>
            <a:endParaRPr b="0" lang="en-US" sz="1100" spc="-1" strike="noStrike">
              <a:solidFill>
                <a:srgbClr val="000000"/>
              </a:solidFill>
              <a:latin typeface="Arial"/>
            </a:endParaRPr>
          </a:p>
        </p:txBody>
      </p:sp>
      <p:sp>
        <p:nvSpPr>
          <p:cNvPr id="62" name="Shape 5"/>
          <p:cNvSpPr/>
          <p:nvPr/>
        </p:nvSpPr>
        <p:spPr>
          <a:xfrm>
            <a:off x="548640" y="4883040"/>
            <a:ext cx="1736640" cy="840600"/>
          </a:xfrm>
          <a:prstGeom prst="roundRect">
            <a:avLst>
              <a:gd name="adj" fmla="val 7609"/>
            </a:avLst>
          </a:prstGeom>
          <a:solidFill>
            <a:srgbClr val="ffffff"/>
          </a:solidFill>
          <a:ln w="12700">
            <a:solidFill>
              <a:srgbClr val="dce5ec"/>
            </a:solidFill>
            <a:round/>
          </a:ln>
          <a:effectLst>
            <a:outerShdw algn="bl" blurRad="114480" dir="5400000" dist="38160" kx="0" ky="0" rotWithShape="0" sx="100000" sy="100000">
              <a:srgbClr val="0e2233">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63" name="Shape 6"/>
          <p:cNvSpPr/>
          <p:nvPr/>
        </p:nvSpPr>
        <p:spPr>
          <a:xfrm>
            <a:off x="548640" y="4883040"/>
            <a:ext cx="81720" cy="840600"/>
          </a:xfrm>
          <a:prstGeom prst="rect">
            <a:avLst/>
          </a:prstGeom>
          <a:solidFill>
            <a:srgbClr val="6b7c8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4" name="Text 7"/>
          <p:cNvSpPr/>
          <p:nvPr/>
        </p:nvSpPr>
        <p:spPr>
          <a:xfrm>
            <a:off x="731520" y="4937760"/>
            <a:ext cx="1480680" cy="73080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1300" spc="-1" strike="noStrike">
                <a:solidFill>
                  <a:srgbClr val="1a2733"/>
                </a:solidFill>
                <a:latin typeface="Calibri"/>
                <a:ea typeface="Calibri"/>
              </a:rPr>
              <a:t>Grey</a:t>
            </a:r>
            <a:endParaRPr b="0" lang="en-US" sz="1300" spc="-1" strike="noStrike">
              <a:solidFill>
                <a:srgbClr val="000000"/>
              </a:solidFill>
              <a:latin typeface="Arial"/>
            </a:endParaRPr>
          </a:p>
          <a:p>
            <a:pPr defTabSz="914400">
              <a:lnSpc>
                <a:spcPct val="100000"/>
              </a:lnSpc>
              <a:tabLst>
                <a:tab algn="l" pos="0"/>
              </a:tabLst>
            </a:pPr>
            <a:endParaRPr b="0" lang="en-US" sz="1300" spc="-1" strike="noStrike">
              <a:solidFill>
                <a:srgbClr val="000000"/>
              </a:solidFill>
              <a:latin typeface="Arial"/>
            </a:endParaRPr>
          </a:p>
          <a:p>
            <a:pPr defTabSz="914400">
              <a:lnSpc>
                <a:spcPct val="100000"/>
              </a:lnSpc>
              <a:tabLst>
                <a:tab algn="l" pos="0"/>
              </a:tabLst>
            </a:pPr>
            <a:r>
              <a:rPr b="0" lang="en-US" sz="950" spc="-1" strike="noStrike">
                <a:solidFill>
                  <a:srgbClr val="6b7c8f"/>
                </a:solidFill>
                <a:latin typeface="Calibri"/>
                <a:ea typeface="Calibri"/>
              </a:rPr>
              <a:t>from fossil gas · ≈ 9–10 kg CO₂/kg (IEA)</a:t>
            </a:r>
            <a:endParaRPr b="0" lang="en-US" sz="950" spc="-1" strike="noStrike">
              <a:solidFill>
                <a:srgbClr val="000000"/>
              </a:solidFill>
              <a:latin typeface="Arial"/>
            </a:endParaRPr>
          </a:p>
        </p:txBody>
      </p:sp>
      <p:sp>
        <p:nvSpPr>
          <p:cNvPr id="65" name="Shape 8"/>
          <p:cNvSpPr/>
          <p:nvPr/>
        </p:nvSpPr>
        <p:spPr>
          <a:xfrm>
            <a:off x="2395800" y="4883040"/>
            <a:ext cx="1736640" cy="840600"/>
          </a:xfrm>
          <a:prstGeom prst="roundRect">
            <a:avLst>
              <a:gd name="adj" fmla="val 7609"/>
            </a:avLst>
          </a:prstGeom>
          <a:solidFill>
            <a:srgbClr val="ffffff"/>
          </a:solidFill>
          <a:ln w="12700">
            <a:solidFill>
              <a:srgbClr val="dce5ec"/>
            </a:solidFill>
            <a:round/>
          </a:ln>
          <a:effectLst>
            <a:outerShdw algn="bl" blurRad="114480" dir="5400000" dist="38160" kx="0" ky="0" rotWithShape="0" sx="100000" sy="100000">
              <a:srgbClr val="0e2233">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66" name="Shape 9"/>
          <p:cNvSpPr/>
          <p:nvPr/>
        </p:nvSpPr>
        <p:spPr>
          <a:xfrm>
            <a:off x="2395800" y="4883040"/>
            <a:ext cx="81720" cy="840600"/>
          </a:xfrm>
          <a:prstGeom prst="rect">
            <a:avLst/>
          </a:prstGeom>
          <a:solidFill>
            <a:srgbClr val="0ea5e9"/>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7" name="Text 10"/>
          <p:cNvSpPr/>
          <p:nvPr/>
        </p:nvSpPr>
        <p:spPr>
          <a:xfrm>
            <a:off x="2578680" y="4937760"/>
            <a:ext cx="1480680" cy="73080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1300" spc="-1" strike="noStrike">
                <a:solidFill>
                  <a:srgbClr val="1a2733"/>
                </a:solidFill>
                <a:latin typeface="Calibri"/>
                <a:ea typeface="Calibri"/>
              </a:rPr>
              <a:t>Blue</a:t>
            </a:r>
            <a:endParaRPr b="0" lang="en-US" sz="1300" spc="-1" strike="noStrike">
              <a:solidFill>
                <a:srgbClr val="000000"/>
              </a:solidFill>
              <a:latin typeface="Arial"/>
            </a:endParaRPr>
          </a:p>
          <a:p>
            <a:pPr defTabSz="914400">
              <a:lnSpc>
                <a:spcPct val="100000"/>
              </a:lnSpc>
              <a:tabLst>
                <a:tab algn="l" pos="0"/>
              </a:tabLst>
            </a:pPr>
            <a:endParaRPr b="0" lang="en-US" sz="1300" spc="-1" strike="noStrike">
              <a:solidFill>
                <a:srgbClr val="000000"/>
              </a:solidFill>
              <a:latin typeface="Arial"/>
            </a:endParaRPr>
          </a:p>
          <a:p>
            <a:pPr defTabSz="914400">
              <a:lnSpc>
                <a:spcPct val="100000"/>
              </a:lnSpc>
              <a:tabLst>
                <a:tab algn="l" pos="0"/>
              </a:tabLst>
            </a:pPr>
            <a:r>
              <a:rPr b="0" lang="en-US" sz="950" spc="-1" strike="noStrike">
                <a:solidFill>
                  <a:srgbClr val="6b7c8f"/>
                </a:solidFill>
                <a:latin typeface="Calibri"/>
                <a:ea typeface="Calibri"/>
              </a:rPr>
              <a:t>grey + carbon capture</a:t>
            </a:r>
            <a:endParaRPr b="0" lang="en-US" sz="950" spc="-1" strike="noStrike">
              <a:solidFill>
                <a:srgbClr val="000000"/>
              </a:solidFill>
              <a:latin typeface="Arial"/>
            </a:endParaRPr>
          </a:p>
        </p:txBody>
      </p:sp>
      <p:sp>
        <p:nvSpPr>
          <p:cNvPr id="68" name="Shape 11"/>
          <p:cNvSpPr/>
          <p:nvPr/>
        </p:nvSpPr>
        <p:spPr>
          <a:xfrm>
            <a:off x="4242960" y="4883040"/>
            <a:ext cx="1736640" cy="840600"/>
          </a:xfrm>
          <a:prstGeom prst="roundRect">
            <a:avLst>
              <a:gd name="adj" fmla="val 7609"/>
            </a:avLst>
          </a:prstGeom>
          <a:solidFill>
            <a:srgbClr val="ffffff"/>
          </a:solidFill>
          <a:ln w="22225">
            <a:solidFill>
              <a:srgbClr val="2a9d8f"/>
            </a:solidFill>
            <a:round/>
          </a:ln>
          <a:effectLst>
            <a:outerShdw algn="bl" blurRad="114480" dir="5400000" dist="38160" kx="0" ky="0" rotWithShape="0" sx="100000" sy="100000">
              <a:srgbClr val="0e2233">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69" name="Shape 12"/>
          <p:cNvSpPr/>
          <p:nvPr/>
        </p:nvSpPr>
        <p:spPr>
          <a:xfrm>
            <a:off x="4242960" y="4883040"/>
            <a:ext cx="81720" cy="840600"/>
          </a:xfrm>
          <a:prstGeom prst="rect">
            <a:avLst/>
          </a:prstGeom>
          <a:solidFill>
            <a:srgbClr val="2a9d8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0" name="Text 13"/>
          <p:cNvSpPr/>
          <p:nvPr/>
        </p:nvSpPr>
        <p:spPr>
          <a:xfrm>
            <a:off x="4425840" y="4937760"/>
            <a:ext cx="1480680" cy="73080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1300" spc="-1" strike="noStrike">
                <a:solidFill>
                  <a:srgbClr val="2a9d8f"/>
                </a:solidFill>
                <a:latin typeface="Calibri"/>
                <a:ea typeface="Calibri"/>
              </a:rPr>
              <a:t>Green</a:t>
            </a:r>
            <a:endParaRPr b="0" lang="en-US" sz="1300" spc="-1" strike="noStrike">
              <a:solidFill>
                <a:srgbClr val="000000"/>
              </a:solidFill>
              <a:latin typeface="Arial"/>
            </a:endParaRPr>
          </a:p>
          <a:p>
            <a:pPr defTabSz="914400">
              <a:lnSpc>
                <a:spcPct val="100000"/>
              </a:lnSpc>
              <a:tabLst>
                <a:tab algn="l" pos="0"/>
              </a:tabLst>
            </a:pPr>
            <a:endParaRPr b="0" lang="en-US" sz="1300" spc="-1" strike="noStrike">
              <a:solidFill>
                <a:srgbClr val="000000"/>
              </a:solidFill>
              <a:latin typeface="Arial"/>
            </a:endParaRPr>
          </a:p>
          <a:p>
            <a:pPr defTabSz="914400">
              <a:lnSpc>
                <a:spcPct val="100000"/>
              </a:lnSpc>
              <a:tabLst>
                <a:tab algn="l" pos="0"/>
              </a:tabLst>
            </a:pPr>
            <a:r>
              <a:rPr b="0" lang="en-US" sz="950" spc="-1" strike="noStrike">
                <a:solidFill>
                  <a:srgbClr val="6b7c8f"/>
                </a:solidFill>
                <a:latin typeface="Calibri"/>
                <a:ea typeface="Calibri"/>
              </a:rPr>
              <a:t>renewables · ≈ 0 CO₂ — this thesis</a:t>
            </a:r>
            <a:endParaRPr b="0" lang="en-US" sz="950" spc="-1" strike="noStrike">
              <a:solidFill>
                <a:srgbClr val="000000"/>
              </a:solidFill>
              <a:latin typeface="Arial"/>
            </a:endParaRPr>
          </a:p>
        </p:txBody>
      </p:sp>
      <p:sp>
        <p:nvSpPr>
          <p:cNvPr id="71" name="Shape 14"/>
          <p:cNvSpPr/>
          <p:nvPr/>
        </p:nvSpPr>
        <p:spPr>
          <a:xfrm>
            <a:off x="6263640" y="1737360"/>
            <a:ext cx="5394240" cy="4041000"/>
          </a:xfrm>
          <a:prstGeom prst="roundRect">
            <a:avLst>
              <a:gd name="adj" fmla="val 2262"/>
            </a:avLst>
          </a:prstGeom>
          <a:solidFill>
            <a:srgbClr val="eef3f7"/>
          </a:solidFill>
          <a:ln w="12700">
            <a:solidFill>
              <a:srgbClr val="dce5ec"/>
            </a:solidFill>
            <a:round/>
          </a:ln>
          <a:effectLst>
            <a:outerShdw algn="bl" blurRad="114480" dir="5400000" dist="38160" kx="0" ky="0" rotWithShape="0" sx="100000" sy="100000">
              <a:srgbClr val="0e2233">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72" name="Text 15"/>
          <p:cNvSpPr/>
          <p:nvPr/>
        </p:nvSpPr>
        <p:spPr>
          <a:xfrm>
            <a:off x="6492240" y="1920240"/>
            <a:ext cx="50284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94" strike="noStrike">
                <a:solidFill>
                  <a:srgbClr val="1c7293"/>
                </a:solidFill>
                <a:latin typeface="Calibri"/>
                <a:ea typeface="Calibri"/>
              </a:rPr>
              <a:t>ENERGY IN 1 KG OF FUEL — kWh (LOWER HEATING VALUE)</a:t>
            </a:r>
            <a:endParaRPr b="0" lang="en-US" sz="1100" spc="-1" strike="noStrike">
              <a:solidFill>
                <a:srgbClr val="000000"/>
              </a:solidFill>
              <a:latin typeface="Arial"/>
            </a:endParaRPr>
          </a:p>
        </p:txBody>
      </p:sp>
      <p:sp>
        <p:nvSpPr>
          <p:cNvPr id="73" name="Text 16"/>
          <p:cNvSpPr/>
          <p:nvPr/>
        </p:nvSpPr>
        <p:spPr>
          <a:xfrm>
            <a:off x="6492240" y="2340720"/>
            <a:ext cx="109656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2a9d8f"/>
                </a:solidFill>
                <a:latin typeface="Calibri"/>
                <a:ea typeface="Calibri"/>
              </a:rPr>
              <a:t>Hydrogen</a:t>
            </a:r>
            <a:endParaRPr b="0" lang="en-US" sz="1100" spc="-1" strike="noStrike">
              <a:solidFill>
                <a:srgbClr val="000000"/>
              </a:solidFill>
              <a:latin typeface="Arial"/>
            </a:endParaRPr>
          </a:p>
        </p:txBody>
      </p:sp>
      <p:sp>
        <p:nvSpPr>
          <p:cNvPr id="74" name="Shape 17"/>
          <p:cNvSpPr/>
          <p:nvPr/>
        </p:nvSpPr>
        <p:spPr>
          <a:xfrm>
            <a:off x="7662600" y="2377440"/>
            <a:ext cx="3016800" cy="291960"/>
          </a:xfrm>
          <a:prstGeom prst="roundRect">
            <a:avLst>
              <a:gd name="adj" fmla="val 15625"/>
            </a:avLst>
          </a:prstGeom>
          <a:solidFill>
            <a:srgbClr val="2a9d8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5" name="Text 18"/>
          <p:cNvSpPr/>
          <p:nvPr/>
        </p:nvSpPr>
        <p:spPr>
          <a:xfrm>
            <a:off x="10753200" y="2340720"/>
            <a:ext cx="68508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2a9d8f"/>
                </a:solidFill>
                <a:latin typeface="Cambria"/>
                <a:ea typeface="Cambria"/>
              </a:rPr>
              <a:t>33.3</a:t>
            </a:r>
            <a:endParaRPr b="0" lang="en-US" sz="1250" spc="-1" strike="noStrike">
              <a:solidFill>
                <a:srgbClr val="000000"/>
              </a:solidFill>
              <a:latin typeface="Arial"/>
            </a:endParaRPr>
          </a:p>
        </p:txBody>
      </p:sp>
      <p:sp>
        <p:nvSpPr>
          <p:cNvPr id="76" name="Text 19"/>
          <p:cNvSpPr/>
          <p:nvPr/>
        </p:nvSpPr>
        <p:spPr>
          <a:xfrm>
            <a:off x="6492240" y="2889360"/>
            <a:ext cx="109656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pc="-1" strike="noStrike">
                <a:solidFill>
                  <a:srgbClr val="1a2733"/>
                </a:solidFill>
                <a:latin typeface="Calibri"/>
                <a:ea typeface="Calibri"/>
              </a:rPr>
              <a:t>Natural gas</a:t>
            </a:r>
            <a:endParaRPr b="0" lang="en-US" sz="1100" spc="-1" strike="noStrike">
              <a:solidFill>
                <a:srgbClr val="000000"/>
              </a:solidFill>
              <a:latin typeface="Arial"/>
            </a:endParaRPr>
          </a:p>
        </p:txBody>
      </p:sp>
      <p:sp>
        <p:nvSpPr>
          <p:cNvPr id="77" name="Shape 20"/>
          <p:cNvSpPr/>
          <p:nvPr/>
        </p:nvSpPr>
        <p:spPr>
          <a:xfrm>
            <a:off x="7662600" y="2926080"/>
            <a:ext cx="1258920" cy="291960"/>
          </a:xfrm>
          <a:prstGeom prst="roundRect">
            <a:avLst>
              <a:gd name="adj" fmla="val 15625"/>
            </a:avLst>
          </a:prstGeom>
          <a:solidFill>
            <a:srgbClr val="6b7c8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8" name="Text 21"/>
          <p:cNvSpPr/>
          <p:nvPr/>
        </p:nvSpPr>
        <p:spPr>
          <a:xfrm>
            <a:off x="8995320" y="2889360"/>
            <a:ext cx="68508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1a2733"/>
                </a:solidFill>
                <a:latin typeface="Cambria"/>
                <a:ea typeface="Cambria"/>
              </a:rPr>
              <a:t>13.9</a:t>
            </a:r>
            <a:endParaRPr b="0" lang="en-US" sz="1250" spc="-1" strike="noStrike">
              <a:solidFill>
                <a:srgbClr val="000000"/>
              </a:solidFill>
              <a:latin typeface="Arial"/>
            </a:endParaRPr>
          </a:p>
        </p:txBody>
      </p:sp>
      <p:sp>
        <p:nvSpPr>
          <p:cNvPr id="79" name="Text 22"/>
          <p:cNvSpPr/>
          <p:nvPr/>
        </p:nvSpPr>
        <p:spPr>
          <a:xfrm>
            <a:off x="6492240" y="3438000"/>
            <a:ext cx="109656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pc="-1" strike="noStrike">
                <a:solidFill>
                  <a:srgbClr val="1a2733"/>
                </a:solidFill>
                <a:latin typeface="Calibri"/>
                <a:ea typeface="Calibri"/>
              </a:rPr>
              <a:t>Gasoline</a:t>
            </a:r>
            <a:endParaRPr b="0" lang="en-US" sz="1100" spc="-1" strike="noStrike">
              <a:solidFill>
                <a:srgbClr val="000000"/>
              </a:solidFill>
              <a:latin typeface="Arial"/>
            </a:endParaRPr>
          </a:p>
        </p:txBody>
      </p:sp>
      <p:sp>
        <p:nvSpPr>
          <p:cNvPr id="80" name="Shape 23"/>
          <p:cNvSpPr/>
          <p:nvPr/>
        </p:nvSpPr>
        <p:spPr>
          <a:xfrm>
            <a:off x="7662600" y="3474720"/>
            <a:ext cx="1095840" cy="291960"/>
          </a:xfrm>
          <a:prstGeom prst="roundRect">
            <a:avLst>
              <a:gd name="adj" fmla="val 15625"/>
            </a:avLst>
          </a:prstGeom>
          <a:solidFill>
            <a:srgbClr val="6b7c8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1" name="Text 24"/>
          <p:cNvSpPr/>
          <p:nvPr/>
        </p:nvSpPr>
        <p:spPr>
          <a:xfrm>
            <a:off x="8832240" y="3438000"/>
            <a:ext cx="68508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1a2733"/>
                </a:solidFill>
                <a:latin typeface="Cambria"/>
                <a:ea typeface="Cambria"/>
              </a:rPr>
              <a:t>12.1</a:t>
            </a:r>
            <a:endParaRPr b="0" lang="en-US" sz="1250" spc="-1" strike="noStrike">
              <a:solidFill>
                <a:srgbClr val="000000"/>
              </a:solidFill>
              <a:latin typeface="Arial"/>
            </a:endParaRPr>
          </a:p>
        </p:txBody>
      </p:sp>
      <p:sp>
        <p:nvSpPr>
          <p:cNvPr id="82" name="Text 25"/>
          <p:cNvSpPr/>
          <p:nvPr/>
        </p:nvSpPr>
        <p:spPr>
          <a:xfrm>
            <a:off x="6492240" y="3986640"/>
            <a:ext cx="109656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pc="-1" strike="noStrike">
                <a:solidFill>
                  <a:srgbClr val="1a2733"/>
                </a:solidFill>
                <a:latin typeface="Calibri"/>
                <a:ea typeface="Calibri"/>
              </a:rPr>
              <a:t>Diesel</a:t>
            </a:r>
            <a:endParaRPr b="0" lang="en-US" sz="1100" spc="-1" strike="noStrike">
              <a:solidFill>
                <a:srgbClr val="000000"/>
              </a:solidFill>
              <a:latin typeface="Arial"/>
            </a:endParaRPr>
          </a:p>
        </p:txBody>
      </p:sp>
      <p:sp>
        <p:nvSpPr>
          <p:cNvPr id="83" name="Shape 26"/>
          <p:cNvSpPr/>
          <p:nvPr/>
        </p:nvSpPr>
        <p:spPr>
          <a:xfrm>
            <a:off x="7662600" y="4023360"/>
            <a:ext cx="1077480" cy="291960"/>
          </a:xfrm>
          <a:prstGeom prst="roundRect">
            <a:avLst>
              <a:gd name="adj" fmla="val 15625"/>
            </a:avLst>
          </a:prstGeom>
          <a:solidFill>
            <a:srgbClr val="6b7c8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4" name="Text 27"/>
          <p:cNvSpPr/>
          <p:nvPr/>
        </p:nvSpPr>
        <p:spPr>
          <a:xfrm>
            <a:off x="8814240" y="3986640"/>
            <a:ext cx="68508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1a2733"/>
                </a:solidFill>
                <a:latin typeface="Cambria"/>
                <a:ea typeface="Cambria"/>
              </a:rPr>
              <a:t>11.9</a:t>
            </a:r>
            <a:endParaRPr b="0" lang="en-US" sz="1250" spc="-1" strike="noStrike">
              <a:solidFill>
                <a:srgbClr val="000000"/>
              </a:solidFill>
              <a:latin typeface="Arial"/>
            </a:endParaRPr>
          </a:p>
        </p:txBody>
      </p:sp>
      <p:sp>
        <p:nvSpPr>
          <p:cNvPr id="85" name="Text 28"/>
          <p:cNvSpPr/>
          <p:nvPr/>
        </p:nvSpPr>
        <p:spPr>
          <a:xfrm>
            <a:off x="6492240" y="4700160"/>
            <a:ext cx="4937040" cy="365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i="1" lang="en-US" sz="1350" spc="-1" strike="noStrike">
                <a:solidFill>
                  <a:srgbClr val="2a9d8f"/>
                </a:solidFill>
                <a:latin typeface="Calibri"/>
                <a:ea typeface="Calibri"/>
              </a:rPr>
              <a:t>≈ </a:t>
            </a:r>
            <a:r>
              <a:rPr b="1" i="1" lang="en-US" sz="1350" spc="-1" strike="noStrike">
                <a:solidFill>
                  <a:srgbClr val="2a9d8f"/>
                </a:solidFill>
                <a:latin typeface="Calibri"/>
                <a:ea typeface="Calibri"/>
              </a:rPr>
              <a:t>3× diesel, kilogram for kilogram — and the exhaust is water.</a:t>
            </a:r>
            <a:endParaRPr b="0" lang="en-US" sz="1350" spc="-1" strike="noStrike">
              <a:solidFill>
                <a:srgbClr val="000000"/>
              </a:solidFill>
              <a:latin typeface="Arial"/>
            </a:endParaRPr>
          </a:p>
        </p:txBody>
      </p:sp>
      <p:sp>
        <p:nvSpPr>
          <p:cNvPr id="86" name="Text 29"/>
          <p:cNvSpPr/>
          <p:nvPr/>
        </p:nvSpPr>
        <p:spPr>
          <a:xfrm>
            <a:off x="6492240" y="5230440"/>
            <a:ext cx="4937040" cy="273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en-US" sz="950" spc="-1" strike="noStrike">
                <a:solidFill>
                  <a:srgbClr val="6b7c8f"/>
                </a:solidFill>
                <a:latin typeface="Calibri"/>
                <a:ea typeface="Calibri"/>
              </a:rPr>
              <a:t>LHV data — U.S. DOE Hydrogen Program / standard engineering references.</a:t>
            </a:r>
            <a:endParaRPr b="0" lang="en-US" sz="950" spc="-1" strike="noStrike">
              <a:solidFill>
                <a:srgbClr val="000000"/>
              </a:solidFill>
              <a:latin typeface="Arial"/>
            </a:endParaRPr>
          </a:p>
        </p:txBody>
      </p:sp>
      <p:sp>
        <p:nvSpPr>
          <p:cNvPr id="87" name="Shape 30"/>
          <p:cNvSpPr/>
          <p:nvPr/>
        </p:nvSpPr>
        <p:spPr>
          <a:xfrm>
            <a:off x="548640" y="5888880"/>
            <a:ext cx="11090880" cy="401760"/>
          </a:xfrm>
          <a:prstGeom prst="roundRect">
            <a:avLst>
              <a:gd name="adj" fmla="val 18182"/>
            </a:avLst>
          </a:prstGeom>
          <a:solidFill>
            <a:srgbClr val="0e223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8" name="Text 31"/>
          <p:cNvSpPr/>
          <p:nvPr/>
        </p:nvSpPr>
        <p:spPr>
          <a:xfrm>
            <a:off x="548640" y="5888880"/>
            <a:ext cx="11090880" cy="401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250" spc="-1" strike="noStrike">
                <a:solidFill>
                  <a:srgbClr val="d6e3ef"/>
                </a:solidFill>
                <a:latin typeface="Calibri"/>
                <a:ea typeface="Calibri"/>
              </a:rPr>
              <a:t>Green hydrogen is  </a:t>
            </a:r>
            <a:r>
              <a:rPr b="1" lang="en-US" sz="1250" spc="-1" strike="noStrike">
                <a:solidFill>
                  <a:srgbClr val="ffffff"/>
                </a:solidFill>
                <a:latin typeface="Calibri"/>
                <a:ea typeface="Calibri"/>
              </a:rPr>
              <a:t>an electricity-cost problem  →  a timing problem  →  a control problem.</a:t>
            </a:r>
            <a:endParaRPr b="0" lang="en-US" sz="1250" spc="-1" strike="noStrike">
              <a:solidFill>
                <a:srgbClr val="000000"/>
              </a:solidFill>
              <a:latin typeface="Arial"/>
            </a:endParaRPr>
          </a:p>
        </p:txBody>
      </p:sp>
      <p:sp>
        <p:nvSpPr>
          <p:cNvPr id="89" name="Text 32"/>
          <p:cNvSpPr/>
          <p:nvPr/>
        </p:nvSpPr>
        <p:spPr>
          <a:xfrm>
            <a:off x="548640" y="6437520"/>
            <a:ext cx="82288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900" spc="-1" strike="noStrike">
                <a:solidFill>
                  <a:srgbClr val="6b7c8f"/>
                </a:solidFill>
                <a:latin typeface="Calibri"/>
                <a:ea typeface="Calibri"/>
              </a:rPr>
              <a:t>Supervisory Dispatch Control · Solar–Grid–Electrolyzer H₂ Plant</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0" name="Text 0"/>
          <p:cNvSpPr/>
          <p:nvPr/>
        </p:nvSpPr>
        <p:spPr>
          <a:xfrm>
            <a:off x="11338560" y="6400800"/>
            <a:ext cx="456480" cy="291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050" spc="-1" strike="noStrike">
                <a:solidFill>
                  <a:srgbClr val="6b7c8f"/>
                </a:solidFill>
                <a:latin typeface="Calibri"/>
                <a:ea typeface="Calibri"/>
              </a:rPr>
              <a:t>5</a:t>
            </a:r>
            <a:endParaRPr b="0" lang="en-US" sz="1050" spc="-1" strike="noStrike">
              <a:solidFill>
                <a:srgbClr val="000000"/>
              </a:solidFill>
              <a:latin typeface="Arial"/>
            </a:endParaRPr>
          </a:p>
        </p:txBody>
      </p:sp>
      <p:sp>
        <p:nvSpPr>
          <p:cNvPr id="91" name="Text 1"/>
          <p:cNvSpPr/>
          <p:nvPr/>
        </p:nvSpPr>
        <p:spPr>
          <a:xfrm>
            <a:off x="548640" y="384120"/>
            <a:ext cx="109720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296" strike="noStrike">
                <a:solidFill>
                  <a:srgbClr val="1c7293"/>
                </a:solidFill>
                <a:latin typeface="Calibri"/>
                <a:ea typeface="Calibri"/>
              </a:rPr>
              <a:t>CONTEXT (2/2) — WHY NOW, AND WHY ALGERIA</a:t>
            </a:r>
            <a:endParaRPr b="0" lang="en-US" sz="1200" spc="-1" strike="noStrike">
              <a:solidFill>
                <a:srgbClr val="000000"/>
              </a:solidFill>
              <a:latin typeface="Arial"/>
            </a:endParaRPr>
          </a:p>
        </p:txBody>
      </p:sp>
      <p:sp>
        <p:nvSpPr>
          <p:cNvPr id="92" name="Text 2"/>
          <p:cNvSpPr/>
          <p:nvPr/>
        </p:nvSpPr>
        <p:spPr>
          <a:xfrm>
            <a:off x="548640" y="658440"/>
            <a:ext cx="11063520" cy="77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900" spc="-1" strike="noStrike">
                <a:solidFill>
                  <a:srgbClr val="0e2233"/>
                </a:solidFill>
                <a:latin typeface="Cambria"/>
                <a:ea typeface="Cambria"/>
              </a:rPr>
              <a:t>The window: fossils pricing out, solar pricing in</a:t>
            </a:r>
            <a:endParaRPr b="0" lang="en-US" sz="2900" spc="-1" strike="noStrike">
              <a:solidFill>
                <a:srgbClr val="000000"/>
              </a:solidFill>
              <a:latin typeface="Arial"/>
            </a:endParaRPr>
          </a:p>
        </p:txBody>
      </p:sp>
      <p:sp>
        <p:nvSpPr>
          <p:cNvPr id="93" name="Text 3"/>
          <p:cNvSpPr/>
          <p:nvPr/>
        </p:nvSpPr>
        <p:spPr>
          <a:xfrm>
            <a:off x="548640" y="1627560"/>
            <a:ext cx="5988600" cy="3656880"/>
          </a:xfrm>
          <a:prstGeom prst="rect">
            <a:avLst/>
          </a:prstGeom>
          <a:noFill/>
          <a:ln w="0">
            <a:noFill/>
          </a:ln>
        </p:spPr>
        <p:style>
          <a:lnRef idx="0"/>
          <a:fillRef idx="0"/>
          <a:effectRef idx="0"/>
          <a:fontRef idx="minor"/>
        </p:style>
        <p:txBody>
          <a:bodyPr lIns="0" rIns="0" tIns="0" bIns="0" anchor="t">
            <a:noAutofit/>
          </a:bodyPr>
          <a:p>
            <a:pPr marL="177840" indent="-177840" defTabSz="914400">
              <a:lnSpc>
                <a:spcPct val="104000"/>
              </a:lnSpc>
              <a:spcAft>
                <a:spcPts val="799"/>
              </a:spcAft>
              <a:buClr>
                <a:srgbClr val="1a2733"/>
              </a:buClr>
              <a:buFont typeface="Symbol" charset="2"/>
              <a:buChar char=""/>
            </a:pPr>
            <a:r>
              <a:rPr b="0" lang="en-US" sz="1350" spc="-1" strike="noStrike">
                <a:solidFill>
                  <a:srgbClr val="1a2733"/>
                </a:solidFill>
                <a:latin typeface="Calibri"/>
                <a:ea typeface="Calibri"/>
              </a:rPr>
              <a:t>Fossil fuels are finite and increasingly carbon-priced: proven oil reserves ≈ 50 years at today's production rate (Energy Institute Statistical Review).</a:t>
            </a:r>
            <a:endParaRPr b="0" lang="en-US" sz="135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350" spc="-1" strike="noStrike">
                <a:solidFill>
                  <a:srgbClr val="1a2733"/>
                </a:solidFill>
                <a:latin typeface="Calibri"/>
                <a:ea typeface="Calibri"/>
              </a:rPr>
              <a:t>From 2026 the EU carbon border tax (CBAM) makes exporters pay for embedded CO₂ — fossil-based products lose ground in Algeria's main export market.</a:t>
            </a:r>
            <a:endParaRPr b="0" lang="en-US" sz="135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350" spc="-1" strike="noStrike">
                <a:solidFill>
                  <a:srgbClr val="1a2733"/>
                </a:solidFill>
                <a:latin typeface="Calibri"/>
                <a:ea typeface="Calibri"/>
              </a:rPr>
              <a:t>Meanwhile utility solar became the cheapest electricity in history: cost down ≈ 90 % since 2010 (IRENA) — but only when the sun shines.</a:t>
            </a:r>
            <a:endParaRPr b="0" lang="en-US" sz="135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350" spc="-1" strike="noStrike">
                <a:solidFill>
                  <a:srgbClr val="1a2733"/>
                </a:solidFill>
                <a:latin typeface="Calibri"/>
                <a:ea typeface="Calibri"/>
              </a:rPr>
              <a:t>And clean-hydrogen demand is set to explode: ≈ 430 Mt by 2050 in the IEA net-zero pathway — over 4× today's market, nearly all of it low-carbon.</a:t>
            </a:r>
            <a:endParaRPr b="0" lang="en-US" sz="1350" spc="-1" strike="noStrike">
              <a:solidFill>
                <a:srgbClr val="000000"/>
              </a:solidFill>
              <a:latin typeface="Arial"/>
            </a:endParaRPr>
          </a:p>
        </p:txBody>
      </p:sp>
      <p:sp>
        <p:nvSpPr>
          <p:cNvPr id="94" name="Text 4"/>
          <p:cNvSpPr/>
          <p:nvPr/>
        </p:nvSpPr>
        <p:spPr>
          <a:xfrm>
            <a:off x="6784920" y="1627560"/>
            <a:ext cx="484560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94" strike="noStrike">
                <a:solidFill>
                  <a:srgbClr val="f4a623"/>
                </a:solidFill>
                <a:latin typeface="Calibri"/>
                <a:ea typeface="Calibri"/>
              </a:rPr>
              <a:t>ALGERIA'S HAND — THE SITE FROM SPACE</a:t>
            </a:r>
            <a:endParaRPr b="0" lang="en-US" sz="1100" spc="-1" strike="noStrike">
              <a:solidFill>
                <a:srgbClr val="000000"/>
              </a:solidFill>
              <a:latin typeface="Arial"/>
            </a:endParaRPr>
          </a:p>
        </p:txBody>
      </p:sp>
      <p:sp>
        <p:nvSpPr>
          <p:cNvPr id="95" name="Shape 5"/>
          <p:cNvSpPr/>
          <p:nvPr/>
        </p:nvSpPr>
        <p:spPr>
          <a:xfrm>
            <a:off x="6784920" y="1920240"/>
            <a:ext cx="4900320" cy="2980080"/>
          </a:xfrm>
          <a:prstGeom prst="roundRect">
            <a:avLst>
              <a:gd name="adj" fmla="val 1840"/>
            </a:avLst>
          </a:prstGeom>
          <a:solidFill>
            <a:srgbClr val="ffffff"/>
          </a:solidFill>
          <a:ln w="12700">
            <a:solidFill>
              <a:srgbClr val="dce5ec"/>
            </a:solidFill>
            <a:round/>
          </a:ln>
          <a:effectLst>
            <a:outerShdw algn="bl" blurRad="177840" dir="5400000" dist="63360" kx="0" ky="0" rotWithShape="0" sx="100000" sy="100000">
              <a:srgbClr val="0e2233">
                <a:alpha val="28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pic>
        <p:nvPicPr>
          <p:cNvPr id="96" name="Image 0" descr="/home/youc/hydrogen-dispatch/results/figures/ghardaia_satellite.png"/>
          <p:cNvPicPr/>
          <p:nvPr/>
        </p:nvPicPr>
        <p:blipFill>
          <a:blip r:embed="rId1"/>
          <a:stretch/>
        </p:blipFill>
        <p:spPr>
          <a:xfrm>
            <a:off x="6858000" y="1993320"/>
            <a:ext cx="4754160" cy="2833920"/>
          </a:xfrm>
          <a:prstGeom prst="rect">
            <a:avLst/>
          </a:prstGeom>
          <a:ln w="0">
            <a:noFill/>
          </a:ln>
        </p:spPr>
      </p:pic>
      <p:sp>
        <p:nvSpPr>
          <p:cNvPr id="97" name="Text 6"/>
          <p:cNvSpPr/>
          <p:nvPr/>
        </p:nvSpPr>
        <p:spPr>
          <a:xfrm>
            <a:off x="6784920" y="4974480"/>
            <a:ext cx="4900320" cy="310320"/>
          </a:xfrm>
          <a:prstGeom prst="rect">
            <a:avLst/>
          </a:prstGeom>
          <a:noFill/>
          <a:ln w="0">
            <a:noFill/>
          </a:ln>
        </p:spPr>
        <p:style>
          <a:lnRef idx="0"/>
          <a:fillRef idx="0"/>
          <a:effectRef idx="0"/>
          <a:fontRef idx="minor"/>
        </p:style>
        <p:txBody>
          <a:bodyPr lIns="0" rIns="0" tIns="0" bIns="0" anchor="ctr">
            <a:noAutofit/>
          </a:bodyPr>
          <a:p>
            <a:pPr defTabSz="914400">
              <a:lnSpc>
                <a:spcPct val="95000"/>
              </a:lnSpc>
              <a:tabLst>
                <a:tab algn="l" pos="0"/>
              </a:tabLst>
            </a:pPr>
            <a:r>
              <a:rPr b="0" i="1" lang="en-US" sz="850" spc="-1" strike="noStrike">
                <a:solidFill>
                  <a:srgbClr val="6b7c8f"/>
                </a:solidFill>
                <a:latin typeface="Calibri"/>
                <a:ea typeface="Calibri"/>
              </a:rPr>
              <a:t>Sentinel-2 (NASA HLS), 23 June 2023 — the very day used as “clear summer” throughout this thesis. Public domain.</a:t>
            </a:r>
            <a:endParaRPr b="0" lang="en-US" sz="850" spc="-1" strike="noStrike">
              <a:solidFill>
                <a:srgbClr val="000000"/>
              </a:solidFill>
              <a:latin typeface="Arial"/>
            </a:endParaRPr>
          </a:p>
        </p:txBody>
      </p:sp>
      <p:sp>
        <p:nvSpPr>
          <p:cNvPr id="98" name="Text 7"/>
          <p:cNvSpPr/>
          <p:nvPr/>
        </p:nvSpPr>
        <p:spPr>
          <a:xfrm>
            <a:off x="6784920" y="5303520"/>
            <a:ext cx="4900320" cy="502200"/>
          </a:xfrm>
          <a:prstGeom prst="rect">
            <a:avLst/>
          </a:prstGeom>
          <a:noFill/>
          <a:ln w="0">
            <a:noFill/>
          </a:ln>
        </p:spPr>
        <p:style>
          <a:lnRef idx="0"/>
          <a:fillRef idx="0"/>
          <a:effectRef idx="0"/>
          <a:fontRef idx="minor"/>
        </p:style>
        <p:txBody>
          <a:bodyPr lIns="0" rIns="0" tIns="0" bIns="0" anchor="t">
            <a:noAutofit/>
          </a:bodyPr>
          <a:p>
            <a:pPr defTabSz="914400">
              <a:lnSpc>
                <a:spcPct val="105000"/>
              </a:lnSpc>
              <a:tabLst>
                <a:tab algn="l" pos="0"/>
              </a:tabLst>
            </a:pPr>
            <a:r>
              <a:rPr b="1" lang="en-US" sz="1050" spc="-1" strike="noStrike">
                <a:solidFill>
                  <a:srgbClr val="2a9d8f"/>
                </a:solidFill>
                <a:latin typeface="Calibri"/>
                <a:ea typeface="Calibri"/>
              </a:rPr>
              <a:t>☀ </a:t>
            </a:r>
            <a:r>
              <a:rPr b="1" lang="en-US" sz="1050" spc="-1" strike="noStrike">
                <a:solidFill>
                  <a:srgbClr val="2a9d8f"/>
                </a:solidFill>
                <a:latin typeface="Calibri"/>
                <a:ea typeface="Calibri"/>
              </a:rPr>
              <a:t>2,150 kWh/kWp/yr  ·  </a:t>
            </a:r>
            <a:r>
              <a:rPr b="0" lang="en-US" sz="1050" spc="-1" strike="noStrike">
                <a:solidFill>
                  <a:srgbClr val="1a2733"/>
                </a:solidFill>
                <a:latin typeface="Calibri"/>
                <a:ea typeface="Calibri"/>
              </a:rPr>
              <a:t>hydrocarbons ≈ 90 % of exports  ·  </a:t>
            </a:r>
            <a:r>
              <a:rPr b="1" lang="en-US" sz="1050" spc="-1" strike="noStrike">
                <a:solidFill>
                  <a:srgbClr val="1c7293"/>
                </a:solidFill>
                <a:latin typeface="Calibri"/>
                <a:ea typeface="Calibri"/>
              </a:rPr>
              <a:t>H₂ roadmap 2023 · SoutH2 → ambition ≈ 10 % of EU imports by 2040</a:t>
            </a:r>
            <a:endParaRPr b="0" lang="en-US" sz="1050" spc="-1" strike="noStrike">
              <a:solidFill>
                <a:srgbClr val="000000"/>
              </a:solidFill>
              <a:latin typeface="Arial"/>
            </a:endParaRPr>
          </a:p>
        </p:txBody>
      </p:sp>
      <p:sp>
        <p:nvSpPr>
          <p:cNvPr id="99" name="Shape 8"/>
          <p:cNvSpPr/>
          <p:nvPr/>
        </p:nvSpPr>
        <p:spPr>
          <a:xfrm>
            <a:off x="548640" y="5669280"/>
            <a:ext cx="11090880" cy="566280"/>
          </a:xfrm>
          <a:prstGeom prst="roundRect">
            <a:avLst>
              <a:gd name="adj" fmla="val 14516"/>
            </a:avLst>
          </a:prstGeom>
          <a:solidFill>
            <a:srgbClr val="0e223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0" name="Text 9"/>
          <p:cNvSpPr/>
          <p:nvPr/>
        </p:nvSpPr>
        <p:spPr>
          <a:xfrm>
            <a:off x="548640" y="5669280"/>
            <a:ext cx="11090880" cy="566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pc="-1" strike="noStrike">
                <a:solidFill>
                  <a:srgbClr val="e2643b"/>
                </a:solidFill>
                <a:latin typeface="Calibri"/>
                <a:ea typeface="Calibri"/>
              </a:rPr>
              <a:t>Fossils: finite, carbon-taxed</a:t>
            </a:r>
            <a:r>
              <a:rPr b="0" lang="en-US" sz="1250" spc="-1" strike="noStrike">
                <a:solidFill>
                  <a:srgbClr val="6e869c"/>
                </a:solidFill>
                <a:latin typeface="Calibri"/>
                <a:ea typeface="Calibri"/>
              </a:rPr>
              <a:t>   ·   </a:t>
            </a:r>
            <a:r>
              <a:rPr b="1" lang="en-US" sz="1250" spc="-1" strike="noStrike">
                <a:solidFill>
                  <a:srgbClr val="2a9d8f"/>
                </a:solidFill>
                <a:latin typeface="Calibri"/>
                <a:ea typeface="Calibri"/>
              </a:rPr>
              <a:t>Solar: −90 % in a decade</a:t>
            </a:r>
            <a:r>
              <a:rPr b="1" lang="en-US" sz="1250" spc="-1" strike="noStrike">
                <a:solidFill>
                  <a:srgbClr val="ffffff"/>
                </a:solidFill>
                <a:latin typeface="Calibri"/>
                <a:ea typeface="Calibri"/>
              </a:rPr>
              <a:t>   →   green H₂ turns desert sun into an exportable fuel.</a:t>
            </a:r>
            <a:endParaRPr b="0" lang="en-US" sz="1250" spc="-1" strike="noStrike">
              <a:solidFill>
                <a:srgbClr val="000000"/>
              </a:solidFill>
              <a:latin typeface="Arial"/>
            </a:endParaRPr>
          </a:p>
        </p:txBody>
      </p:sp>
      <p:sp>
        <p:nvSpPr>
          <p:cNvPr id="101" name="Text 10"/>
          <p:cNvSpPr/>
          <p:nvPr/>
        </p:nvSpPr>
        <p:spPr>
          <a:xfrm>
            <a:off x="548640" y="6437520"/>
            <a:ext cx="82288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900" spc="-1" strike="noStrike">
                <a:solidFill>
                  <a:srgbClr val="6b7c8f"/>
                </a:solidFill>
                <a:latin typeface="Calibri"/>
                <a:ea typeface="Calibri"/>
              </a:rPr>
              <a:t>Supervisory Dispatch Control · Solar–Grid–Electrolyzer H₂ Plant</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2" name="Text 0"/>
          <p:cNvSpPr/>
          <p:nvPr/>
        </p:nvSpPr>
        <p:spPr>
          <a:xfrm>
            <a:off x="11338560" y="6400800"/>
            <a:ext cx="456480" cy="291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050" spc="-1" strike="noStrike">
                <a:solidFill>
                  <a:srgbClr val="6b7c8f"/>
                </a:solidFill>
                <a:latin typeface="Calibri"/>
                <a:ea typeface="Calibri"/>
              </a:rPr>
              <a:t>6</a:t>
            </a:r>
            <a:endParaRPr b="0" lang="en-US" sz="1050" spc="-1" strike="noStrike">
              <a:solidFill>
                <a:srgbClr val="000000"/>
              </a:solidFill>
              <a:latin typeface="Arial"/>
            </a:endParaRPr>
          </a:p>
        </p:txBody>
      </p:sp>
      <p:sp>
        <p:nvSpPr>
          <p:cNvPr id="103" name="Text 1"/>
          <p:cNvSpPr/>
          <p:nvPr/>
        </p:nvSpPr>
        <p:spPr>
          <a:xfrm>
            <a:off x="548640" y="384120"/>
            <a:ext cx="109720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296" strike="noStrike">
                <a:solidFill>
                  <a:srgbClr val="1c7293"/>
                </a:solidFill>
                <a:latin typeface="Calibri"/>
                <a:ea typeface="Calibri"/>
              </a:rPr>
              <a:t>THE PROBLEM</a:t>
            </a:r>
            <a:endParaRPr b="0" lang="en-US" sz="1200" spc="-1" strike="noStrike">
              <a:solidFill>
                <a:srgbClr val="000000"/>
              </a:solidFill>
              <a:latin typeface="Arial"/>
            </a:endParaRPr>
          </a:p>
        </p:txBody>
      </p:sp>
      <p:sp>
        <p:nvSpPr>
          <p:cNvPr id="104" name="Text 2"/>
          <p:cNvSpPr/>
          <p:nvPr/>
        </p:nvSpPr>
        <p:spPr>
          <a:xfrm>
            <a:off x="548640" y="658440"/>
            <a:ext cx="11063520" cy="77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900" spc="-1" strike="noStrike">
                <a:solidFill>
                  <a:srgbClr val="0e2233"/>
                </a:solidFill>
                <a:latin typeface="Cambria"/>
                <a:ea typeface="Cambria"/>
              </a:rPr>
              <a:t>Three ways to run the plant — two of them fail</a:t>
            </a:r>
            <a:endParaRPr b="0" lang="en-US" sz="2900" spc="-1" strike="noStrike">
              <a:solidFill>
                <a:srgbClr val="000000"/>
              </a:solidFill>
              <a:latin typeface="Arial"/>
            </a:endParaRPr>
          </a:p>
        </p:txBody>
      </p:sp>
      <p:sp>
        <p:nvSpPr>
          <p:cNvPr id="105" name="Text 3"/>
          <p:cNvSpPr/>
          <p:nvPr/>
        </p:nvSpPr>
        <p:spPr>
          <a:xfrm>
            <a:off x="548640" y="1389960"/>
            <a:ext cx="1106352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200" spc="-1" strike="noStrike">
                <a:solidFill>
                  <a:srgbClr val="6b7c8f"/>
                </a:solidFill>
                <a:latin typeface="Calibri"/>
                <a:ea typeface="Calibri"/>
              </a:rPr>
              <a:t>Quota: 200 kg of H₂ per day. Real clear-summer 2023 day — every number computed with the validated plant model.</a:t>
            </a:r>
            <a:endParaRPr b="0" lang="en-US" sz="1200" spc="-1" strike="noStrike">
              <a:solidFill>
                <a:srgbClr val="000000"/>
              </a:solidFill>
              <a:latin typeface="Arial"/>
            </a:endParaRPr>
          </a:p>
        </p:txBody>
      </p:sp>
      <p:sp>
        <p:nvSpPr>
          <p:cNvPr id="106" name="Shape 4"/>
          <p:cNvSpPr/>
          <p:nvPr/>
        </p:nvSpPr>
        <p:spPr>
          <a:xfrm>
            <a:off x="548640" y="1828800"/>
            <a:ext cx="3611160" cy="3519720"/>
          </a:xfrm>
          <a:prstGeom prst="roundRect">
            <a:avLst>
              <a:gd name="adj" fmla="val 2338"/>
            </a:avLst>
          </a:prstGeom>
          <a:solidFill>
            <a:srgbClr val="eef3f7"/>
          </a:solidFill>
          <a:ln w="12700">
            <a:solidFill>
              <a:srgbClr val="dce5ec"/>
            </a:solidFill>
            <a:round/>
          </a:ln>
          <a:effectLst>
            <a:outerShdw algn="bl" blurRad="114480" dir="5400000" dist="38160" kx="0" ky="0" rotWithShape="0" sx="100000" sy="100000">
              <a:srgbClr val="0e2233">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07" name="Shape 5"/>
          <p:cNvSpPr/>
          <p:nvPr/>
        </p:nvSpPr>
        <p:spPr>
          <a:xfrm>
            <a:off x="548640" y="1828800"/>
            <a:ext cx="3611160" cy="81720"/>
          </a:xfrm>
          <a:prstGeom prst="rect">
            <a:avLst/>
          </a:prstGeom>
          <a:solidFill>
            <a:srgbClr val="e2643b"/>
          </a:solidFill>
          <a:ln w="0">
            <a:noFill/>
          </a:ln>
        </p:spPr>
        <p:style>
          <a:lnRef idx="0"/>
          <a:fillRef idx="0"/>
          <a:effectRef idx="0"/>
          <a:fontRef idx="minor"/>
        </p:style>
        <p:txBody>
          <a:bodyPr lIns="90000" rIns="90000" tIns="37440" bIns="37440" anchor="t">
            <a:noAutofit/>
          </a:bodyPr>
          <a:p>
            <a:pPr>
              <a:lnSpc>
                <a:spcPct val="100000"/>
              </a:lnSpc>
            </a:pPr>
            <a:endParaRPr b="0" lang="en-US" sz="1800" spc="-1" strike="noStrike">
              <a:solidFill>
                <a:srgbClr val="ffffff"/>
              </a:solidFill>
              <a:latin typeface="Arial"/>
            </a:endParaRPr>
          </a:p>
        </p:txBody>
      </p:sp>
      <p:sp>
        <p:nvSpPr>
          <p:cNvPr id="108" name="Text 6"/>
          <p:cNvSpPr/>
          <p:nvPr/>
        </p:nvSpPr>
        <p:spPr>
          <a:xfrm>
            <a:off x="777240" y="2011680"/>
            <a:ext cx="3199680" cy="310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94" strike="noStrike">
                <a:solidFill>
                  <a:srgbClr val="e2643b"/>
                </a:solidFill>
                <a:latin typeface="Calibri"/>
                <a:ea typeface="Calibri"/>
              </a:rPr>
              <a:t>ALL GRID, RUN FLAT</a:t>
            </a:r>
            <a:endParaRPr b="0" lang="en-US" sz="1300" spc="-1" strike="noStrike">
              <a:solidFill>
                <a:srgbClr val="000000"/>
              </a:solidFill>
              <a:latin typeface="Arial"/>
            </a:endParaRPr>
          </a:p>
        </p:txBody>
      </p:sp>
      <p:sp>
        <p:nvSpPr>
          <p:cNvPr id="109" name="Shape 7"/>
          <p:cNvSpPr/>
          <p:nvPr/>
        </p:nvSpPr>
        <p:spPr>
          <a:xfrm>
            <a:off x="841320" y="2775240"/>
            <a:ext cx="95400" cy="287280"/>
          </a:xfrm>
          <a:prstGeom prst="rect">
            <a:avLst/>
          </a:prstGeom>
          <a:solidFill>
            <a:srgbClr val="b9c6d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10" name="Shape 8"/>
          <p:cNvSpPr/>
          <p:nvPr/>
        </p:nvSpPr>
        <p:spPr>
          <a:xfrm>
            <a:off x="969120" y="2775240"/>
            <a:ext cx="95400" cy="287280"/>
          </a:xfrm>
          <a:prstGeom prst="rect">
            <a:avLst/>
          </a:prstGeom>
          <a:solidFill>
            <a:srgbClr val="b9c6d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11" name="Shape 9"/>
          <p:cNvSpPr/>
          <p:nvPr/>
        </p:nvSpPr>
        <p:spPr>
          <a:xfrm>
            <a:off x="1097280" y="2775240"/>
            <a:ext cx="95400" cy="287280"/>
          </a:xfrm>
          <a:prstGeom prst="rect">
            <a:avLst/>
          </a:prstGeom>
          <a:solidFill>
            <a:srgbClr val="b9c6d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12" name="Shape 10"/>
          <p:cNvSpPr/>
          <p:nvPr/>
        </p:nvSpPr>
        <p:spPr>
          <a:xfrm>
            <a:off x="1225440" y="2775240"/>
            <a:ext cx="95400" cy="287280"/>
          </a:xfrm>
          <a:prstGeom prst="rect">
            <a:avLst/>
          </a:prstGeom>
          <a:solidFill>
            <a:srgbClr val="b9c6d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13" name="Shape 11"/>
          <p:cNvSpPr/>
          <p:nvPr/>
        </p:nvSpPr>
        <p:spPr>
          <a:xfrm>
            <a:off x="1353240" y="2775240"/>
            <a:ext cx="95400" cy="287280"/>
          </a:xfrm>
          <a:prstGeom prst="rect">
            <a:avLst/>
          </a:prstGeom>
          <a:solidFill>
            <a:srgbClr val="b9c6d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14" name="Shape 12"/>
          <p:cNvSpPr/>
          <p:nvPr/>
        </p:nvSpPr>
        <p:spPr>
          <a:xfrm>
            <a:off x="1481400" y="2775240"/>
            <a:ext cx="95400" cy="287280"/>
          </a:xfrm>
          <a:prstGeom prst="rect">
            <a:avLst/>
          </a:prstGeom>
          <a:solidFill>
            <a:srgbClr val="b9c6d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15" name="Shape 13"/>
          <p:cNvSpPr/>
          <p:nvPr/>
        </p:nvSpPr>
        <p:spPr>
          <a:xfrm>
            <a:off x="1609200" y="2775240"/>
            <a:ext cx="95400" cy="287280"/>
          </a:xfrm>
          <a:prstGeom prst="rect">
            <a:avLst/>
          </a:prstGeom>
          <a:solidFill>
            <a:srgbClr val="b9c6d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16" name="Shape 14"/>
          <p:cNvSpPr/>
          <p:nvPr/>
        </p:nvSpPr>
        <p:spPr>
          <a:xfrm>
            <a:off x="1737360" y="2775240"/>
            <a:ext cx="95400" cy="287280"/>
          </a:xfrm>
          <a:prstGeom prst="rect">
            <a:avLst/>
          </a:prstGeom>
          <a:solidFill>
            <a:srgbClr val="b9c6d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17" name="Shape 15"/>
          <p:cNvSpPr/>
          <p:nvPr/>
        </p:nvSpPr>
        <p:spPr>
          <a:xfrm>
            <a:off x="1865520" y="2775240"/>
            <a:ext cx="95400" cy="287280"/>
          </a:xfrm>
          <a:prstGeom prst="rect">
            <a:avLst/>
          </a:prstGeom>
          <a:solidFill>
            <a:srgbClr val="b9c6d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18" name="Shape 16"/>
          <p:cNvSpPr/>
          <p:nvPr/>
        </p:nvSpPr>
        <p:spPr>
          <a:xfrm>
            <a:off x="1993320" y="2775240"/>
            <a:ext cx="95400" cy="287280"/>
          </a:xfrm>
          <a:prstGeom prst="rect">
            <a:avLst/>
          </a:prstGeom>
          <a:solidFill>
            <a:srgbClr val="b9c6d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19" name="Shape 17"/>
          <p:cNvSpPr/>
          <p:nvPr/>
        </p:nvSpPr>
        <p:spPr>
          <a:xfrm>
            <a:off x="2121480" y="2775240"/>
            <a:ext cx="95400" cy="287280"/>
          </a:xfrm>
          <a:prstGeom prst="rect">
            <a:avLst/>
          </a:prstGeom>
          <a:solidFill>
            <a:srgbClr val="b9c6d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20" name="Shape 18"/>
          <p:cNvSpPr/>
          <p:nvPr/>
        </p:nvSpPr>
        <p:spPr>
          <a:xfrm>
            <a:off x="2249280" y="2775240"/>
            <a:ext cx="95400" cy="287280"/>
          </a:xfrm>
          <a:prstGeom prst="rect">
            <a:avLst/>
          </a:prstGeom>
          <a:solidFill>
            <a:srgbClr val="b9c6d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21" name="Shape 19"/>
          <p:cNvSpPr/>
          <p:nvPr/>
        </p:nvSpPr>
        <p:spPr>
          <a:xfrm>
            <a:off x="2377440" y="2775240"/>
            <a:ext cx="95400" cy="287280"/>
          </a:xfrm>
          <a:prstGeom prst="rect">
            <a:avLst/>
          </a:prstGeom>
          <a:solidFill>
            <a:srgbClr val="b9c6d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22" name="Shape 20"/>
          <p:cNvSpPr/>
          <p:nvPr/>
        </p:nvSpPr>
        <p:spPr>
          <a:xfrm>
            <a:off x="2505600" y="2775240"/>
            <a:ext cx="95400" cy="287280"/>
          </a:xfrm>
          <a:prstGeom prst="rect">
            <a:avLst/>
          </a:prstGeom>
          <a:solidFill>
            <a:srgbClr val="b9c6d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23" name="Shape 21"/>
          <p:cNvSpPr/>
          <p:nvPr/>
        </p:nvSpPr>
        <p:spPr>
          <a:xfrm>
            <a:off x="2633400" y="2775240"/>
            <a:ext cx="95400" cy="287280"/>
          </a:xfrm>
          <a:prstGeom prst="rect">
            <a:avLst/>
          </a:prstGeom>
          <a:solidFill>
            <a:srgbClr val="b9c6d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24" name="Shape 22"/>
          <p:cNvSpPr/>
          <p:nvPr/>
        </p:nvSpPr>
        <p:spPr>
          <a:xfrm>
            <a:off x="2761560" y="2775240"/>
            <a:ext cx="95400" cy="287280"/>
          </a:xfrm>
          <a:prstGeom prst="rect">
            <a:avLst/>
          </a:prstGeom>
          <a:solidFill>
            <a:srgbClr val="b9c6d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25" name="Shape 23"/>
          <p:cNvSpPr/>
          <p:nvPr/>
        </p:nvSpPr>
        <p:spPr>
          <a:xfrm>
            <a:off x="2889360" y="2775240"/>
            <a:ext cx="95400" cy="287280"/>
          </a:xfrm>
          <a:prstGeom prst="rect">
            <a:avLst/>
          </a:prstGeom>
          <a:solidFill>
            <a:srgbClr val="b9c6d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26" name="Shape 24"/>
          <p:cNvSpPr/>
          <p:nvPr/>
        </p:nvSpPr>
        <p:spPr>
          <a:xfrm>
            <a:off x="3017520" y="2775240"/>
            <a:ext cx="95400" cy="287280"/>
          </a:xfrm>
          <a:prstGeom prst="rect">
            <a:avLst/>
          </a:prstGeom>
          <a:solidFill>
            <a:srgbClr val="e2643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7" name="Shape 25"/>
          <p:cNvSpPr/>
          <p:nvPr/>
        </p:nvSpPr>
        <p:spPr>
          <a:xfrm>
            <a:off x="3145680" y="2775240"/>
            <a:ext cx="95400" cy="287280"/>
          </a:xfrm>
          <a:prstGeom prst="rect">
            <a:avLst/>
          </a:prstGeom>
          <a:solidFill>
            <a:srgbClr val="e2643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8" name="Shape 26"/>
          <p:cNvSpPr/>
          <p:nvPr/>
        </p:nvSpPr>
        <p:spPr>
          <a:xfrm>
            <a:off x="3273480" y="2775240"/>
            <a:ext cx="95400" cy="287280"/>
          </a:xfrm>
          <a:prstGeom prst="rect">
            <a:avLst/>
          </a:prstGeom>
          <a:solidFill>
            <a:srgbClr val="e2643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9" name="Shape 27"/>
          <p:cNvSpPr/>
          <p:nvPr/>
        </p:nvSpPr>
        <p:spPr>
          <a:xfrm>
            <a:off x="3401640" y="2775240"/>
            <a:ext cx="95400" cy="287280"/>
          </a:xfrm>
          <a:prstGeom prst="rect">
            <a:avLst/>
          </a:prstGeom>
          <a:solidFill>
            <a:srgbClr val="e2643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0" name="Shape 28"/>
          <p:cNvSpPr/>
          <p:nvPr/>
        </p:nvSpPr>
        <p:spPr>
          <a:xfrm>
            <a:off x="3529440" y="2775240"/>
            <a:ext cx="95400" cy="287280"/>
          </a:xfrm>
          <a:prstGeom prst="rect">
            <a:avLst/>
          </a:prstGeom>
          <a:solidFill>
            <a:srgbClr val="b9c6d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31" name="Shape 29"/>
          <p:cNvSpPr/>
          <p:nvPr/>
        </p:nvSpPr>
        <p:spPr>
          <a:xfrm>
            <a:off x="3657600" y="2775240"/>
            <a:ext cx="95400" cy="287280"/>
          </a:xfrm>
          <a:prstGeom prst="rect">
            <a:avLst/>
          </a:prstGeom>
          <a:solidFill>
            <a:srgbClr val="b9c6d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32" name="Shape 30"/>
          <p:cNvSpPr/>
          <p:nvPr/>
        </p:nvSpPr>
        <p:spPr>
          <a:xfrm>
            <a:off x="3785760" y="2775240"/>
            <a:ext cx="95400" cy="287280"/>
          </a:xfrm>
          <a:prstGeom prst="rect">
            <a:avLst/>
          </a:prstGeom>
          <a:solidFill>
            <a:srgbClr val="b9c6d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33" name="Shape 31"/>
          <p:cNvSpPr/>
          <p:nvPr/>
        </p:nvSpPr>
        <p:spPr>
          <a:xfrm>
            <a:off x="822960" y="3072240"/>
            <a:ext cx="3108960" cy="360"/>
          </a:xfrm>
          <a:prstGeom prst="line">
            <a:avLst/>
          </a:prstGeom>
          <a:ln w="12700">
            <a:solidFill>
              <a:srgbClr val="6b7c8f"/>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134" name="Text 32"/>
          <p:cNvSpPr/>
          <p:nvPr/>
        </p:nvSpPr>
        <p:spPr>
          <a:xfrm>
            <a:off x="822960" y="3108960"/>
            <a:ext cx="54792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50" spc="-1" strike="noStrike">
                <a:solidFill>
                  <a:srgbClr val="6b7c8f"/>
                </a:solidFill>
                <a:latin typeface="Calibri"/>
                <a:ea typeface="Calibri"/>
              </a:rPr>
              <a:t>0 h</a:t>
            </a:r>
            <a:endParaRPr b="0" lang="en-US" sz="850" spc="-1" strike="noStrike">
              <a:solidFill>
                <a:srgbClr val="000000"/>
              </a:solidFill>
              <a:latin typeface="Arial"/>
            </a:endParaRPr>
          </a:p>
        </p:txBody>
      </p:sp>
      <p:sp>
        <p:nvSpPr>
          <p:cNvPr id="135" name="Text 33"/>
          <p:cNvSpPr/>
          <p:nvPr/>
        </p:nvSpPr>
        <p:spPr>
          <a:xfrm>
            <a:off x="3429000" y="3108960"/>
            <a:ext cx="547920" cy="200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850" spc="-1" strike="noStrike">
                <a:solidFill>
                  <a:srgbClr val="6b7c8f"/>
                </a:solidFill>
                <a:latin typeface="Calibri"/>
                <a:ea typeface="Calibri"/>
              </a:rPr>
              <a:t>24 h</a:t>
            </a:r>
            <a:endParaRPr b="0" lang="en-US" sz="850" spc="-1" strike="noStrike">
              <a:solidFill>
                <a:srgbClr val="000000"/>
              </a:solidFill>
              <a:latin typeface="Arial"/>
            </a:endParaRPr>
          </a:p>
        </p:txBody>
      </p:sp>
      <p:sp>
        <p:nvSpPr>
          <p:cNvPr id="136" name="Text 34"/>
          <p:cNvSpPr/>
          <p:nvPr/>
        </p:nvSpPr>
        <p:spPr>
          <a:xfrm>
            <a:off x="731520" y="3364920"/>
            <a:ext cx="3245400" cy="4564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200" spc="-1" strike="noStrike">
                <a:solidFill>
                  <a:srgbClr val="e2643b"/>
                </a:solidFill>
                <a:latin typeface="Cambria"/>
                <a:ea typeface="Cambria"/>
              </a:rPr>
              <a:t>≈ </a:t>
            </a:r>
            <a:r>
              <a:rPr b="1" lang="en-US" sz="2200" spc="-1" strike="noStrike">
                <a:solidFill>
                  <a:srgbClr val="e2643b"/>
                </a:solidFill>
                <a:latin typeface="Cambria"/>
                <a:ea typeface="Cambria"/>
              </a:rPr>
              <a:t>141 DA/kg</a:t>
            </a:r>
            <a:endParaRPr b="0" lang="en-US" sz="2200" spc="-1" strike="noStrike">
              <a:solidFill>
                <a:srgbClr val="000000"/>
              </a:solidFill>
              <a:latin typeface="Arial"/>
            </a:endParaRPr>
          </a:p>
        </p:txBody>
      </p:sp>
      <p:sp>
        <p:nvSpPr>
          <p:cNvPr id="137" name="Text 35"/>
          <p:cNvSpPr/>
          <p:nvPr/>
        </p:nvSpPr>
        <p:spPr>
          <a:xfrm>
            <a:off x="804600" y="3877200"/>
            <a:ext cx="3126600" cy="968400"/>
          </a:xfrm>
          <a:prstGeom prst="rect">
            <a:avLst/>
          </a:prstGeom>
          <a:noFill/>
          <a:ln w="0">
            <a:noFill/>
          </a:ln>
        </p:spPr>
        <p:style>
          <a:lnRef idx="0"/>
          <a:fillRef idx="0"/>
          <a:effectRef idx="0"/>
          <a:fontRef idx="minor"/>
        </p:style>
        <p:txBody>
          <a:bodyPr lIns="0" rIns="0" tIns="0" bIns="0" anchor="t">
            <a:noAutofit/>
          </a:bodyPr>
          <a:p>
            <a:pPr defTabSz="914400">
              <a:lnSpc>
                <a:spcPct val="105000"/>
              </a:lnSpc>
              <a:tabLst>
                <a:tab algn="l" pos="0"/>
              </a:tabLst>
            </a:pPr>
            <a:r>
              <a:rPr b="0" lang="en-US" sz="1080" spc="-1" strike="noStrike">
                <a:solidFill>
                  <a:srgbClr val="1a2733"/>
                </a:solidFill>
                <a:latin typeface="Calibri"/>
                <a:ea typeface="Calibri"/>
              </a:rPr>
              <a:t>Ignores the free sun: 0.41 MW around the clock, paying the grid — including the 8.11 DA evening peak. 5.1× the smart cost.</a:t>
            </a:r>
            <a:endParaRPr b="0" lang="en-US" sz="1080" spc="-1" strike="noStrike">
              <a:solidFill>
                <a:srgbClr val="000000"/>
              </a:solidFill>
              <a:latin typeface="Arial"/>
            </a:endParaRPr>
          </a:p>
        </p:txBody>
      </p:sp>
      <p:sp>
        <p:nvSpPr>
          <p:cNvPr id="138" name="Shape 36"/>
          <p:cNvSpPr/>
          <p:nvPr/>
        </p:nvSpPr>
        <p:spPr>
          <a:xfrm>
            <a:off x="1325880" y="4864680"/>
            <a:ext cx="2056680" cy="383400"/>
          </a:xfrm>
          <a:prstGeom prst="roundRect">
            <a:avLst>
              <a:gd name="adj" fmla="val 50000"/>
            </a:avLst>
          </a:prstGeom>
          <a:solidFill>
            <a:srgbClr val="ffffff"/>
          </a:solidFill>
          <a:ln w="9525">
            <a:solidFill>
              <a:srgbClr val="e2643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39" name="Text 37"/>
          <p:cNvSpPr/>
          <p:nvPr/>
        </p:nvSpPr>
        <p:spPr>
          <a:xfrm>
            <a:off x="1325880" y="4864680"/>
            <a:ext cx="2056680" cy="383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50" spc="-1" strike="noStrike">
                <a:solidFill>
                  <a:srgbClr val="e2643b"/>
                </a:solidFill>
                <a:latin typeface="Calibri"/>
                <a:ea typeface="Calibri"/>
              </a:rPr>
              <a:t>✗  </a:t>
            </a:r>
            <a:r>
              <a:rPr b="1" lang="en-US" sz="1150" spc="-1" strike="noStrike">
                <a:solidFill>
                  <a:srgbClr val="e2643b"/>
                </a:solidFill>
                <a:latin typeface="Calibri"/>
                <a:ea typeface="Calibri"/>
              </a:rPr>
              <a:t>a fortune</a:t>
            </a:r>
            <a:endParaRPr b="0" lang="en-US" sz="1150" spc="-1" strike="noStrike">
              <a:solidFill>
                <a:srgbClr val="000000"/>
              </a:solidFill>
              <a:latin typeface="Arial"/>
            </a:endParaRPr>
          </a:p>
        </p:txBody>
      </p:sp>
      <p:sp>
        <p:nvSpPr>
          <p:cNvPr id="140" name="Shape 38"/>
          <p:cNvSpPr/>
          <p:nvPr/>
        </p:nvSpPr>
        <p:spPr>
          <a:xfrm>
            <a:off x="4380120" y="1828800"/>
            <a:ext cx="3611160" cy="3519720"/>
          </a:xfrm>
          <a:prstGeom prst="roundRect">
            <a:avLst>
              <a:gd name="adj" fmla="val 2338"/>
            </a:avLst>
          </a:prstGeom>
          <a:solidFill>
            <a:srgbClr val="eef3f7"/>
          </a:solidFill>
          <a:ln w="12700">
            <a:solidFill>
              <a:srgbClr val="dce5ec"/>
            </a:solidFill>
            <a:round/>
          </a:ln>
          <a:effectLst>
            <a:outerShdw algn="bl" blurRad="114480" dir="5400000" dist="38160" kx="0" ky="0" rotWithShape="0" sx="100000" sy="100000">
              <a:srgbClr val="0e2233">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41" name="Shape 39"/>
          <p:cNvSpPr/>
          <p:nvPr/>
        </p:nvSpPr>
        <p:spPr>
          <a:xfrm>
            <a:off x="4380120" y="1828800"/>
            <a:ext cx="3611160" cy="81720"/>
          </a:xfrm>
          <a:prstGeom prst="rect">
            <a:avLst/>
          </a:prstGeom>
          <a:solidFill>
            <a:srgbClr val="f4a623"/>
          </a:solidFill>
          <a:ln w="0">
            <a:noFill/>
          </a:ln>
        </p:spPr>
        <p:style>
          <a:lnRef idx="0"/>
          <a:fillRef idx="0"/>
          <a:effectRef idx="0"/>
          <a:fontRef idx="minor"/>
        </p:style>
        <p:txBody>
          <a:bodyPr lIns="90000" rIns="90000" tIns="37440" bIns="37440" anchor="t">
            <a:noAutofit/>
          </a:bodyPr>
          <a:p>
            <a:pPr>
              <a:lnSpc>
                <a:spcPct val="100000"/>
              </a:lnSpc>
            </a:pPr>
            <a:endParaRPr b="0" lang="en-US" sz="1800" spc="-1" strike="noStrike">
              <a:solidFill>
                <a:srgbClr val="000000"/>
              </a:solidFill>
              <a:latin typeface="Arial"/>
            </a:endParaRPr>
          </a:p>
        </p:txBody>
      </p:sp>
      <p:sp>
        <p:nvSpPr>
          <p:cNvPr id="142" name="Text 40"/>
          <p:cNvSpPr/>
          <p:nvPr/>
        </p:nvSpPr>
        <p:spPr>
          <a:xfrm>
            <a:off x="4608720" y="2011680"/>
            <a:ext cx="3199680" cy="310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94" strike="noStrike">
                <a:solidFill>
                  <a:srgbClr val="f4a623"/>
                </a:solidFill>
                <a:latin typeface="Calibri"/>
                <a:ea typeface="Calibri"/>
              </a:rPr>
              <a:t>SOLAR ONLY</a:t>
            </a:r>
            <a:endParaRPr b="0" lang="en-US" sz="1300" spc="-1" strike="noStrike">
              <a:solidFill>
                <a:srgbClr val="000000"/>
              </a:solidFill>
              <a:latin typeface="Arial"/>
            </a:endParaRPr>
          </a:p>
        </p:txBody>
      </p:sp>
      <p:sp>
        <p:nvSpPr>
          <p:cNvPr id="143" name="Shape 41"/>
          <p:cNvSpPr/>
          <p:nvPr/>
        </p:nvSpPr>
        <p:spPr>
          <a:xfrm>
            <a:off x="5440680" y="2995920"/>
            <a:ext cx="95400" cy="66600"/>
          </a:xfrm>
          <a:prstGeom prst="rect">
            <a:avLst/>
          </a:prstGeom>
          <a:solidFill>
            <a:srgbClr val="f4a623"/>
          </a:solidFill>
          <a:ln w="0">
            <a:noFill/>
          </a:ln>
        </p:spPr>
        <p:style>
          <a:lnRef idx="0"/>
          <a:fillRef idx="0"/>
          <a:effectRef idx="0"/>
          <a:fontRef idx="minor"/>
        </p:style>
        <p:txBody>
          <a:bodyPr lIns="90000" rIns="90000" tIns="22320" bIns="22320" anchor="t">
            <a:noAutofit/>
          </a:bodyPr>
          <a:p>
            <a:pPr>
              <a:lnSpc>
                <a:spcPct val="100000"/>
              </a:lnSpc>
            </a:pPr>
            <a:endParaRPr b="0" lang="en-US" sz="1800" spc="-1" strike="noStrike">
              <a:solidFill>
                <a:srgbClr val="000000"/>
              </a:solidFill>
              <a:latin typeface="Arial"/>
            </a:endParaRPr>
          </a:p>
        </p:txBody>
      </p:sp>
      <p:sp>
        <p:nvSpPr>
          <p:cNvPr id="144" name="Shape 42"/>
          <p:cNvSpPr/>
          <p:nvPr/>
        </p:nvSpPr>
        <p:spPr>
          <a:xfrm>
            <a:off x="5568840" y="2890440"/>
            <a:ext cx="95400" cy="172080"/>
          </a:xfrm>
          <a:prstGeom prst="rect">
            <a:avLst/>
          </a:prstGeom>
          <a:solidFill>
            <a:srgbClr val="f4a62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45" name="Shape 43"/>
          <p:cNvSpPr/>
          <p:nvPr/>
        </p:nvSpPr>
        <p:spPr>
          <a:xfrm>
            <a:off x="5696640" y="2794320"/>
            <a:ext cx="95400" cy="268200"/>
          </a:xfrm>
          <a:prstGeom prst="rect">
            <a:avLst/>
          </a:prstGeom>
          <a:solidFill>
            <a:srgbClr val="f4a62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46" name="Shape 44"/>
          <p:cNvSpPr/>
          <p:nvPr/>
        </p:nvSpPr>
        <p:spPr>
          <a:xfrm>
            <a:off x="5824800" y="2698560"/>
            <a:ext cx="95400" cy="363960"/>
          </a:xfrm>
          <a:prstGeom prst="rect">
            <a:avLst/>
          </a:prstGeom>
          <a:solidFill>
            <a:srgbClr val="f4a62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47" name="Shape 45"/>
          <p:cNvSpPr/>
          <p:nvPr/>
        </p:nvSpPr>
        <p:spPr>
          <a:xfrm>
            <a:off x="5952600" y="2621520"/>
            <a:ext cx="95400" cy="441000"/>
          </a:xfrm>
          <a:prstGeom prst="rect">
            <a:avLst/>
          </a:prstGeom>
          <a:solidFill>
            <a:srgbClr val="f4a62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48" name="Shape 46"/>
          <p:cNvSpPr/>
          <p:nvPr/>
        </p:nvSpPr>
        <p:spPr>
          <a:xfrm>
            <a:off x="6080760" y="2573640"/>
            <a:ext cx="95400" cy="488880"/>
          </a:xfrm>
          <a:prstGeom prst="rect">
            <a:avLst/>
          </a:prstGeom>
          <a:solidFill>
            <a:srgbClr val="f4a62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49" name="Shape 47"/>
          <p:cNvSpPr/>
          <p:nvPr/>
        </p:nvSpPr>
        <p:spPr>
          <a:xfrm>
            <a:off x="6208920" y="2554200"/>
            <a:ext cx="95400" cy="508320"/>
          </a:xfrm>
          <a:prstGeom prst="rect">
            <a:avLst/>
          </a:prstGeom>
          <a:solidFill>
            <a:srgbClr val="f4a62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50" name="Shape 48"/>
          <p:cNvSpPr/>
          <p:nvPr/>
        </p:nvSpPr>
        <p:spPr>
          <a:xfrm>
            <a:off x="6336720" y="2583360"/>
            <a:ext cx="95400" cy="479520"/>
          </a:xfrm>
          <a:prstGeom prst="rect">
            <a:avLst/>
          </a:prstGeom>
          <a:solidFill>
            <a:srgbClr val="f4a62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51" name="Shape 49"/>
          <p:cNvSpPr/>
          <p:nvPr/>
        </p:nvSpPr>
        <p:spPr>
          <a:xfrm>
            <a:off x="6464880" y="2640960"/>
            <a:ext cx="95400" cy="421560"/>
          </a:xfrm>
          <a:prstGeom prst="rect">
            <a:avLst/>
          </a:prstGeom>
          <a:solidFill>
            <a:srgbClr val="f4a62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52" name="Shape 50"/>
          <p:cNvSpPr/>
          <p:nvPr/>
        </p:nvSpPr>
        <p:spPr>
          <a:xfrm>
            <a:off x="6592680" y="2727360"/>
            <a:ext cx="95400" cy="335160"/>
          </a:xfrm>
          <a:prstGeom prst="rect">
            <a:avLst/>
          </a:prstGeom>
          <a:solidFill>
            <a:srgbClr val="f4a62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53" name="Shape 51"/>
          <p:cNvSpPr/>
          <p:nvPr/>
        </p:nvSpPr>
        <p:spPr>
          <a:xfrm>
            <a:off x="6720840" y="2832840"/>
            <a:ext cx="95400" cy="229680"/>
          </a:xfrm>
          <a:prstGeom prst="rect">
            <a:avLst/>
          </a:prstGeom>
          <a:solidFill>
            <a:srgbClr val="f4a62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54" name="Shape 52"/>
          <p:cNvSpPr/>
          <p:nvPr/>
        </p:nvSpPr>
        <p:spPr>
          <a:xfrm>
            <a:off x="6849000" y="2948040"/>
            <a:ext cx="95400" cy="114480"/>
          </a:xfrm>
          <a:prstGeom prst="rect">
            <a:avLst/>
          </a:prstGeom>
          <a:solidFill>
            <a:srgbClr val="f4a62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55" name="Shape 53"/>
          <p:cNvSpPr/>
          <p:nvPr/>
        </p:nvSpPr>
        <p:spPr>
          <a:xfrm>
            <a:off x="6976800" y="3024720"/>
            <a:ext cx="95400" cy="37800"/>
          </a:xfrm>
          <a:prstGeom prst="rect">
            <a:avLst/>
          </a:prstGeom>
          <a:solidFill>
            <a:srgbClr val="f4a623"/>
          </a:solidFill>
          <a:ln w="0">
            <a:noFill/>
          </a:ln>
        </p:spPr>
        <p:style>
          <a:lnRef idx="0"/>
          <a:fillRef idx="0"/>
          <a:effectRef idx="0"/>
          <a:fontRef idx="minor"/>
        </p:style>
        <p:txBody>
          <a:bodyPr lIns="90000" rIns="90000" tIns="-6480" bIns="-6480" anchor="t">
            <a:noAutofit/>
          </a:bodyPr>
          <a:p>
            <a:pPr>
              <a:lnSpc>
                <a:spcPct val="100000"/>
              </a:lnSpc>
            </a:pPr>
            <a:endParaRPr b="0" lang="en-US" sz="1800" spc="-1" strike="noStrike">
              <a:solidFill>
                <a:srgbClr val="000000"/>
              </a:solidFill>
              <a:latin typeface="Arial"/>
            </a:endParaRPr>
          </a:p>
        </p:txBody>
      </p:sp>
      <p:sp>
        <p:nvSpPr>
          <p:cNvPr id="156" name="Shape 54"/>
          <p:cNvSpPr/>
          <p:nvPr/>
        </p:nvSpPr>
        <p:spPr>
          <a:xfrm>
            <a:off x="4654080" y="3072240"/>
            <a:ext cx="3108960" cy="360"/>
          </a:xfrm>
          <a:prstGeom prst="line">
            <a:avLst/>
          </a:prstGeom>
          <a:ln w="12700">
            <a:solidFill>
              <a:srgbClr val="6b7c8f"/>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157" name="Text 55"/>
          <p:cNvSpPr/>
          <p:nvPr/>
        </p:nvSpPr>
        <p:spPr>
          <a:xfrm>
            <a:off x="4654440" y="3108960"/>
            <a:ext cx="54792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50" spc="-1" strike="noStrike">
                <a:solidFill>
                  <a:srgbClr val="6b7c8f"/>
                </a:solidFill>
                <a:latin typeface="Calibri"/>
                <a:ea typeface="Calibri"/>
              </a:rPr>
              <a:t>0 h</a:t>
            </a:r>
            <a:endParaRPr b="0" lang="en-US" sz="850" spc="-1" strike="noStrike">
              <a:solidFill>
                <a:srgbClr val="000000"/>
              </a:solidFill>
              <a:latin typeface="Arial"/>
            </a:endParaRPr>
          </a:p>
        </p:txBody>
      </p:sp>
      <p:sp>
        <p:nvSpPr>
          <p:cNvPr id="158" name="Text 56"/>
          <p:cNvSpPr/>
          <p:nvPr/>
        </p:nvSpPr>
        <p:spPr>
          <a:xfrm>
            <a:off x="7260480" y="3108960"/>
            <a:ext cx="547920" cy="200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850" spc="-1" strike="noStrike">
                <a:solidFill>
                  <a:srgbClr val="6b7c8f"/>
                </a:solidFill>
                <a:latin typeface="Calibri"/>
                <a:ea typeface="Calibri"/>
              </a:rPr>
              <a:t>24 h</a:t>
            </a:r>
            <a:endParaRPr b="0" lang="en-US" sz="850" spc="-1" strike="noStrike">
              <a:solidFill>
                <a:srgbClr val="000000"/>
              </a:solidFill>
              <a:latin typeface="Arial"/>
            </a:endParaRPr>
          </a:p>
        </p:txBody>
      </p:sp>
      <p:sp>
        <p:nvSpPr>
          <p:cNvPr id="159" name="Text 57"/>
          <p:cNvSpPr/>
          <p:nvPr/>
        </p:nvSpPr>
        <p:spPr>
          <a:xfrm>
            <a:off x="4563000" y="3364920"/>
            <a:ext cx="3245400" cy="4564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200" spc="-1" strike="noStrike">
                <a:solidFill>
                  <a:srgbClr val="f4a623"/>
                </a:solidFill>
                <a:latin typeface="Cambria"/>
                <a:ea typeface="Cambria"/>
              </a:rPr>
              <a:t>117 kg — 59 %</a:t>
            </a:r>
            <a:endParaRPr b="0" lang="en-US" sz="2200" spc="-1" strike="noStrike">
              <a:solidFill>
                <a:srgbClr val="000000"/>
              </a:solidFill>
              <a:latin typeface="Arial"/>
            </a:endParaRPr>
          </a:p>
        </p:txBody>
      </p:sp>
      <p:sp>
        <p:nvSpPr>
          <p:cNvPr id="160" name="Text 58"/>
          <p:cNvSpPr/>
          <p:nvPr/>
        </p:nvSpPr>
        <p:spPr>
          <a:xfrm>
            <a:off x="4636080" y="3877200"/>
            <a:ext cx="3126600" cy="968400"/>
          </a:xfrm>
          <a:prstGeom prst="rect">
            <a:avLst/>
          </a:prstGeom>
          <a:noFill/>
          <a:ln w="0">
            <a:noFill/>
          </a:ln>
        </p:spPr>
        <p:style>
          <a:lnRef idx="0"/>
          <a:fillRef idx="0"/>
          <a:effectRef idx="0"/>
          <a:fontRef idx="minor"/>
        </p:style>
        <p:txBody>
          <a:bodyPr lIns="0" rIns="0" tIns="0" bIns="0" anchor="t">
            <a:noAutofit/>
          </a:bodyPr>
          <a:p>
            <a:pPr defTabSz="914400">
              <a:lnSpc>
                <a:spcPct val="105000"/>
              </a:lnSpc>
              <a:tabLst>
                <a:tab algn="l" pos="0"/>
              </a:tabLst>
            </a:pPr>
            <a:r>
              <a:rPr b="0" lang="en-US" sz="1080" spc="-1" strike="noStrike">
                <a:solidFill>
                  <a:srgbClr val="1a2733"/>
                </a:solidFill>
                <a:latin typeface="Calibri"/>
                <a:ea typeface="Calibri"/>
              </a:rPr>
              <a:t>Free energy, zero bill — but it starves the quota (117 of 200 kg) and the 0.8 MW stack sits idle 47 % of the day.</a:t>
            </a:r>
            <a:endParaRPr b="0" lang="en-US" sz="1080" spc="-1" strike="noStrike">
              <a:solidFill>
                <a:srgbClr val="000000"/>
              </a:solidFill>
              <a:latin typeface="Arial"/>
            </a:endParaRPr>
          </a:p>
        </p:txBody>
      </p:sp>
      <p:sp>
        <p:nvSpPr>
          <p:cNvPr id="161" name="Shape 59"/>
          <p:cNvSpPr/>
          <p:nvPr/>
        </p:nvSpPr>
        <p:spPr>
          <a:xfrm>
            <a:off x="5157360" y="4864680"/>
            <a:ext cx="2056680" cy="383400"/>
          </a:xfrm>
          <a:prstGeom prst="roundRect">
            <a:avLst>
              <a:gd name="adj" fmla="val 50000"/>
            </a:avLst>
          </a:prstGeom>
          <a:solidFill>
            <a:srgbClr val="ffffff"/>
          </a:solidFill>
          <a:ln w="9525">
            <a:solidFill>
              <a:srgbClr val="f4a623"/>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62" name="Text 60"/>
          <p:cNvSpPr/>
          <p:nvPr/>
        </p:nvSpPr>
        <p:spPr>
          <a:xfrm>
            <a:off x="5157360" y="4864680"/>
            <a:ext cx="2056680" cy="383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50" spc="-1" strike="noStrike">
                <a:solidFill>
                  <a:srgbClr val="f4a623"/>
                </a:solidFill>
                <a:latin typeface="Calibri"/>
                <a:ea typeface="Calibri"/>
              </a:rPr>
              <a:t>✗  </a:t>
            </a:r>
            <a:r>
              <a:rPr b="1" lang="en-US" sz="1150" spc="-1" strike="noStrike">
                <a:solidFill>
                  <a:srgbClr val="f4a623"/>
                </a:solidFill>
                <a:latin typeface="Calibri"/>
                <a:ea typeface="Calibri"/>
              </a:rPr>
              <a:t>starves demand</a:t>
            </a:r>
            <a:endParaRPr b="0" lang="en-US" sz="1150" spc="-1" strike="noStrike">
              <a:solidFill>
                <a:srgbClr val="000000"/>
              </a:solidFill>
              <a:latin typeface="Arial"/>
            </a:endParaRPr>
          </a:p>
        </p:txBody>
      </p:sp>
      <p:sp>
        <p:nvSpPr>
          <p:cNvPr id="163" name="Shape 61"/>
          <p:cNvSpPr/>
          <p:nvPr/>
        </p:nvSpPr>
        <p:spPr>
          <a:xfrm>
            <a:off x="8211240" y="1828800"/>
            <a:ext cx="3611160" cy="3519720"/>
          </a:xfrm>
          <a:prstGeom prst="roundRect">
            <a:avLst>
              <a:gd name="adj" fmla="val 2338"/>
            </a:avLst>
          </a:prstGeom>
          <a:solidFill>
            <a:srgbClr val="eef3f7"/>
          </a:solidFill>
          <a:ln w="12700">
            <a:solidFill>
              <a:srgbClr val="dce5ec"/>
            </a:solidFill>
            <a:round/>
          </a:ln>
          <a:effectLst>
            <a:outerShdw algn="bl" blurRad="114480" dir="5400000" dist="38160" kx="0" ky="0" rotWithShape="0" sx="100000" sy="100000">
              <a:srgbClr val="0e2233">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64" name="Shape 62"/>
          <p:cNvSpPr/>
          <p:nvPr/>
        </p:nvSpPr>
        <p:spPr>
          <a:xfrm>
            <a:off x="8211240" y="1828800"/>
            <a:ext cx="3611160" cy="81720"/>
          </a:xfrm>
          <a:prstGeom prst="rect">
            <a:avLst/>
          </a:prstGeom>
          <a:solidFill>
            <a:srgbClr val="2a9d8f"/>
          </a:solidFill>
          <a:ln w="0">
            <a:noFill/>
          </a:ln>
        </p:spPr>
        <p:style>
          <a:lnRef idx="0"/>
          <a:fillRef idx="0"/>
          <a:effectRef idx="0"/>
          <a:fontRef idx="minor"/>
        </p:style>
        <p:txBody>
          <a:bodyPr lIns="90000" rIns="90000" tIns="37440" bIns="37440" anchor="t">
            <a:noAutofit/>
          </a:bodyPr>
          <a:p>
            <a:pPr>
              <a:lnSpc>
                <a:spcPct val="100000"/>
              </a:lnSpc>
            </a:pPr>
            <a:endParaRPr b="0" lang="en-US" sz="1800" spc="-1" strike="noStrike">
              <a:solidFill>
                <a:srgbClr val="ffffff"/>
              </a:solidFill>
              <a:latin typeface="Arial"/>
            </a:endParaRPr>
          </a:p>
        </p:txBody>
      </p:sp>
      <p:sp>
        <p:nvSpPr>
          <p:cNvPr id="165" name="Text 63"/>
          <p:cNvSpPr/>
          <p:nvPr/>
        </p:nvSpPr>
        <p:spPr>
          <a:xfrm>
            <a:off x="8439840" y="2011680"/>
            <a:ext cx="3199680" cy="310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94" strike="noStrike">
                <a:solidFill>
                  <a:srgbClr val="2a9d8f"/>
                </a:solidFill>
                <a:latin typeface="Calibri"/>
                <a:ea typeface="Calibri"/>
              </a:rPr>
              <a:t>THE SMART MIX</a:t>
            </a:r>
            <a:endParaRPr b="0" lang="en-US" sz="1300" spc="-1" strike="noStrike">
              <a:solidFill>
                <a:srgbClr val="000000"/>
              </a:solidFill>
              <a:latin typeface="Arial"/>
            </a:endParaRPr>
          </a:p>
        </p:txBody>
      </p:sp>
      <p:sp>
        <p:nvSpPr>
          <p:cNvPr id="166" name="Shape 64"/>
          <p:cNvSpPr/>
          <p:nvPr/>
        </p:nvSpPr>
        <p:spPr>
          <a:xfrm>
            <a:off x="8503920" y="2660040"/>
            <a:ext cx="95400" cy="402480"/>
          </a:xfrm>
          <a:prstGeom prst="rect">
            <a:avLst/>
          </a:prstGeom>
          <a:solidFill>
            <a:srgbClr val="1c729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7" name="Shape 65"/>
          <p:cNvSpPr/>
          <p:nvPr/>
        </p:nvSpPr>
        <p:spPr>
          <a:xfrm>
            <a:off x="8632080" y="2660040"/>
            <a:ext cx="95400" cy="402480"/>
          </a:xfrm>
          <a:prstGeom prst="rect">
            <a:avLst/>
          </a:prstGeom>
          <a:solidFill>
            <a:srgbClr val="1c729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8" name="Shape 66"/>
          <p:cNvSpPr/>
          <p:nvPr/>
        </p:nvSpPr>
        <p:spPr>
          <a:xfrm>
            <a:off x="8759880" y="2660040"/>
            <a:ext cx="95400" cy="402480"/>
          </a:xfrm>
          <a:prstGeom prst="rect">
            <a:avLst/>
          </a:prstGeom>
          <a:solidFill>
            <a:srgbClr val="1c729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9" name="Shape 67"/>
          <p:cNvSpPr/>
          <p:nvPr/>
        </p:nvSpPr>
        <p:spPr>
          <a:xfrm>
            <a:off x="8888040" y="2660040"/>
            <a:ext cx="95400" cy="402480"/>
          </a:xfrm>
          <a:prstGeom prst="rect">
            <a:avLst/>
          </a:prstGeom>
          <a:solidFill>
            <a:srgbClr val="1c729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0" name="Shape 68"/>
          <p:cNvSpPr/>
          <p:nvPr/>
        </p:nvSpPr>
        <p:spPr>
          <a:xfrm>
            <a:off x="9015840" y="2660040"/>
            <a:ext cx="95400" cy="402480"/>
          </a:xfrm>
          <a:prstGeom prst="rect">
            <a:avLst/>
          </a:prstGeom>
          <a:solidFill>
            <a:srgbClr val="1c729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1" name="Shape 69"/>
          <p:cNvSpPr/>
          <p:nvPr/>
        </p:nvSpPr>
        <p:spPr>
          <a:xfrm>
            <a:off x="9144000" y="2660040"/>
            <a:ext cx="95400" cy="402480"/>
          </a:xfrm>
          <a:prstGeom prst="rect">
            <a:avLst/>
          </a:prstGeom>
          <a:solidFill>
            <a:srgbClr val="1c729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2" name="Shape 70"/>
          <p:cNvSpPr/>
          <p:nvPr/>
        </p:nvSpPr>
        <p:spPr>
          <a:xfrm>
            <a:off x="9272160" y="2871360"/>
            <a:ext cx="95400" cy="191160"/>
          </a:xfrm>
          <a:prstGeom prst="rect">
            <a:avLst/>
          </a:prstGeom>
          <a:solidFill>
            <a:srgbClr val="2a9d8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3" name="Shape 71"/>
          <p:cNvSpPr/>
          <p:nvPr/>
        </p:nvSpPr>
        <p:spPr>
          <a:xfrm>
            <a:off x="9399960" y="2727360"/>
            <a:ext cx="95400" cy="335160"/>
          </a:xfrm>
          <a:prstGeom prst="rect">
            <a:avLst/>
          </a:prstGeom>
          <a:solidFill>
            <a:srgbClr val="2a9d8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4" name="Shape 72"/>
          <p:cNvSpPr/>
          <p:nvPr/>
        </p:nvSpPr>
        <p:spPr>
          <a:xfrm>
            <a:off x="9528120" y="2583360"/>
            <a:ext cx="95400" cy="479520"/>
          </a:xfrm>
          <a:prstGeom prst="rect">
            <a:avLst/>
          </a:prstGeom>
          <a:solidFill>
            <a:srgbClr val="2a9d8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5" name="Shape 73"/>
          <p:cNvSpPr/>
          <p:nvPr/>
        </p:nvSpPr>
        <p:spPr>
          <a:xfrm>
            <a:off x="9655920" y="2583360"/>
            <a:ext cx="95400" cy="479520"/>
          </a:xfrm>
          <a:prstGeom prst="rect">
            <a:avLst/>
          </a:prstGeom>
          <a:solidFill>
            <a:srgbClr val="2a9d8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6" name="Shape 74"/>
          <p:cNvSpPr/>
          <p:nvPr/>
        </p:nvSpPr>
        <p:spPr>
          <a:xfrm>
            <a:off x="9784080" y="2583360"/>
            <a:ext cx="95400" cy="479520"/>
          </a:xfrm>
          <a:prstGeom prst="rect">
            <a:avLst/>
          </a:prstGeom>
          <a:solidFill>
            <a:srgbClr val="2a9d8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7" name="Shape 75"/>
          <p:cNvSpPr/>
          <p:nvPr/>
        </p:nvSpPr>
        <p:spPr>
          <a:xfrm>
            <a:off x="9912240" y="2583360"/>
            <a:ext cx="95400" cy="479520"/>
          </a:xfrm>
          <a:prstGeom prst="rect">
            <a:avLst/>
          </a:prstGeom>
          <a:solidFill>
            <a:srgbClr val="2a9d8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8" name="Shape 76"/>
          <p:cNvSpPr/>
          <p:nvPr/>
        </p:nvSpPr>
        <p:spPr>
          <a:xfrm>
            <a:off x="10040040" y="2583360"/>
            <a:ext cx="95400" cy="479520"/>
          </a:xfrm>
          <a:prstGeom prst="rect">
            <a:avLst/>
          </a:prstGeom>
          <a:solidFill>
            <a:srgbClr val="2a9d8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9" name="Shape 77"/>
          <p:cNvSpPr/>
          <p:nvPr/>
        </p:nvSpPr>
        <p:spPr>
          <a:xfrm>
            <a:off x="10168200" y="2583360"/>
            <a:ext cx="95400" cy="479520"/>
          </a:xfrm>
          <a:prstGeom prst="rect">
            <a:avLst/>
          </a:prstGeom>
          <a:solidFill>
            <a:srgbClr val="2a9d8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0" name="Shape 78"/>
          <p:cNvSpPr/>
          <p:nvPr/>
        </p:nvSpPr>
        <p:spPr>
          <a:xfrm>
            <a:off x="10296000" y="2583360"/>
            <a:ext cx="95400" cy="479520"/>
          </a:xfrm>
          <a:prstGeom prst="rect">
            <a:avLst/>
          </a:prstGeom>
          <a:solidFill>
            <a:srgbClr val="2a9d8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1" name="Shape 79"/>
          <p:cNvSpPr/>
          <p:nvPr/>
        </p:nvSpPr>
        <p:spPr>
          <a:xfrm>
            <a:off x="10424160" y="2583360"/>
            <a:ext cx="95400" cy="479520"/>
          </a:xfrm>
          <a:prstGeom prst="rect">
            <a:avLst/>
          </a:prstGeom>
          <a:solidFill>
            <a:srgbClr val="2a9d8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2" name="Shape 80"/>
          <p:cNvSpPr/>
          <p:nvPr/>
        </p:nvSpPr>
        <p:spPr>
          <a:xfrm>
            <a:off x="10552320" y="2583360"/>
            <a:ext cx="95400" cy="479520"/>
          </a:xfrm>
          <a:prstGeom prst="rect">
            <a:avLst/>
          </a:prstGeom>
          <a:solidFill>
            <a:srgbClr val="2a9d8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3" name="Shape 81"/>
          <p:cNvSpPr/>
          <p:nvPr/>
        </p:nvSpPr>
        <p:spPr>
          <a:xfrm>
            <a:off x="11192400" y="2775240"/>
            <a:ext cx="95400" cy="287280"/>
          </a:xfrm>
          <a:prstGeom prst="rect">
            <a:avLst/>
          </a:prstGeom>
          <a:solidFill>
            <a:srgbClr val="1c729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4" name="Shape 82"/>
          <p:cNvSpPr/>
          <p:nvPr/>
        </p:nvSpPr>
        <p:spPr>
          <a:xfrm>
            <a:off x="11320200" y="2660040"/>
            <a:ext cx="95400" cy="402480"/>
          </a:xfrm>
          <a:prstGeom prst="rect">
            <a:avLst/>
          </a:prstGeom>
          <a:solidFill>
            <a:srgbClr val="1c729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5" name="Shape 83"/>
          <p:cNvSpPr/>
          <p:nvPr/>
        </p:nvSpPr>
        <p:spPr>
          <a:xfrm>
            <a:off x="11448360" y="2660040"/>
            <a:ext cx="95400" cy="402480"/>
          </a:xfrm>
          <a:prstGeom prst="rect">
            <a:avLst/>
          </a:prstGeom>
          <a:solidFill>
            <a:srgbClr val="1c729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6" name="Shape 84"/>
          <p:cNvSpPr/>
          <p:nvPr/>
        </p:nvSpPr>
        <p:spPr>
          <a:xfrm>
            <a:off x="8485560" y="3072240"/>
            <a:ext cx="3108960" cy="360"/>
          </a:xfrm>
          <a:prstGeom prst="line">
            <a:avLst/>
          </a:prstGeom>
          <a:ln w="12700">
            <a:solidFill>
              <a:srgbClr val="6b7c8f"/>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187" name="Text 85"/>
          <p:cNvSpPr/>
          <p:nvPr/>
        </p:nvSpPr>
        <p:spPr>
          <a:xfrm>
            <a:off x="8485560" y="3108960"/>
            <a:ext cx="54792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50" spc="-1" strike="noStrike">
                <a:solidFill>
                  <a:srgbClr val="6b7c8f"/>
                </a:solidFill>
                <a:latin typeface="Calibri"/>
                <a:ea typeface="Calibri"/>
              </a:rPr>
              <a:t>0 h</a:t>
            </a:r>
            <a:endParaRPr b="0" lang="en-US" sz="850" spc="-1" strike="noStrike">
              <a:solidFill>
                <a:srgbClr val="000000"/>
              </a:solidFill>
              <a:latin typeface="Arial"/>
            </a:endParaRPr>
          </a:p>
        </p:txBody>
      </p:sp>
      <p:sp>
        <p:nvSpPr>
          <p:cNvPr id="188" name="Text 86"/>
          <p:cNvSpPr/>
          <p:nvPr/>
        </p:nvSpPr>
        <p:spPr>
          <a:xfrm>
            <a:off x="11091600" y="3108960"/>
            <a:ext cx="547920" cy="200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850" spc="-1" strike="noStrike">
                <a:solidFill>
                  <a:srgbClr val="6b7c8f"/>
                </a:solidFill>
                <a:latin typeface="Calibri"/>
                <a:ea typeface="Calibri"/>
              </a:rPr>
              <a:t>24 h</a:t>
            </a:r>
            <a:endParaRPr b="0" lang="en-US" sz="850" spc="-1" strike="noStrike">
              <a:solidFill>
                <a:srgbClr val="000000"/>
              </a:solidFill>
              <a:latin typeface="Arial"/>
            </a:endParaRPr>
          </a:p>
        </p:txBody>
      </p:sp>
      <p:sp>
        <p:nvSpPr>
          <p:cNvPr id="189" name="Text 87"/>
          <p:cNvSpPr/>
          <p:nvPr/>
        </p:nvSpPr>
        <p:spPr>
          <a:xfrm>
            <a:off x="8394120" y="3364920"/>
            <a:ext cx="3245400" cy="4564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200" spc="-1" strike="noStrike">
                <a:solidFill>
                  <a:srgbClr val="2a9d8f"/>
                </a:solidFill>
                <a:latin typeface="Cambria"/>
                <a:ea typeface="Cambria"/>
              </a:rPr>
              <a:t>27.8 DA/kg ✓</a:t>
            </a:r>
            <a:endParaRPr b="0" lang="en-US" sz="2200" spc="-1" strike="noStrike">
              <a:solidFill>
                <a:srgbClr val="000000"/>
              </a:solidFill>
              <a:latin typeface="Arial"/>
            </a:endParaRPr>
          </a:p>
        </p:txBody>
      </p:sp>
      <p:sp>
        <p:nvSpPr>
          <p:cNvPr id="190" name="Text 88"/>
          <p:cNvSpPr/>
          <p:nvPr/>
        </p:nvSpPr>
        <p:spPr>
          <a:xfrm>
            <a:off x="8467200" y="3877200"/>
            <a:ext cx="3126600" cy="968400"/>
          </a:xfrm>
          <a:prstGeom prst="rect">
            <a:avLst/>
          </a:prstGeom>
          <a:noFill/>
          <a:ln w="0">
            <a:noFill/>
          </a:ln>
        </p:spPr>
        <p:style>
          <a:lnRef idx="0"/>
          <a:fillRef idx="0"/>
          <a:effectRef idx="0"/>
          <a:fontRef idx="minor"/>
        </p:style>
        <p:txBody>
          <a:bodyPr lIns="0" rIns="0" tIns="0" bIns="0" anchor="t">
            <a:noAutofit/>
          </a:bodyPr>
          <a:p>
            <a:pPr defTabSz="914400">
              <a:lnSpc>
                <a:spcPct val="105000"/>
              </a:lnSpc>
              <a:tabLst>
                <a:tab algn="l" pos="0"/>
              </a:tabLst>
            </a:pPr>
            <a:r>
              <a:rPr b="0" lang="en-US" sz="1080" spc="-1" strike="noStrike">
                <a:solidFill>
                  <a:srgbClr val="1a2733"/>
                </a:solidFill>
                <a:latin typeface="Calibri"/>
                <a:ea typeface="Calibri"/>
              </a:rPr>
              <a:t>Cheap night grid + free midday sun + shut through the peak → the full 200 kg. But which hours, how hard — under weather you can't predict?</a:t>
            </a:r>
            <a:endParaRPr b="0" lang="en-US" sz="1080" spc="-1" strike="noStrike">
              <a:solidFill>
                <a:srgbClr val="000000"/>
              </a:solidFill>
              <a:latin typeface="Arial"/>
            </a:endParaRPr>
          </a:p>
        </p:txBody>
      </p:sp>
      <p:sp>
        <p:nvSpPr>
          <p:cNvPr id="191" name="Shape 89"/>
          <p:cNvSpPr/>
          <p:nvPr/>
        </p:nvSpPr>
        <p:spPr>
          <a:xfrm>
            <a:off x="8988480" y="4864680"/>
            <a:ext cx="2056680" cy="383400"/>
          </a:xfrm>
          <a:prstGeom prst="roundRect">
            <a:avLst>
              <a:gd name="adj" fmla="val 50000"/>
            </a:avLst>
          </a:prstGeom>
          <a:solidFill>
            <a:srgbClr val="ffffff"/>
          </a:solidFill>
          <a:ln w="9525">
            <a:solidFill>
              <a:srgbClr val="2a9d8f"/>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92" name="Text 90"/>
          <p:cNvSpPr/>
          <p:nvPr/>
        </p:nvSpPr>
        <p:spPr>
          <a:xfrm>
            <a:off x="8988480" y="4864680"/>
            <a:ext cx="2056680" cy="383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50" spc="-1" strike="noStrike">
                <a:solidFill>
                  <a:srgbClr val="2a9d8f"/>
                </a:solidFill>
                <a:latin typeface="Calibri"/>
                <a:ea typeface="Calibri"/>
              </a:rPr>
              <a:t>→  </a:t>
            </a:r>
            <a:r>
              <a:rPr b="1" lang="en-US" sz="1150" spc="-1" strike="noStrike">
                <a:solidFill>
                  <a:srgbClr val="2a9d8f"/>
                </a:solidFill>
                <a:latin typeface="Calibri"/>
                <a:ea typeface="Calibri"/>
              </a:rPr>
              <a:t>24 decisions, every day</a:t>
            </a:r>
            <a:endParaRPr b="0" lang="en-US" sz="1150" spc="-1" strike="noStrike">
              <a:solidFill>
                <a:srgbClr val="000000"/>
              </a:solidFill>
              <a:latin typeface="Arial"/>
            </a:endParaRPr>
          </a:p>
        </p:txBody>
      </p:sp>
      <p:sp>
        <p:nvSpPr>
          <p:cNvPr id="193" name="Shape 91"/>
          <p:cNvSpPr/>
          <p:nvPr/>
        </p:nvSpPr>
        <p:spPr>
          <a:xfrm>
            <a:off x="548640" y="5669280"/>
            <a:ext cx="11090880" cy="566280"/>
          </a:xfrm>
          <a:prstGeom prst="roundRect">
            <a:avLst>
              <a:gd name="adj" fmla="val 14516"/>
            </a:avLst>
          </a:prstGeom>
          <a:solidFill>
            <a:srgbClr val="0e223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4" name="Text 92"/>
          <p:cNvSpPr/>
          <p:nvPr/>
        </p:nvSpPr>
        <p:spPr>
          <a:xfrm>
            <a:off x="822960" y="5669280"/>
            <a:ext cx="10606320" cy="566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f4a623"/>
                </a:solidFill>
                <a:latin typeface="Calibri"/>
                <a:ea typeface="Calibri"/>
              </a:rPr>
              <a:t>The real question:  </a:t>
            </a:r>
            <a:r>
              <a:rPr b="1" lang="en-US" sz="1250" spc="-1" strike="noStrike">
                <a:solidFill>
                  <a:srgbClr val="ffffff"/>
                </a:solidFill>
                <a:latin typeface="Calibri"/>
                <a:ea typeface="Calibri"/>
              </a:rPr>
              <a:t>choosing those 24 setpoints — every day, automatically, under weather uncertainty, inside network limits. That is the control problem of this thesis.</a:t>
            </a:r>
            <a:endParaRPr b="0" lang="en-US" sz="1250" spc="-1" strike="noStrike">
              <a:solidFill>
                <a:srgbClr val="000000"/>
              </a:solidFill>
              <a:latin typeface="Arial"/>
            </a:endParaRPr>
          </a:p>
        </p:txBody>
      </p:sp>
      <p:sp>
        <p:nvSpPr>
          <p:cNvPr id="195" name="Text 93"/>
          <p:cNvSpPr/>
          <p:nvPr/>
        </p:nvSpPr>
        <p:spPr>
          <a:xfrm>
            <a:off x="548640" y="6437520"/>
            <a:ext cx="82288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900" spc="-1" strike="noStrike">
                <a:solidFill>
                  <a:srgbClr val="6b7c8f"/>
                </a:solidFill>
                <a:latin typeface="Calibri"/>
                <a:ea typeface="Calibri"/>
              </a:rPr>
              <a:t>Supervisory Dispatch Control · Solar–Grid–Electrolyzer H₂ Plant</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6" name="Text 0"/>
          <p:cNvSpPr/>
          <p:nvPr/>
        </p:nvSpPr>
        <p:spPr>
          <a:xfrm>
            <a:off x="11338560" y="6400800"/>
            <a:ext cx="456480" cy="291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050" spc="-1" strike="noStrike">
                <a:solidFill>
                  <a:srgbClr val="6b7c8f"/>
                </a:solidFill>
                <a:latin typeface="Calibri"/>
                <a:ea typeface="Calibri"/>
              </a:rPr>
              <a:t>7</a:t>
            </a:r>
            <a:endParaRPr b="0" lang="en-US" sz="1050" spc="-1" strike="noStrike">
              <a:solidFill>
                <a:srgbClr val="000000"/>
              </a:solidFill>
              <a:latin typeface="Arial"/>
            </a:endParaRPr>
          </a:p>
        </p:txBody>
      </p:sp>
      <p:sp>
        <p:nvSpPr>
          <p:cNvPr id="197" name="Text 1"/>
          <p:cNvSpPr/>
          <p:nvPr/>
        </p:nvSpPr>
        <p:spPr>
          <a:xfrm>
            <a:off x="548640" y="384120"/>
            <a:ext cx="109720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296" strike="noStrike">
                <a:solidFill>
                  <a:srgbClr val="1c7293"/>
                </a:solidFill>
                <a:latin typeface="Calibri"/>
                <a:ea typeface="Calibri"/>
              </a:rPr>
              <a:t>OBJECTIVES &amp; CONTRIBUTIONS</a:t>
            </a:r>
            <a:endParaRPr b="0" lang="en-US" sz="1200" spc="-1" strike="noStrike">
              <a:solidFill>
                <a:srgbClr val="000000"/>
              </a:solidFill>
              <a:latin typeface="Arial"/>
            </a:endParaRPr>
          </a:p>
        </p:txBody>
      </p:sp>
      <p:sp>
        <p:nvSpPr>
          <p:cNvPr id="198" name="Text 2"/>
          <p:cNvSpPr/>
          <p:nvPr/>
        </p:nvSpPr>
        <p:spPr>
          <a:xfrm>
            <a:off x="548640" y="658440"/>
            <a:ext cx="11063520" cy="77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900" spc="-1" strike="noStrike">
                <a:solidFill>
                  <a:srgbClr val="0e2233"/>
                </a:solidFill>
                <a:latin typeface="Cambria"/>
                <a:ea typeface="Cambria"/>
              </a:rPr>
              <a:t>Our Four Promises</a:t>
            </a:r>
            <a:endParaRPr b="0" lang="en-US" sz="2900" spc="-1" strike="noStrike">
              <a:solidFill>
                <a:srgbClr val="000000"/>
              </a:solidFill>
              <a:latin typeface="Arial"/>
            </a:endParaRPr>
          </a:p>
        </p:txBody>
      </p:sp>
      <p:sp>
        <p:nvSpPr>
          <p:cNvPr id="199" name="Shape 3"/>
          <p:cNvSpPr/>
          <p:nvPr/>
        </p:nvSpPr>
        <p:spPr>
          <a:xfrm>
            <a:off x="548640" y="1719000"/>
            <a:ext cx="11090880" cy="895320"/>
          </a:xfrm>
          <a:prstGeom prst="roundRect">
            <a:avLst>
              <a:gd name="adj" fmla="val 9184"/>
            </a:avLst>
          </a:prstGeom>
          <a:solidFill>
            <a:srgbClr val="ffffff"/>
          </a:solidFill>
          <a:ln w="12700">
            <a:solidFill>
              <a:srgbClr val="dce5ec"/>
            </a:solidFill>
            <a:round/>
          </a:ln>
          <a:effectLst>
            <a:outerShdw algn="bl" blurRad="114480" dir="5400000" dist="38160" kx="0" ky="0" rotWithShape="0" sx="100000" sy="100000">
              <a:srgbClr val="0e2233">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00" name="Shape 4"/>
          <p:cNvSpPr/>
          <p:nvPr/>
        </p:nvSpPr>
        <p:spPr>
          <a:xfrm>
            <a:off x="548640" y="1719000"/>
            <a:ext cx="90720" cy="895320"/>
          </a:xfrm>
          <a:prstGeom prst="rect">
            <a:avLst/>
          </a:prstGeom>
          <a:solidFill>
            <a:srgbClr val="1c729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1" name="Text 5"/>
          <p:cNvSpPr/>
          <p:nvPr/>
        </p:nvSpPr>
        <p:spPr>
          <a:xfrm>
            <a:off x="777240" y="1719000"/>
            <a:ext cx="776520" cy="895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3000" spc="-1" strike="noStrike">
                <a:solidFill>
                  <a:srgbClr val="1c7293"/>
                </a:solidFill>
                <a:latin typeface="Cambria"/>
                <a:ea typeface="Cambria"/>
              </a:rPr>
              <a:t>1</a:t>
            </a:r>
            <a:endParaRPr b="0" lang="en-US" sz="3000" spc="-1" strike="noStrike">
              <a:solidFill>
                <a:srgbClr val="000000"/>
              </a:solidFill>
              <a:latin typeface="Arial"/>
            </a:endParaRPr>
          </a:p>
        </p:txBody>
      </p:sp>
      <p:sp>
        <p:nvSpPr>
          <p:cNvPr id="202" name="Text 6"/>
          <p:cNvSpPr/>
          <p:nvPr/>
        </p:nvSpPr>
        <p:spPr>
          <a:xfrm>
            <a:off x="1691640" y="1801440"/>
            <a:ext cx="7314480" cy="74916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1550" spc="-1" strike="noStrike">
                <a:solidFill>
                  <a:srgbClr val="1a2733"/>
                </a:solidFill>
                <a:latin typeface="Calibri"/>
                <a:ea typeface="Calibri"/>
              </a:rPr>
              <a:t>A plant model you can trust</a:t>
            </a:r>
            <a:endParaRPr b="0" lang="en-US" sz="1550" spc="-1" strike="noStrike">
              <a:solidFill>
                <a:srgbClr val="000000"/>
              </a:solidFill>
              <a:latin typeface="Arial"/>
            </a:endParaRPr>
          </a:p>
          <a:p>
            <a:pPr defTabSz="914400">
              <a:lnSpc>
                <a:spcPct val="104000"/>
              </a:lnSpc>
              <a:tabLst>
                <a:tab algn="l" pos="0"/>
              </a:tabLst>
            </a:pPr>
            <a:endParaRPr b="0" lang="en-US" sz="1550" spc="-1" strike="noStrike">
              <a:solidFill>
                <a:srgbClr val="000000"/>
              </a:solidFill>
              <a:latin typeface="Arial"/>
            </a:endParaRPr>
          </a:p>
          <a:p>
            <a:pPr defTabSz="914400">
              <a:lnSpc>
                <a:spcPct val="104000"/>
              </a:lnSpc>
              <a:tabLst>
                <a:tab algn="l" pos="0"/>
              </a:tabLst>
            </a:pPr>
            <a:r>
              <a:rPr b="0" lang="en-US" sz="1150" spc="-1" strike="noStrike">
                <a:solidFill>
                  <a:srgbClr val="6b7c8f"/>
                </a:solidFill>
                <a:latin typeface="Calibri"/>
                <a:ea typeface="Calibri"/>
              </a:rPr>
              <a:t>The plant's electrical study, rebuilt in open, scriptable code — and proven to reproduce the industry-standard reference exactly.</a:t>
            </a:r>
            <a:endParaRPr b="0" lang="en-US" sz="1150" spc="-1" strike="noStrike">
              <a:solidFill>
                <a:srgbClr val="000000"/>
              </a:solidFill>
              <a:latin typeface="Arial"/>
            </a:endParaRPr>
          </a:p>
        </p:txBody>
      </p:sp>
      <p:sp>
        <p:nvSpPr>
          <p:cNvPr id="203" name="Text 7"/>
          <p:cNvSpPr/>
          <p:nvPr/>
        </p:nvSpPr>
        <p:spPr>
          <a:xfrm>
            <a:off x="9281160" y="1792080"/>
            <a:ext cx="2148120" cy="76752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1900" spc="-1" strike="noStrike">
                <a:solidFill>
                  <a:srgbClr val="1c7293"/>
                </a:solidFill>
                <a:latin typeface="Cambria"/>
                <a:ea typeface="Cambria"/>
              </a:rPr>
              <a:t>24/24</a:t>
            </a:r>
            <a:endParaRPr b="0" lang="en-US" sz="1900" spc="-1" strike="noStrike">
              <a:solidFill>
                <a:srgbClr val="000000"/>
              </a:solidFill>
              <a:latin typeface="Arial"/>
            </a:endParaRPr>
          </a:p>
          <a:p>
            <a:pPr algn="ctr" defTabSz="914400">
              <a:lnSpc>
                <a:spcPct val="98000"/>
              </a:lnSpc>
              <a:tabLst>
                <a:tab algn="l" pos="0"/>
              </a:tabLst>
            </a:pPr>
            <a:endParaRPr b="0" lang="en-US" sz="1900" spc="-1" strike="noStrike">
              <a:solidFill>
                <a:srgbClr val="000000"/>
              </a:solidFill>
              <a:latin typeface="Arial"/>
            </a:endParaRPr>
          </a:p>
          <a:p>
            <a:pPr algn="ctr" defTabSz="914400">
              <a:lnSpc>
                <a:spcPct val="98000"/>
              </a:lnSpc>
              <a:tabLst>
                <a:tab algn="l" pos="0"/>
              </a:tabLst>
            </a:pPr>
            <a:r>
              <a:rPr b="0" lang="en-US" sz="950" spc="-1" strike="noStrike">
                <a:solidFill>
                  <a:srgbClr val="6b7c8f"/>
                </a:solidFill>
                <a:latin typeface="Cambria"/>
                <a:ea typeface="Cambria"/>
              </a:rPr>
              <a:t>checks pass</a:t>
            </a:r>
            <a:endParaRPr b="0" lang="en-US" sz="950" spc="-1" strike="noStrike">
              <a:solidFill>
                <a:srgbClr val="000000"/>
              </a:solidFill>
              <a:latin typeface="Arial"/>
            </a:endParaRPr>
          </a:p>
        </p:txBody>
      </p:sp>
      <p:sp>
        <p:nvSpPr>
          <p:cNvPr id="204" name="Shape 8"/>
          <p:cNvSpPr/>
          <p:nvPr/>
        </p:nvSpPr>
        <p:spPr>
          <a:xfrm>
            <a:off x="548640" y="2743200"/>
            <a:ext cx="11090880" cy="895320"/>
          </a:xfrm>
          <a:prstGeom prst="roundRect">
            <a:avLst>
              <a:gd name="adj" fmla="val 9184"/>
            </a:avLst>
          </a:prstGeom>
          <a:solidFill>
            <a:srgbClr val="ffffff"/>
          </a:solidFill>
          <a:ln w="12700">
            <a:solidFill>
              <a:srgbClr val="dce5ec"/>
            </a:solidFill>
            <a:round/>
          </a:ln>
          <a:effectLst>
            <a:outerShdw algn="bl" blurRad="114480" dir="5400000" dist="38160" kx="0" ky="0" rotWithShape="0" sx="100000" sy="100000">
              <a:srgbClr val="0e2233">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05" name="Shape 9"/>
          <p:cNvSpPr/>
          <p:nvPr/>
        </p:nvSpPr>
        <p:spPr>
          <a:xfrm>
            <a:off x="548640" y="2743200"/>
            <a:ext cx="90720" cy="895320"/>
          </a:xfrm>
          <a:prstGeom prst="rect">
            <a:avLst/>
          </a:prstGeom>
          <a:solidFill>
            <a:srgbClr val="f4a62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06" name="Text 10"/>
          <p:cNvSpPr/>
          <p:nvPr/>
        </p:nvSpPr>
        <p:spPr>
          <a:xfrm>
            <a:off x="777240" y="2743200"/>
            <a:ext cx="776520" cy="895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3000" spc="-1" strike="noStrike">
                <a:solidFill>
                  <a:srgbClr val="f4a623"/>
                </a:solidFill>
                <a:latin typeface="Cambria"/>
                <a:ea typeface="Cambria"/>
              </a:rPr>
              <a:t>2</a:t>
            </a:r>
            <a:endParaRPr b="0" lang="en-US" sz="3000" spc="-1" strike="noStrike">
              <a:solidFill>
                <a:srgbClr val="000000"/>
              </a:solidFill>
              <a:latin typeface="Arial"/>
            </a:endParaRPr>
          </a:p>
        </p:txBody>
      </p:sp>
      <p:sp>
        <p:nvSpPr>
          <p:cNvPr id="207" name="Text 11"/>
          <p:cNvSpPr/>
          <p:nvPr/>
        </p:nvSpPr>
        <p:spPr>
          <a:xfrm>
            <a:off x="1691640" y="2825640"/>
            <a:ext cx="7314480" cy="74916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1550" spc="-1" strike="noStrike">
                <a:solidFill>
                  <a:srgbClr val="1a2733"/>
                </a:solidFill>
                <a:latin typeface="Calibri"/>
                <a:ea typeface="Calibri"/>
              </a:rPr>
              <a:t>A controller that decides</a:t>
            </a:r>
            <a:endParaRPr b="0" lang="en-US" sz="1550" spc="-1" strike="noStrike">
              <a:solidFill>
                <a:srgbClr val="000000"/>
              </a:solidFill>
              <a:latin typeface="Arial"/>
            </a:endParaRPr>
          </a:p>
          <a:p>
            <a:pPr defTabSz="914400">
              <a:lnSpc>
                <a:spcPct val="104000"/>
              </a:lnSpc>
              <a:tabLst>
                <a:tab algn="l" pos="0"/>
              </a:tabLst>
            </a:pPr>
            <a:endParaRPr b="0" lang="en-US" sz="1550" spc="-1" strike="noStrike">
              <a:solidFill>
                <a:srgbClr val="000000"/>
              </a:solidFill>
              <a:latin typeface="Arial"/>
            </a:endParaRPr>
          </a:p>
          <a:p>
            <a:pPr defTabSz="914400">
              <a:lnSpc>
                <a:spcPct val="104000"/>
              </a:lnSpc>
              <a:tabLst>
                <a:tab algn="l" pos="0"/>
              </a:tabLst>
            </a:pPr>
            <a:r>
              <a:rPr b="0" lang="en-US" sz="1150" spc="-1" strike="noStrike">
                <a:solidFill>
                  <a:srgbClr val="6b7c8f"/>
                </a:solidFill>
                <a:latin typeface="Calibri"/>
                <a:ea typeface="Calibri"/>
              </a:rPr>
              <a:t>Dispatch cast as closed-loop supervisory control: measure, forecast, re-optimise — every hour, automatically.</a:t>
            </a:r>
            <a:endParaRPr b="0" lang="en-US" sz="1150" spc="-1" strike="noStrike">
              <a:solidFill>
                <a:srgbClr val="000000"/>
              </a:solidFill>
              <a:latin typeface="Arial"/>
            </a:endParaRPr>
          </a:p>
        </p:txBody>
      </p:sp>
      <p:sp>
        <p:nvSpPr>
          <p:cNvPr id="208" name="Text 12"/>
          <p:cNvSpPr/>
          <p:nvPr/>
        </p:nvSpPr>
        <p:spPr>
          <a:xfrm>
            <a:off x="9281160" y="2816280"/>
            <a:ext cx="2148120" cy="76752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1900" spc="-1" strike="noStrike">
                <a:solidFill>
                  <a:srgbClr val="f4a623"/>
                </a:solidFill>
                <a:latin typeface="Cambria"/>
                <a:ea typeface="Cambria"/>
              </a:rPr>
              <a:t>24</a:t>
            </a:r>
            <a:endParaRPr b="0" lang="en-US" sz="1900" spc="-1" strike="noStrike">
              <a:solidFill>
                <a:srgbClr val="000000"/>
              </a:solidFill>
              <a:latin typeface="Arial"/>
            </a:endParaRPr>
          </a:p>
          <a:p>
            <a:pPr algn="ctr" defTabSz="914400">
              <a:lnSpc>
                <a:spcPct val="98000"/>
              </a:lnSpc>
              <a:tabLst>
                <a:tab algn="l" pos="0"/>
              </a:tabLst>
            </a:pPr>
            <a:endParaRPr b="0" lang="en-US" sz="1900" spc="-1" strike="noStrike">
              <a:solidFill>
                <a:srgbClr val="000000"/>
              </a:solidFill>
              <a:latin typeface="Arial"/>
            </a:endParaRPr>
          </a:p>
          <a:p>
            <a:pPr algn="ctr" defTabSz="914400">
              <a:lnSpc>
                <a:spcPct val="98000"/>
              </a:lnSpc>
              <a:tabLst>
                <a:tab algn="l" pos="0"/>
              </a:tabLst>
            </a:pPr>
            <a:r>
              <a:rPr b="0" lang="en-US" sz="950" spc="-1" strike="noStrike">
                <a:solidFill>
                  <a:srgbClr val="6b7c8f"/>
                </a:solidFill>
                <a:latin typeface="Cambria"/>
                <a:ea typeface="Cambria"/>
              </a:rPr>
              <a:t>decisions / day</a:t>
            </a:r>
            <a:endParaRPr b="0" lang="en-US" sz="950" spc="-1" strike="noStrike">
              <a:solidFill>
                <a:srgbClr val="000000"/>
              </a:solidFill>
              <a:latin typeface="Arial"/>
            </a:endParaRPr>
          </a:p>
        </p:txBody>
      </p:sp>
      <p:sp>
        <p:nvSpPr>
          <p:cNvPr id="209" name="Shape 13"/>
          <p:cNvSpPr/>
          <p:nvPr/>
        </p:nvSpPr>
        <p:spPr>
          <a:xfrm>
            <a:off x="548640" y="3767400"/>
            <a:ext cx="11090880" cy="895320"/>
          </a:xfrm>
          <a:prstGeom prst="roundRect">
            <a:avLst>
              <a:gd name="adj" fmla="val 9184"/>
            </a:avLst>
          </a:prstGeom>
          <a:solidFill>
            <a:srgbClr val="ffffff"/>
          </a:solidFill>
          <a:ln w="12700">
            <a:solidFill>
              <a:srgbClr val="dce5ec"/>
            </a:solidFill>
            <a:round/>
          </a:ln>
          <a:effectLst>
            <a:outerShdw algn="bl" blurRad="114480" dir="5400000" dist="38160" kx="0" ky="0" rotWithShape="0" sx="100000" sy="100000">
              <a:srgbClr val="0e2233">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10" name="Shape 14"/>
          <p:cNvSpPr/>
          <p:nvPr/>
        </p:nvSpPr>
        <p:spPr>
          <a:xfrm>
            <a:off x="548640" y="3767400"/>
            <a:ext cx="90720" cy="895320"/>
          </a:xfrm>
          <a:prstGeom prst="rect">
            <a:avLst/>
          </a:prstGeom>
          <a:solidFill>
            <a:srgbClr val="2a9d8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1" name="Text 15"/>
          <p:cNvSpPr/>
          <p:nvPr/>
        </p:nvSpPr>
        <p:spPr>
          <a:xfrm>
            <a:off x="777240" y="3767400"/>
            <a:ext cx="776520" cy="895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3000" spc="-1" strike="noStrike">
                <a:solidFill>
                  <a:srgbClr val="2a9d8f"/>
                </a:solidFill>
                <a:latin typeface="Cambria"/>
                <a:ea typeface="Cambria"/>
              </a:rPr>
              <a:t>3</a:t>
            </a:r>
            <a:endParaRPr b="0" lang="en-US" sz="3000" spc="-1" strike="noStrike">
              <a:solidFill>
                <a:srgbClr val="000000"/>
              </a:solidFill>
              <a:latin typeface="Arial"/>
            </a:endParaRPr>
          </a:p>
        </p:txBody>
      </p:sp>
      <p:sp>
        <p:nvSpPr>
          <p:cNvPr id="212" name="Text 16"/>
          <p:cNvSpPr/>
          <p:nvPr/>
        </p:nvSpPr>
        <p:spPr>
          <a:xfrm>
            <a:off x="1691640" y="3849480"/>
            <a:ext cx="7314480" cy="74916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1550" spc="-1" strike="noStrike">
                <a:solidFill>
                  <a:srgbClr val="1a2733"/>
                </a:solidFill>
                <a:latin typeface="Calibri"/>
                <a:ea typeface="Calibri"/>
              </a:rPr>
              <a:t>Proof that it pays</a:t>
            </a:r>
            <a:endParaRPr b="0" lang="en-US" sz="1550" spc="-1" strike="noStrike">
              <a:solidFill>
                <a:srgbClr val="000000"/>
              </a:solidFill>
              <a:latin typeface="Arial"/>
            </a:endParaRPr>
          </a:p>
          <a:p>
            <a:pPr defTabSz="914400">
              <a:lnSpc>
                <a:spcPct val="104000"/>
              </a:lnSpc>
              <a:tabLst>
                <a:tab algn="l" pos="0"/>
              </a:tabLst>
            </a:pPr>
            <a:endParaRPr b="0" lang="en-US" sz="1550" spc="-1" strike="noStrike">
              <a:solidFill>
                <a:srgbClr val="000000"/>
              </a:solidFill>
              <a:latin typeface="Arial"/>
            </a:endParaRPr>
          </a:p>
          <a:p>
            <a:pPr defTabSz="914400">
              <a:lnSpc>
                <a:spcPct val="104000"/>
              </a:lnSpc>
              <a:tabLst>
                <a:tab algn="l" pos="0"/>
              </a:tabLst>
            </a:pPr>
            <a:r>
              <a:rPr b="0" lang="en-US" sz="1150" spc="-1" strike="noStrike">
                <a:solidFill>
                  <a:srgbClr val="6b7c8f"/>
                </a:solidFill>
                <a:latin typeface="Calibri"/>
                <a:ea typeface="Calibri"/>
              </a:rPr>
              <a:t>About half the cost of running the plant naively — and ≈ 98 % of what a perfect weather oracle could achieve.</a:t>
            </a:r>
            <a:endParaRPr b="0" lang="en-US" sz="1150" spc="-1" strike="noStrike">
              <a:solidFill>
                <a:srgbClr val="000000"/>
              </a:solidFill>
              <a:latin typeface="Arial"/>
            </a:endParaRPr>
          </a:p>
        </p:txBody>
      </p:sp>
      <p:sp>
        <p:nvSpPr>
          <p:cNvPr id="213" name="Text 17"/>
          <p:cNvSpPr/>
          <p:nvPr/>
        </p:nvSpPr>
        <p:spPr>
          <a:xfrm>
            <a:off x="9281160" y="3840480"/>
            <a:ext cx="2148120" cy="76752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1900" spc="-1" strike="noStrike">
                <a:solidFill>
                  <a:srgbClr val="2a9d8f"/>
                </a:solidFill>
                <a:latin typeface="Cambria"/>
                <a:ea typeface="Cambria"/>
              </a:rPr>
              <a:t>−</a:t>
            </a:r>
            <a:r>
              <a:rPr b="1" lang="en-US" sz="1900" spc="-1" strike="noStrike">
                <a:solidFill>
                  <a:srgbClr val="2a9d8f"/>
                </a:solidFill>
                <a:latin typeface="Cambria"/>
                <a:ea typeface="Cambria"/>
              </a:rPr>
              <a:t>51 %</a:t>
            </a:r>
            <a:endParaRPr b="0" lang="en-US" sz="1900" spc="-1" strike="noStrike">
              <a:solidFill>
                <a:srgbClr val="000000"/>
              </a:solidFill>
              <a:latin typeface="Arial"/>
            </a:endParaRPr>
          </a:p>
          <a:p>
            <a:pPr algn="ctr" defTabSz="914400">
              <a:lnSpc>
                <a:spcPct val="98000"/>
              </a:lnSpc>
              <a:tabLst>
                <a:tab algn="l" pos="0"/>
              </a:tabLst>
            </a:pPr>
            <a:endParaRPr b="0" lang="en-US" sz="1900" spc="-1" strike="noStrike">
              <a:solidFill>
                <a:srgbClr val="000000"/>
              </a:solidFill>
              <a:latin typeface="Arial"/>
            </a:endParaRPr>
          </a:p>
          <a:p>
            <a:pPr algn="ctr" defTabSz="914400">
              <a:lnSpc>
                <a:spcPct val="98000"/>
              </a:lnSpc>
              <a:tabLst>
                <a:tab algn="l" pos="0"/>
              </a:tabLst>
            </a:pPr>
            <a:r>
              <a:rPr b="0" lang="en-US" sz="950" spc="-1" strike="noStrike">
                <a:solidFill>
                  <a:srgbClr val="6b7c8f"/>
                </a:solidFill>
                <a:latin typeface="Cambria"/>
                <a:ea typeface="Cambria"/>
              </a:rPr>
              <a:t>vs reactive rule</a:t>
            </a:r>
            <a:endParaRPr b="0" lang="en-US" sz="950" spc="-1" strike="noStrike">
              <a:solidFill>
                <a:srgbClr val="000000"/>
              </a:solidFill>
              <a:latin typeface="Arial"/>
            </a:endParaRPr>
          </a:p>
        </p:txBody>
      </p:sp>
      <p:sp>
        <p:nvSpPr>
          <p:cNvPr id="214" name="Shape 18"/>
          <p:cNvSpPr/>
          <p:nvPr/>
        </p:nvSpPr>
        <p:spPr>
          <a:xfrm>
            <a:off x="548640" y="4791600"/>
            <a:ext cx="11090880" cy="895320"/>
          </a:xfrm>
          <a:prstGeom prst="roundRect">
            <a:avLst>
              <a:gd name="adj" fmla="val 9184"/>
            </a:avLst>
          </a:prstGeom>
          <a:solidFill>
            <a:srgbClr val="ffffff"/>
          </a:solidFill>
          <a:ln w="12700">
            <a:solidFill>
              <a:srgbClr val="dce5ec"/>
            </a:solidFill>
            <a:round/>
          </a:ln>
          <a:effectLst>
            <a:outerShdw algn="bl" blurRad="114480" dir="5400000" dist="38160" kx="0" ky="0" rotWithShape="0" sx="100000" sy="100000">
              <a:srgbClr val="0e2233">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15" name="Shape 19"/>
          <p:cNvSpPr/>
          <p:nvPr/>
        </p:nvSpPr>
        <p:spPr>
          <a:xfrm>
            <a:off x="548640" y="4791600"/>
            <a:ext cx="90720" cy="895320"/>
          </a:xfrm>
          <a:prstGeom prst="rect">
            <a:avLst/>
          </a:prstGeom>
          <a:solidFill>
            <a:srgbClr val="e2643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6" name="Text 20"/>
          <p:cNvSpPr/>
          <p:nvPr/>
        </p:nvSpPr>
        <p:spPr>
          <a:xfrm>
            <a:off x="777240" y="4791600"/>
            <a:ext cx="776520" cy="895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3000" spc="-1" strike="noStrike">
                <a:solidFill>
                  <a:srgbClr val="e2643b"/>
                </a:solidFill>
                <a:latin typeface="Cambria"/>
                <a:ea typeface="Cambria"/>
              </a:rPr>
              <a:t>4</a:t>
            </a:r>
            <a:endParaRPr b="0" lang="en-US" sz="3000" spc="-1" strike="noStrike">
              <a:solidFill>
                <a:srgbClr val="000000"/>
              </a:solidFill>
              <a:latin typeface="Arial"/>
            </a:endParaRPr>
          </a:p>
        </p:txBody>
      </p:sp>
      <p:sp>
        <p:nvSpPr>
          <p:cNvPr id="217" name="Text 21"/>
          <p:cNvSpPr/>
          <p:nvPr/>
        </p:nvSpPr>
        <p:spPr>
          <a:xfrm>
            <a:off x="1691640" y="4873680"/>
            <a:ext cx="7314480" cy="74916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1550" spc="-1" strike="noStrike">
                <a:solidFill>
                  <a:srgbClr val="1a2733"/>
                </a:solidFill>
                <a:latin typeface="Calibri"/>
                <a:ea typeface="Calibri"/>
              </a:rPr>
              <a:t>Something you can touch</a:t>
            </a:r>
            <a:endParaRPr b="0" lang="en-US" sz="1550" spc="-1" strike="noStrike">
              <a:solidFill>
                <a:srgbClr val="000000"/>
              </a:solidFill>
              <a:latin typeface="Arial"/>
            </a:endParaRPr>
          </a:p>
          <a:p>
            <a:pPr defTabSz="914400">
              <a:lnSpc>
                <a:spcPct val="104000"/>
              </a:lnSpc>
              <a:tabLst>
                <a:tab algn="l" pos="0"/>
              </a:tabLst>
            </a:pPr>
            <a:endParaRPr b="0" lang="en-US" sz="1550" spc="-1" strike="noStrike">
              <a:solidFill>
                <a:srgbClr val="000000"/>
              </a:solidFill>
              <a:latin typeface="Arial"/>
            </a:endParaRPr>
          </a:p>
          <a:p>
            <a:pPr defTabSz="914400">
              <a:lnSpc>
                <a:spcPct val="104000"/>
              </a:lnSpc>
              <a:tabLst>
                <a:tab algn="l" pos="0"/>
              </a:tabLst>
            </a:pPr>
            <a:r>
              <a:rPr b="0" lang="en-US" sz="1150" spc="-1" strike="noStrike">
                <a:solidFill>
                  <a:srgbClr val="6b7c8f"/>
                </a:solidFill>
                <a:latin typeface="Calibri"/>
                <a:ea typeface="Calibri"/>
              </a:rPr>
              <a:t>An interactive dashboard on the validated engine — running live in this room.</a:t>
            </a:r>
            <a:endParaRPr b="0" lang="en-US" sz="1150" spc="-1" strike="noStrike">
              <a:solidFill>
                <a:srgbClr val="000000"/>
              </a:solidFill>
              <a:latin typeface="Arial"/>
            </a:endParaRPr>
          </a:p>
        </p:txBody>
      </p:sp>
      <p:sp>
        <p:nvSpPr>
          <p:cNvPr id="218" name="Text 22"/>
          <p:cNvSpPr/>
          <p:nvPr/>
        </p:nvSpPr>
        <p:spPr>
          <a:xfrm>
            <a:off x="9281160" y="4864680"/>
            <a:ext cx="2148120" cy="76752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1900" spc="-1" strike="noStrike">
                <a:solidFill>
                  <a:srgbClr val="e2643b"/>
                </a:solidFill>
                <a:latin typeface="Cambria"/>
                <a:ea typeface="Cambria"/>
              </a:rPr>
              <a:t>1</a:t>
            </a:r>
            <a:endParaRPr b="0" lang="en-US" sz="1900" spc="-1" strike="noStrike">
              <a:solidFill>
                <a:srgbClr val="000000"/>
              </a:solidFill>
              <a:latin typeface="Arial"/>
            </a:endParaRPr>
          </a:p>
          <a:p>
            <a:pPr algn="ctr" defTabSz="914400">
              <a:lnSpc>
                <a:spcPct val="98000"/>
              </a:lnSpc>
              <a:tabLst>
                <a:tab algn="l" pos="0"/>
              </a:tabLst>
            </a:pPr>
            <a:endParaRPr b="0" lang="en-US" sz="1900" spc="-1" strike="noStrike">
              <a:solidFill>
                <a:srgbClr val="000000"/>
              </a:solidFill>
              <a:latin typeface="Arial"/>
            </a:endParaRPr>
          </a:p>
          <a:p>
            <a:pPr algn="ctr" defTabSz="914400">
              <a:lnSpc>
                <a:spcPct val="98000"/>
              </a:lnSpc>
              <a:tabLst>
                <a:tab algn="l" pos="0"/>
              </a:tabLst>
            </a:pPr>
            <a:r>
              <a:rPr b="0" lang="en-US" sz="950" spc="-1" strike="noStrike">
                <a:solidFill>
                  <a:srgbClr val="6b7c8f"/>
                </a:solidFill>
                <a:latin typeface="Cambria"/>
                <a:ea typeface="Cambria"/>
              </a:rPr>
              <a:t>live demo</a:t>
            </a:r>
            <a:endParaRPr b="0" lang="en-US" sz="950" spc="-1" strike="noStrike">
              <a:solidFill>
                <a:srgbClr val="000000"/>
              </a:solidFill>
              <a:latin typeface="Arial"/>
            </a:endParaRPr>
          </a:p>
        </p:txBody>
      </p:sp>
      <p:sp>
        <p:nvSpPr>
          <p:cNvPr id="219" name="Shape 23"/>
          <p:cNvSpPr/>
          <p:nvPr/>
        </p:nvSpPr>
        <p:spPr>
          <a:xfrm>
            <a:off x="548640" y="5888880"/>
            <a:ext cx="11090880" cy="401760"/>
          </a:xfrm>
          <a:prstGeom prst="roundRect">
            <a:avLst>
              <a:gd name="adj" fmla="val 18182"/>
            </a:avLst>
          </a:prstGeom>
          <a:solidFill>
            <a:srgbClr val="0e223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0" name="Text 24"/>
          <p:cNvSpPr/>
          <p:nvPr/>
        </p:nvSpPr>
        <p:spPr>
          <a:xfrm>
            <a:off x="548640" y="5888880"/>
            <a:ext cx="11090880" cy="401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00" spc="-1" strike="noStrike">
                <a:solidFill>
                  <a:srgbClr val="f4a623"/>
                </a:solidFill>
                <a:latin typeface="Calibri"/>
                <a:ea typeface="Calibri"/>
              </a:rPr>
              <a:t>The gap we fill:  </a:t>
            </a:r>
            <a:r>
              <a:rPr b="0" lang="en-US" sz="1200" spc="-1" strike="noStrike">
                <a:solidFill>
                  <a:srgbClr val="d6e3ef"/>
                </a:solidFill>
                <a:latin typeface="Calibri"/>
                <a:ea typeface="Calibri"/>
              </a:rPr>
              <a:t>existing tools are accurate but manual, and dispatch studies rarely close the loop — ours is automated · network-checked · closed-loop, on real data.</a:t>
            </a:r>
            <a:endParaRPr b="0" lang="en-US" sz="1200" spc="-1" strike="noStrike">
              <a:solidFill>
                <a:srgbClr val="000000"/>
              </a:solidFill>
              <a:latin typeface="Arial"/>
            </a:endParaRPr>
          </a:p>
        </p:txBody>
      </p:sp>
      <p:sp>
        <p:nvSpPr>
          <p:cNvPr id="221" name="Text 25"/>
          <p:cNvSpPr/>
          <p:nvPr/>
        </p:nvSpPr>
        <p:spPr>
          <a:xfrm>
            <a:off x="548640" y="6437520"/>
            <a:ext cx="82288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900" spc="-1" strike="noStrike">
                <a:solidFill>
                  <a:srgbClr val="6b7c8f"/>
                </a:solidFill>
                <a:latin typeface="Calibri"/>
                <a:ea typeface="Calibri"/>
              </a:rPr>
              <a:t>Supervisory Dispatch Control · Solar–Grid–Electrolyzer H₂ Plant</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e2233"/>
        </a:solidFill>
      </p:bgPr>
    </p:bg>
    <p:spTree>
      <p:nvGrpSpPr>
        <p:cNvPr id="1" name=""/>
        <p:cNvGrpSpPr/>
        <p:nvPr/>
      </p:nvGrpSpPr>
      <p:grpSpPr>
        <a:xfrm>
          <a:off x="0" y="0"/>
          <a:ext cx="0" cy="0"/>
          <a:chOff x="0" y="0"/>
          <a:chExt cx="0" cy="0"/>
        </a:xfrm>
      </p:grpSpPr>
      <p:sp>
        <p:nvSpPr>
          <p:cNvPr id="222" name="Text 0"/>
          <p:cNvSpPr/>
          <p:nvPr/>
        </p:nvSpPr>
        <p:spPr>
          <a:xfrm>
            <a:off x="11338560" y="6400800"/>
            <a:ext cx="456480" cy="291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050" spc="-1" strike="noStrike">
                <a:solidFill>
                  <a:srgbClr val="8ea6bc"/>
                </a:solidFill>
                <a:latin typeface="Calibri"/>
                <a:ea typeface="Calibri"/>
              </a:rPr>
              <a:t>8</a:t>
            </a:r>
            <a:endParaRPr b="0" lang="en-US" sz="1050" spc="-1" strike="noStrike">
              <a:solidFill>
                <a:srgbClr val="ffffff"/>
              </a:solidFill>
              <a:latin typeface="Arial"/>
            </a:endParaRPr>
          </a:p>
        </p:txBody>
      </p:sp>
      <p:sp>
        <p:nvSpPr>
          <p:cNvPr id="223" name="Shape 1"/>
          <p:cNvSpPr/>
          <p:nvPr/>
        </p:nvSpPr>
        <p:spPr>
          <a:xfrm>
            <a:off x="9509760" y="-2194560"/>
            <a:ext cx="5485680" cy="5485680"/>
          </a:xfrm>
          <a:prstGeom prst="ellipse">
            <a:avLst/>
          </a:prstGeom>
          <a:solidFill>
            <a:srgbClr val="16344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4" name="Shape 2"/>
          <p:cNvSpPr/>
          <p:nvPr/>
        </p:nvSpPr>
        <p:spPr>
          <a:xfrm>
            <a:off x="10607040" y="4023360"/>
            <a:ext cx="4022640" cy="4022640"/>
          </a:xfrm>
          <a:prstGeom prst="ellipse">
            <a:avLst/>
          </a:prstGeom>
          <a:solidFill>
            <a:srgbClr val="12283c"/>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5" name="Text 3"/>
          <p:cNvSpPr/>
          <p:nvPr/>
        </p:nvSpPr>
        <p:spPr>
          <a:xfrm>
            <a:off x="640080" y="1554480"/>
            <a:ext cx="2742480" cy="146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800" spc="-1" strike="noStrike">
                <a:solidFill>
                  <a:srgbClr val="27516e"/>
                </a:solidFill>
                <a:latin typeface="Cambria"/>
                <a:ea typeface="Cambria"/>
              </a:rPr>
              <a:t>II</a:t>
            </a:r>
            <a:endParaRPr b="0" lang="en-US" sz="8800" spc="-1" strike="noStrike">
              <a:solidFill>
                <a:srgbClr val="ffffff"/>
              </a:solidFill>
              <a:latin typeface="Arial"/>
            </a:endParaRPr>
          </a:p>
        </p:txBody>
      </p:sp>
      <p:sp>
        <p:nvSpPr>
          <p:cNvPr id="226" name="Shape 4"/>
          <p:cNvSpPr/>
          <p:nvPr/>
        </p:nvSpPr>
        <p:spPr>
          <a:xfrm>
            <a:off x="713160" y="3063240"/>
            <a:ext cx="639360" cy="63360"/>
          </a:xfrm>
          <a:prstGeom prst="rect">
            <a:avLst/>
          </a:prstGeom>
          <a:solidFill>
            <a:srgbClr val="f4a623"/>
          </a:solidFill>
          <a:ln w="0">
            <a:noFill/>
          </a:ln>
        </p:spPr>
        <p:style>
          <a:lnRef idx="0"/>
          <a:fillRef idx="0"/>
          <a:effectRef idx="0"/>
          <a:fontRef idx="minor"/>
        </p:style>
        <p:txBody>
          <a:bodyPr lIns="90000" rIns="90000" tIns="19080" bIns="19080" anchor="t">
            <a:noAutofit/>
          </a:bodyPr>
          <a:p>
            <a:pPr>
              <a:lnSpc>
                <a:spcPct val="100000"/>
              </a:lnSpc>
            </a:pPr>
            <a:endParaRPr b="0" lang="en-US" sz="1800" spc="-1" strike="noStrike">
              <a:solidFill>
                <a:srgbClr val="000000"/>
              </a:solidFill>
              <a:latin typeface="Arial"/>
            </a:endParaRPr>
          </a:p>
        </p:txBody>
      </p:sp>
      <p:sp>
        <p:nvSpPr>
          <p:cNvPr id="227" name="Text 5"/>
          <p:cNvSpPr/>
          <p:nvPr/>
        </p:nvSpPr>
        <p:spPr>
          <a:xfrm>
            <a:off x="640080" y="3246120"/>
            <a:ext cx="10514880" cy="913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600" spc="-1" strike="noStrike">
                <a:solidFill>
                  <a:srgbClr val="ffffff"/>
                </a:solidFill>
                <a:latin typeface="Cambria"/>
                <a:ea typeface="Cambria"/>
              </a:rPr>
              <a:t>System &amp; Methodology</a:t>
            </a:r>
            <a:endParaRPr b="0" lang="en-US" sz="3600" spc="-1" strike="noStrike">
              <a:solidFill>
                <a:srgbClr val="ffffff"/>
              </a:solidFill>
              <a:latin typeface="Arial"/>
            </a:endParaRPr>
          </a:p>
        </p:txBody>
      </p:sp>
      <p:sp>
        <p:nvSpPr>
          <p:cNvPr id="228" name="Text 6"/>
          <p:cNvSpPr/>
          <p:nvPr/>
        </p:nvSpPr>
        <p:spPr>
          <a:xfrm>
            <a:off x="658440" y="4251960"/>
            <a:ext cx="9600480" cy="82224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lang="en-US" sz="1600" spc="-1" strike="noStrike">
                <a:solidFill>
                  <a:srgbClr val="aec2d4"/>
                </a:solidFill>
                <a:latin typeface="Calibri"/>
                <a:ea typeface="Calibri"/>
              </a:rPr>
              <a:t>A validated digital twin on real data, an optimiser, and a feedback controller.</a:t>
            </a:r>
            <a:endParaRPr b="0" lang="en-US" sz="1600" spc="-1" strike="noStrike">
              <a:solidFill>
                <a:srgbClr val="ffffff"/>
              </a:solidFill>
              <a:latin typeface="Arial"/>
            </a:endParaRPr>
          </a:p>
        </p:txBody>
      </p:sp>
      <p:sp>
        <p:nvSpPr>
          <p:cNvPr id="229" name="Text 7"/>
          <p:cNvSpPr/>
          <p:nvPr/>
        </p:nvSpPr>
        <p:spPr>
          <a:xfrm>
            <a:off x="658440" y="5212080"/>
            <a:ext cx="914328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i="1" lang="en-US" sz="1300" spc="-1" strike="noStrike">
                <a:solidFill>
                  <a:srgbClr val="f4a623"/>
                </a:solidFill>
                <a:latin typeface="Calibri"/>
                <a:ea typeface="Calibri"/>
              </a:rPr>
              <a:t>Presented by BOUBIDI Youcef</a:t>
            </a:r>
            <a:endParaRPr b="0" lang="en-US" sz="1300" spc="-1" strike="noStrike">
              <a:solidFill>
                <a:srgbClr val="ffffff"/>
              </a:solidFill>
              <a:latin typeface="Arial"/>
            </a:endParaRPr>
          </a:p>
        </p:txBody>
      </p:sp>
      <p:sp>
        <p:nvSpPr>
          <p:cNvPr id="230" name="Text 8"/>
          <p:cNvSpPr/>
          <p:nvPr/>
        </p:nvSpPr>
        <p:spPr>
          <a:xfrm>
            <a:off x="11338560" y="6400800"/>
            <a:ext cx="456480" cy="291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050" spc="-1" strike="noStrike">
                <a:solidFill>
                  <a:srgbClr val="8ea6bc"/>
                </a:solidFill>
                <a:latin typeface="Calibri"/>
                <a:ea typeface="Calibri"/>
              </a:rPr>
              <a:t>8</a:t>
            </a:r>
            <a:endParaRPr b="0" lang="en-US" sz="10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e2233"/>
        </a:solidFill>
      </p:bgPr>
    </p:bg>
    <p:spTree>
      <p:nvGrpSpPr>
        <p:cNvPr id="1" name=""/>
        <p:cNvGrpSpPr/>
        <p:nvPr/>
      </p:nvGrpSpPr>
      <p:grpSpPr>
        <a:xfrm>
          <a:off x="0" y="0"/>
          <a:ext cx="0" cy="0"/>
          <a:chOff x="0" y="0"/>
          <a:chExt cx="0" cy="0"/>
        </a:xfrm>
      </p:grpSpPr>
      <p:sp>
        <p:nvSpPr>
          <p:cNvPr id="231" name="Text 0"/>
          <p:cNvSpPr/>
          <p:nvPr/>
        </p:nvSpPr>
        <p:spPr>
          <a:xfrm>
            <a:off x="11338560" y="6400800"/>
            <a:ext cx="456480" cy="291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050" spc="-1" strike="noStrike">
                <a:solidFill>
                  <a:srgbClr val="8ea6bc"/>
                </a:solidFill>
                <a:latin typeface="Calibri"/>
                <a:ea typeface="Calibri"/>
              </a:rPr>
              <a:t>9</a:t>
            </a:r>
            <a:endParaRPr b="0" lang="en-US" sz="1050" spc="-1" strike="noStrike">
              <a:solidFill>
                <a:srgbClr val="ffffff"/>
              </a:solidFill>
              <a:latin typeface="Arial"/>
            </a:endParaRPr>
          </a:p>
        </p:txBody>
      </p:sp>
      <p:sp>
        <p:nvSpPr>
          <p:cNvPr id="232" name="Text 1"/>
          <p:cNvSpPr/>
          <p:nvPr/>
        </p:nvSpPr>
        <p:spPr>
          <a:xfrm>
            <a:off x="548640" y="457200"/>
            <a:ext cx="109720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296" strike="noStrike">
                <a:solidFill>
                  <a:srgbClr val="f4a623"/>
                </a:solidFill>
                <a:latin typeface="Calibri"/>
                <a:ea typeface="Calibri"/>
              </a:rPr>
              <a:t>THE METHOD — ONE PICTURE</a:t>
            </a:r>
            <a:endParaRPr b="0" lang="en-US" sz="1200" spc="-1" strike="noStrike">
              <a:solidFill>
                <a:srgbClr val="ffffff"/>
              </a:solidFill>
              <a:latin typeface="Arial"/>
            </a:endParaRPr>
          </a:p>
        </p:txBody>
      </p:sp>
      <p:sp>
        <p:nvSpPr>
          <p:cNvPr id="233" name="Text 2"/>
          <p:cNvSpPr/>
          <p:nvPr/>
        </p:nvSpPr>
        <p:spPr>
          <a:xfrm>
            <a:off x="548640" y="777240"/>
            <a:ext cx="11063520" cy="77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900" spc="-1" strike="noStrike">
                <a:solidFill>
                  <a:srgbClr val="ffffff"/>
                </a:solidFill>
                <a:latin typeface="Cambria"/>
                <a:ea typeface="Cambria"/>
              </a:rPr>
              <a:t>From real desert sun to least-cost hydrogen</a:t>
            </a:r>
            <a:endParaRPr b="0" lang="en-US" sz="2900" spc="-1" strike="noStrike">
              <a:solidFill>
                <a:srgbClr val="ffffff"/>
              </a:solidFill>
              <a:latin typeface="Arial"/>
            </a:endParaRPr>
          </a:p>
        </p:txBody>
      </p:sp>
      <p:sp>
        <p:nvSpPr>
          <p:cNvPr id="234" name="Shape 3"/>
          <p:cNvSpPr/>
          <p:nvPr/>
        </p:nvSpPr>
        <p:spPr>
          <a:xfrm>
            <a:off x="548640" y="1783080"/>
            <a:ext cx="2614320" cy="3931200"/>
          </a:xfrm>
          <a:prstGeom prst="roundRect">
            <a:avLst>
              <a:gd name="adj" fmla="val 3497"/>
            </a:avLst>
          </a:prstGeom>
          <a:solidFill>
            <a:srgbClr val="16344b"/>
          </a:solidFill>
          <a:ln w="19050">
            <a:solidFill>
              <a:srgbClr val="1c7293"/>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5" name="Text 4"/>
          <p:cNvSpPr/>
          <p:nvPr/>
        </p:nvSpPr>
        <p:spPr>
          <a:xfrm>
            <a:off x="713160" y="1920240"/>
            <a:ext cx="2331000" cy="310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1c7293"/>
                </a:solidFill>
                <a:latin typeface="Calibri"/>
                <a:ea typeface="Calibri"/>
              </a:rPr>
              <a:t>①  </a:t>
            </a:r>
            <a:r>
              <a:rPr b="1" lang="en-US" sz="1250" spc="94" strike="noStrike">
                <a:solidFill>
                  <a:srgbClr val="1c7293"/>
                </a:solidFill>
                <a:latin typeface="Calibri"/>
                <a:ea typeface="Calibri"/>
              </a:rPr>
              <a:t>REAL INPUTS</a:t>
            </a:r>
            <a:endParaRPr b="0" lang="en-US" sz="1250" spc="-1" strike="noStrike">
              <a:solidFill>
                <a:srgbClr val="ffffff"/>
              </a:solidFill>
              <a:latin typeface="Arial"/>
            </a:endParaRPr>
          </a:p>
        </p:txBody>
      </p:sp>
      <p:sp>
        <p:nvSpPr>
          <p:cNvPr id="236" name="Shape 5"/>
          <p:cNvSpPr/>
          <p:nvPr/>
        </p:nvSpPr>
        <p:spPr>
          <a:xfrm>
            <a:off x="694800" y="2304360"/>
            <a:ext cx="2322000" cy="1480680"/>
          </a:xfrm>
          <a:prstGeom prst="roundRect">
            <a:avLst>
              <a:gd name="adj" fmla="val 3086"/>
            </a:avLst>
          </a:prstGeom>
          <a:solidFill>
            <a:srgbClr val="ffffff"/>
          </a:solidFill>
          <a:ln w="12700">
            <a:solidFill>
              <a:srgbClr val="27516e"/>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pic>
        <p:nvPicPr>
          <p:cNvPr id="237" name="Image 0" descr="/home/youc/hydrogen-dispatch/results/figures/pv_year_2023.png"/>
          <p:cNvPicPr/>
          <p:nvPr/>
        </p:nvPicPr>
        <p:blipFill>
          <a:blip r:embed="rId1"/>
          <a:stretch/>
        </p:blipFill>
        <p:spPr>
          <a:xfrm>
            <a:off x="758880" y="2368440"/>
            <a:ext cx="2193840" cy="1352520"/>
          </a:xfrm>
          <a:prstGeom prst="rect">
            <a:avLst/>
          </a:prstGeom>
          <a:ln w="0">
            <a:noFill/>
          </a:ln>
        </p:spPr>
      </p:pic>
      <p:sp>
        <p:nvSpPr>
          <p:cNvPr id="238" name="Text 6"/>
          <p:cNvSpPr/>
          <p:nvPr/>
        </p:nvSpPr>
        <p:spPr>
          <a:xfrm>
            <a:off x="731520" y="3913560"/>
            <a:ext cx="2285280" cy="105084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100" spc="-1" strike="noStrike">
                <a:solidFill>
                  <a:srgbClr val="d6e3ef"/>
                </a:solidFill>
                <a:latin typeface="Calibri"/>
                <a:ea typeface="Calibri"/>
              </a:rPr>
              <a:t>A full year of measured Ghardaïa weather, and the official tariff.</a:t>
            </a:r>
            <a:endParaRPr b="0" lang="en-US" sz="1100" spc="-1" strike="noStrike">
              <a:solidFill>
                <a:srgbClr val="ffffff"/>
              </a:solidFill>
              <a:latin typeface="Arial"/>
            </a:endParaRPr>
          </a:p>
        </p:txBody>
      </p:sp>
      <p:sp>
        <p:nvSpPr>
          <p:cNvPr id="239" name="Text 7"/>
          <p:cNvSpPr/>
          <p:nvPr/>
        </p:nvSpPr>
        <p:spPr>
          <a:xfrm>
            <a:off x="731520" y="5139000"/>
            <a:ext cx="2285280" cy="218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800" spc="-1" strike="noStrike">
                <a:solidFill>
                  <a:srgbClr val="6e869c"/>
                </a:solidFill>
                <a:latin typeface="Calibri"/>
                <a:ea typeface="Calibri"/>
              </a:rPr>
              <a:t>real figure from this thesis</a:t>
            </a:r>
            <a:endParaRPr b="0" lang="en-US" sz="800" spc="-1" strike="noStrike">
              <a:solidFill>
                <a:srgbClr val="ffffff"/>
              </a:solidFill>
              <a:latin typeface="Arial"/>
            </a:endParaRPr>
          </a:p>
        </p:txBody>
      </p:sp>
      <p:sp>
        <p:nvSpPr>
          <p:cNvPr id="240" name="Shape 8"/>
          <p:cNvSpPr/>
          <p:nvPr/>
        </p:nvSpPr>
        <p:spPr>
          <a:xfrm>
            <a:off x="3200400" y="3703320"/>
            <a:ext cx="137160" cy="360"/>
          </a:xfrm>
          <a:prstGeom prst="line">
            <a:avLst/>
          </a:prstGeom>
          <a:ln w="31750">
            <a:solidFill>
              <a:srgbClr val="f4a623"/>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241" name="Shape 9"/>
          <p:cNvSpPr/>
          <p:nvPr/>
        </p:nvSpPr>
        <p:spPr>
          <a:xfrm>
            <a:off x="3364920" y="1783080"/>
            <a:ext cx="2614320" cy="3931200"/>
          </a:xfrm>
          <a:prstGeom prst="roundRect">
            <a:avLst>
              <a:gd name="adj" fmla="val 3497"/>
            </a:avLst>
          </a:prstGeom>
          <a:solidFill>
            <a:srgbClr val="16344b"/>
          </a:solidFill>
          <a:ln w="19050">
            <a:solidFill>
              <a:srgbClr val="f4a623"/>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2" name="Text 10"/>
          <p:cNvSpPr/>
          <p:nvPr/>
        </p:nvSpPr>
        <p:spPr>
          <a:xfrm>
            <a:off x="3529440" y="1920240"/>
            <a:ext cx="2331000" cy="310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f4a623"/>
                </a:solidFill>
                <a:latin typeface="Calibri"/>
                <a:ea typeface="Calibri"/>
              </a:rPr>
              <a:t>②  </a:t>
            </a:r>
            <a:r>
              <a:rPr b="1" lang="en-US" sz="1250" spc="94" strike="noStrike">
                <a:solidFill>
                  <a:srgbClr val="f4a623"/>
                </a:solidFill>
                <a:latin typeface="Calibri"/>
                <a:ea typeface="Calibri"/>
              </a:rPr>
              <a:t>A PLANT WE PROVED</a:t>
            </a:r>
            <a:endParaRPr b="0" lang="en-US" sz="1250" spc="-1" strike="noStrike">
              <a:solidFill>
                <a:srgbClr val="ffffff"/>
              </a:solidFill>
              <a:latin typeface="Arial"/>
            </a:endParaRPr>
          </a:p>
        </p:txBody>
      </p:sp>
      <p:sp>
        <p:nvSpPr>
          <p:cNvPr id="243" name="Shape 11"/>
          <p:cNvSpPr/>
          <p:nvPr/>
        </p:nvSpPr>
        <p:spPr>
          <a:xfrm>
            <a:off x="3511440" y="2304360"/>
            <a:ext cx="2322000" cy="1480680"/>
          </a:xfrm>
          <a:prstGeom prst="roundRect">
            <a:avLst>
              <a:gd name="adj" fmla="val 3086"/>
            </a:avLst>
          </a:prstGeom>
          <a:solidFill>
            <a:srgbClr val="ffffff"/>
          </a:solidFill>
          <a:ln w="12700">
            <a:solidFill>
              <a:srgbClr val="27516e"/>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pic>
        <p:nvPicPr>
          <p:cNvPr id="244" name="Image 1" descr="/home/youc/hydrogen-dispatch/results/figures/net_sunny.png"/>
          <p:cNvPicPr/>
          <p:nvPr/>
        </p:nvPicPr>
        <p:blipFill>
          <a:blip r:embed="rId2"/>
          <a:stretch/>
        </p:blipFill>
        <p:spPr>
          <a:xfrm>
            <a:off x="3575160" y="2368440"/>
            <a:ext cx="2193840" cy="1352520"/>
          </a:xfrm>
          <a:prstGeom prst="rect">
            <a:avLst/>
          </a:prstGeom>
          <a:ln w="0">
            <a:noFill/>
          </a:ln>
        </p:spPr>
      </p:pic>
      <p:sp>
        <p:nvSpPr>
          <p:cNvPr id="245" name="Text 12"/>
          <p:cNvSpPr/>
          <p:nvPr/>
        </p:nvSpPr>
        <p:spPr>
          <a:xfrm>
            <a:off x="3547800" y="3913560"/>
            <a:ext cx="2285280" cy="105084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100" spc="-1" strike="noStrike">
                <a:solidFill>
                  <a:srgbClr val="d6e3ef"/>
                </a:solidFill>
                <a:latin typeface="Calibri"/>
                <a:ea typeface="Calibri"/>
              </a:rPr>
              <a:t>The electrical model, validated 24/24 against the industry reference.</a:t>
            </a:r>
            <a:endParaRPr b="0" lang="en-US" sz="1100" spc="-1" strike="noStrike">
              <a:solidFill>
                <a:srgbClr val="ffffff"/>
              </a:solidFill>
              <a:latin typeface="Arial"/>
            </a:endParaRPr>
          </a:p>
        </p:txBody>
      </p:sp>
      <p:sp>
        <p:nvSpPr>
          <p:cNvPr id="246" name="Text 13"/>
          <p:cNvSpPr/>
          <p:nvPr/>
        </p:nvSpPr>
        <p:spPr>
          <a:xfrm>
            <a:off x="3547800" y="5139000"/>
            <a:ext cx="2285280" cy="218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800" spc="-1" strike="noStrike">
                <a:solidFill>
                  <a:srgbClr val="6e869c"/>
                </a:solidFill>
                <a:latin typeface="Calibri"/>
                <a:ea typeface="Calibri"/>
              </a:rPr>
              <a:t>real figure from this thesis</a:t>
            </a:r>
            <a:endParaRPr b="0" lang="en-US" sz="800" spc="-1" strike="noStrike">
              <a:solidFill>
                <a:srgbClr val="ffffff"/>
              </a:solidFill>
              <a:latin typeface="Arial"/>
            </a:endParaRPr>
          </a:p>
        </p:txBody>
      </p:sp>
      <p:sp>
        <p:nvSpPr>
          <p:cNvPr id="247" name="Shape 14"/>
          <p:cNvSpPr/>
          <p:nvPr/>
        </p:nvSpPr>
        <p:spPr>
          <a:xfrm>
            <a:off x="6016680" y="3703320"/>
            <a:ext cx="137160" cy="360"/>
          </a:xfrm>
          <a:prstGeom prst="line">
            <a:avLst/>
          </a:prstGeom>
          <a:ln w="31750">
            <a:solidFill>
              <a:srgbClr val="f4a623"/>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248" name="Shape 15"/>
          <p:cNvSpPr/>
          <p:nvPr/>
        </p:nvSpPr>
        <p:spPr>
          <a:xfrm>
            <a:off x="6181200" y="1783080"/>
            <a:ext cx="2614320" cy="3931200"/>
          </a:xfrm>
          <a:prstGeom prst="roundRect">
            <a:avLst>
              <a:gd name="adj" fmla="val 3497"/>
            </a:avLst>
          </a:prstGeom>
          <a:solidFill>
            <a:srgbClr val="16344b"/>
          </a:solidFill>
          <a:ln w="19050">
            <a:solidFill>
              <a:srgbClr val="2a9d8f"/>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9" name="Text 16"/>
          <p:cNvSpPr/>
          <p:nvPr/>
        </p:nvSpPr>
        <p:spPr>
          <a:xfrm>
            <a:off x="6346080" y="1920240"/>
            <a:ext cx="2331000" cy="310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2a9d8f"/>
                </a:solidFill>
                <a:latin typeface="Calibri"/>
                <a:ea typeface="Calibri"/>
              </a:rPr>
              <a:t>③  </a:t>
            </a:r>
            <a:r>
              <a:rPr b="1" lang="en-US" sz="1250" spc="94" strike="noStrike">
                <a:solidFill>
                  <a:srgbClr val="2a9d8f"/>
                </a:solidFill>
                <a:latin typeface="Calibri"/>
                <a:ea typeface="Calibri"/>
              </a:rPr>
              <a:t>A CONTROLLER</a:t>
            </a:r>
            <a:endParaRPr b="0" lang="en-US" sz="1250" spc="-1" strike="noStrike">
              <a:solidFill>
                <a:srgbClr val="ffffff"/>
              </a:solidFill>
              <a:latin typeface="Arial"/>
            </a:endParaRPr>
          </a:p>
        </p:txBody>
      </p:sp>
      <p:sp>
        <p:nvSpPr>
          <p:cNvPr id="250" name="Shape 17"/>
          <p:cNvSpPr/>
          <p:nvPr/>
        </p:nvSpPr>
        <p:spPr>
          <a:xfrm>
            <a:off x="6327720" y="2304360"/>
            <a:ext cx="2322000" cy="1480680"/>
          </a:xfrm>
          <a:prstGeom prst="roundRect">
            <a:avLst>
              <a:gd name="adj" fmla="val 3086"/>
            </a:avLst>
          </a:prstGeom>
          <a:solidFill>
            <a:srgbClr val="ffffff"/>
          </a:solidFill>
          <a:ln w="12700">
            <a:solidFill>
              <a:srgbClr val="27516e"/>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pic>
        <p:nvPicPr>
          <p:cNvPr id="251" name="Image 2" descr="/home/youc/hydrogen-dispatch/results/figures/pso_convergence.png"/>
          <p:cNvPicPr/>
          <p:nvPr/>
        </p:nvPicPr>
        <p:blipFill>
          <a:blip r:embed="rId3"/>
          <a:stretch/>
        </p:blipFill>
        <p:spPr>
          <a:xfrm>
            <a:off x="6391800" y="2368440"/>
            <a:ext cx="2193840" cy="1352520"/>
          </a:xfrm>
          <a:prstGeom prst="rect">
            <a:avLst/>
          </a:prstGeom>
          <a:ln w="0">
            <a:noFill/>
          </a:ln>
        </p:spPr>
      </p:pic>
      <p:sp>
        <p:nvSpPr>
          <p:cNvPr id="252" name="Text 18"/>
          <p:cNvSpPr/>
          <p:nvPr/>
        </p:nvSpPr>
        <p:spPr>
          <a:xfrm>
            <a:off x="6364080" y="3913560"/>
            <a:ext cx="2285280" cy="105084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100" spc="-1" strike="noStrike">
                <a:solidFill>
                  <a:srgbClr val="d6e3ef"/>
                </a:solidFill>
                <a:latin typeface="Calibri"/>
                <a:ea typeface="Calibri"/>
              </a:rPr>
              <a:t>Closed-loop dispatch: forecast, re-optimise, apply — every hour.</a:t>
            </a:r>
            <a:endParaRPr b="0" lang="en-US" sz="1100" spc="-1" strike="noStrike">
              <a:solidFill>
                <a:srgbClr val="ffffff"/>
              </a:solidFill>
              <a:latin typeface="Arial"/>
            </a:endParaRPr>
          </a:p>
        </p:txBody>
      </p:sp>
      <p:sp>
        <p:nvSpPr>
          <p:cNvPr id="253" name="Text 19"/>
          <p:cNvSpPr/>
          <p:nvPr/>
        </p:nvSpPr>
        <p:spPr>
          <a:xfrm>
            <a:off x="6364080" y="5139000"/>
            <a:ext cx="2285280" cy="218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800" spc="-1" strike="noStrike">
                <a:solidFill>
                  <a:srgbClr val="6e869c"/>
                </a:solidFill>
                <a:latin typeface="Calibri"/>
                <a:ea typeface="Calibri"/>
              </a:rPr>
              <a:t>real figure from this thesis</a:t>
            </a:r>
            <a:endParaRPr b="0" lang="en-US" sz="800" spc="-1" strike="noStrike">
              <a:solidFill>
                <a:srgbClr val="ffffff"/>
              </a:solidFill>
              <a:latin typeface="Arial"/>
            </a:endParaRPr>
          </a:p>
        </p:txBody>
      </p:sp>
      <p:sp>
        <p:nvSpPr>
          <p:cNvPr id="254" name="Shape 20"/>
          <p:cNvSpPr/>
          <p:nvPr/>
        </p:nvSpPr>
        <p:spPr>
          <a:xfrm>
            <a:off x="8832960" y="3703320"/>
            <a:ext cx="137160" cy="360"/>
          </a:xfrm>
          <a:prstGeom prst="line">
            <a:avLst/>
          </a:prstGeom>
          <a:ln w="31750">
            <a:solidFill>
              <a:srgbClr val="f4a623"/>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255" name="Shape 21"/>
          <p:cNvSpPr/>
          <p:nvPr/>
        </p:nvSpPr>
        <p:spPr>
          <a:xfrm>
            <a:off x="8997840" y="1783080"/>
            <a:ext cx="2614320" cy="3931200"/>
          </a:xfrm>
          <a:prstGeom prst="roundRect">
            <a:avLst>
              <a:gd name="adj" fmla="val 3497"/>
            </a:avLst>
          </a:prstGeom>
          <a:solidFill>
            <a:srgbClr val="16344b"/>
          </a:solidFill>
          <a:ln w="19050">
            <a:solidFill>
              <a:srgbClr val="e2643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6" name="Text 22"/>
          <p:cNvSpPr/>
          <p:nvPr/>
        </p:nvSpPr>
        <p:spPr>
          <a:xfrm>
            <a:off x="9162360" y="1920240"/>
            <a:ext cx="2331000" cy="310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e2643b"/>
                </a:solidFill>
                <a:latin typeface="Calibri"/>
                <a:ea typeface="Calibri"/>
              </a:rPr>
              <a:t>④  </a:t>
            </a:r>
            <a:r>
              <a:rPr b="1" lang="en-US" sz="1250" spc="94" strike="noStrike">
                <a:solidFill>
                  <a:srgbClr val="e2643b"/>
                </a:solidFill>
                <a:latin typeface="Calibri"/>
                <a:ea typeface="Calibri"/>
              </a:rPr>
              <a:t>PROOF, LIVE</a:t>
            </a:r>
            <a:endParaRPr b="0" lang="en-US" sz="1250" spc="-1" strike="noStrike">
              <a:solidFill>
                <a:srgbClr val="ffffff"/>
              </a:solidFill>
              <a:latin typeface="Arial"/>
            </a:endParaRPr>
          </a:p>
        </p:txBody>
      </p:sp>
      <p:sp>
        <p:nvSpPr>
          <p:cNvPr id="257" name="Shape 23"/>
          <p:cNvSpPr/>
          <p:nvPr/>
        </p:nvSpPr>
        <p:spPr>
          <a:xfrm>
            <a:off x="9144000" y="2304360"/>
            <a:ext cx="2322000" cy="1480680"/>
          </a:xfrm>
          <a:prstGeom prst="roundRect">
            <a:avLst>
              <a:gd name="adj" fmla="val 3086"/>
            </a:avLst>
          </a:prstGeom>
          <a:solidFill>
            <a:srgbClr val="ffffff"/>
          </a:solidFill>
          <a:ln w="12700">
            <a:solidFill>
              <a:srgbClr val="27516e"/>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pic>
        <p:nvPicPr>
          <p:cNvPr id="258" name="Image 3" descr="/home/youc/hydrogen-dispatch/results/screenshots/dashboard_daily.png"/>
          <p:cNvPicPr/>
          <p:nvPr/>
        </p:nvPicPr>
        <p:blipFill>
          <a:blip r:embed="rId4"/>
          <a:stretch/>
        </p:blipFill>
        <p:spPr>
          <a:xfrm>
            <a:off x="9208080" y="2368440"/>
            <a:ext cx="2193840" cy="1352520"/>
          </a:xfrm>
          <a:prstGeom prst="rect">
            <a:avLst/>
          </a:prstGeom>
          <a:ln w="0">
            <a:noFill/>
          </a:ln>
        </p:spPr>
      </p:pic>
      <p:sp>
        <p:nvSpPr>
          <p:cNvPr id="259" name="Text 24"/>
          <p:cNvSpPr/>
          <p:nvPr/>
        </p:nvSpPr>
        <p:spPr>
          <a:xfrm>
            <a:off x="9180720" y="3913560"/>
            <a:ext cx="2285280" cy="105084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100" spc="-1" strike="noStrike">
                <a:solidFill>
                  <a:srgbClr val="d6e3ef"/>
                </a:solidFill>
                <a:latin typeface="Calibri"/>
                <a:ea typeface="Calibri"/>
              </a:rPr>
              <a:t>Every claim shown running — a live dashboard on the validated engine.</a:t>
            </a:r>
            <a:endParaRPr b="0" lang="en-US" sz="1100" spc="-1" strike="noStrike">
              <a:solidFill>
                <a:srgbClr val="ffffff"/>
              </a:solidFill>
              <a:latin typeface="Arial"/>
            </a:endParaRPr>
          </a:p>
        </p:txBody>
      </p:sp>
      <p:sp>
        <p:nvSpPr>
          <p:cNvPr id="260" name="Text 25"/>
          <p:cNvSpPr/>
          <p:nvPr/>
        </p:nvSpPr>
        <p:spPr>
          <a:xfrm>
            <a:off x="9180720" y="5139000"/>
            <a:ext cx="2285280" cy="218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800" spc="-1" strike="noStrike">
                <a:solidFill>
                  <a:srgbClr val="6e869c"/>
                </a:solidFill>
                <a:latin typeface="Calibri"/>
                <a:ea typeface="Calibri"/>
              </a:rPr>
              <a:t>real figure from this thesis</a:t>
            </a:r>
            <a:endParaRPr b="0" lang="en-US" sz="800" spc="-1" strike="noStrike">
              <a:solidFill>
                <a:srgbClr val="ffffff"/>
              </a:solidFill>
              <a:latin typeface="Arial"/>
            </a:endParaRPr>
          </a:p>
        </p:txBody>
      </p:sp>
      <p:sp>
        <p:nvSpPr>
          <p:cNvPr id="261" name="Shape 26"/>
          <p:cNvSpPr/>
          <p:nvPr/>
        </p:nvSpPr>
        <p:spPr>
          <a:xfrm>
            <a:off x="548640" y="5897880"/>
            <a:ext cx="11090880" cy="502200"/>
          </a:xfrm>
          <a:prstGeom prst="roundRect">
            <a:avLst>
              <a:gd name="adj" fmla="val 16364"/>
            </a:avLst>
          </a:prstGeom>
          <a:solidFill>
            <a:srgbClr val="12283c"/>
          </a:solidFill>
          <a:ln w="12700">
            <a:solidFill>
              <a:srgbClr val="f4a623"/>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2" name="Text 27"/>
          <p:cNvSpPr/>
          <p:nvPr/>
        </p:nvSpPr>
        <p:spPr>
          <a:xfrm>
            <a:off x="822960" y="5897880"/>
            <a:ext cx="10606320" cy="502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 strike="noStrike">
                <a:solidFill>
                  <a:srgbClr val="f4a623"/>
                </a:solidFill>
                <a:latin typeface="Calibri"/>
                <a:ea typeface="Calibri"/>
              </a:rPr>
              <a:t>Four stages, four slides ahead.  </a:t>
            </a:r>
            <a:r>
              <a:rPr b="0" lang="en-US" sz="1200" spc="-1" strike="noStrike">
                <a:solidFill>
                  <a:srgbClr val="d6e3ef"/>
                </a:solidFill>
                <a:latin typeface="Calibri"/>
                <a:ea typeface="Calibri"/>
              </a:rPr>
              <a:t>Each tool is introduced the moment it does its work — and every figure you will see comes out of this pipeline.</a:t>
            </a:r>
            <a:endParaRPr b="0" lang="en-US" sz="12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3" name="Text 0"/>
          <p:cNvSpPr/>
          <p:nvPr/>
        </p:nvSpPr>
        <p:spPr>
          <a:xfrm>
            <a:off x="11338560" y="6400800"/>
            <a:ext cx="456480" cy="291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050" spc="-1" strike="noStrike">
                <a:solidFill>
                  <a:srgbClr val="6b7c8f"/>
                </a:solidFill>
                <a:latin typeface="Calibri"/>
                <a:ea typeface="Calibri"/>
              </a:rPr>
              <a:t>10</a:t>
            </a:r>
            <a:endParaRPr b="0" lang="en-US" sz="1050" spc="-1" strike="noStrike">
              <a:solidFill>
                <a:srgbClr val="000000"/>
              </a:solidFill>
              <a:latin typeface="Arial"/>
            </a:endParaRPr>
          </a:p>
        </p:txBody>
      </p:sp>
      <p:sp>
        <p:nvSpPr>
          <p:cNvPr id="264" name="Text 1"/>
          <p:cNvSpPr/>
          <p:nvPr/>
        </p:nvSpPr>
        <p:spPr>
          <a:xfrm>
            <a:off x="548640" y="384120"/>
            <a:ext cx="109720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296" strike="noStrike">
                <a:solidFill>
                  <a:srgbClr val="1c7293"/>
                </a:solidFill>
                <a:latin typeface="Calibri"/>
                <a:ea typeface="Calibri"/>
              </a:rPr>
              <a:t>METHOD — REAL DATA, NOT ASSUMPTIONS</a:t>
            </a:r>
            <a:endParaRPr b="0" lang="en-US" sz="1200" spc="-1" strike="noStrike">
              <a:solidFill>
                <a:srgbClr val="000000"/>
              </a:solidFill>
              <a:latin typeface="Arial"/>
            </a:endParaRPr>
          </a:p>
        </p:txBody>
      </p:sp>
      <p:sp>
        <p:nvSpPr>
          <p:cNvPr id="265" name="Text 2"/>
          <p:cNvSpPr/>
          <p:nvPr/>
        </p:nvSpPr>
        <p:spPr>
          <a:xfrm>
            <a:off x="548640" y="658440"/>
            <a:ext cx="11063520" cy="77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900" spc="-1" strike="noStrike">
                <a:solidFill>
                  <a:srgbClr val="0e2233"/>
                </a:solidFill>
                <a:latin typeface="Cambria"/>
                <a:ea typeface="Cambria"/>
              </a:rPr>
              <a:t>Real Ghardaïa weather and the real Algerian tariff</a:t>
            </a:r>
            <a:endParaRPr b="0" lang="en-US" sz="2900" spc="-1" strike="noStrike">
              <a:solidFill>
                <a:srgbClr val="000000"/>
              </a:solidFill>
              <a:latin typeface="Arial"/>
            </a:endParaRPr>
          </a:p>
        </p:txBody>
      </p:sp>
      <p:sp>
        <p:nvSpPr>
          <p:cNvPr id="266" name="Shape 3"/>
          <p:cNvSpPr/>
          <p:nvPr/>
        </p:nvSpPr>
        <p:spPr>
          <a:xfrm>
            <a:off x="9966960" y="365760"/>
            <a:ext cx="1672560" cy="328320"/>
          </a:xfrm>
          <a:prstGeom prst="roundRect">
            <a:avLst>
              <a:gd name="adj" fmla="val 50000"/>
            </a:avLst>
          </a:prstGeom>
          <a:solidFill>
            <a:srgbClr val="eef3f7"/>
          </a:solidFill>
          <a:ln w="12700">
            <a:solidFill>
              <a:srgbClr val="dce5ec"/>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67" name="Text 4"/>
          <p:cNvSpPr/>
          <p:nvPr/>
        </p:nvSpPr>
        <p:spPr>
          <a:xfrm>
            <a:off x="10012680" y="365760"/>
            <a:ext cx="1581120" cy="328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50" spc="-1" strike="noStrike">
                <a:solidFill>
                  <a:srgbClr val="1c7293"/>
                </a:solidFill>
                <a:latin typeface="Calibri"/>
                <a:ea typeface="Calibri"/>
              </a:rPr>
              <a:t>PySAM · NREL  </a:t>
            </a:r>
            <a:r>
              <a:rPr b="0" lang="en-US" sz="900" spc="-1" strike="noStrike">
                <a:solidFill>
                  <a:srgbClr val="6b7c8f"/>
                </a:solidFill>
                <a:latin typeface="Calibri"/>
                <a:ea typeface="Calibri"/>
              </a:rPr>
              <a:t>PV physics</a:t>
            </a:r>
            <a:endParaRPr b="0" lang="en-US" sz="900" spc="-1" strike="noStrike">
              <a:solidFill>
                <a:srgbClr val="000000"/>
              </a:solidFill>
              <a:latin typeface="Arial"/>
            </a:endParaRPr>
          </a:p>
        </p:txBody>
      </p:sp>
      <p:sp>
        <p:nvSpPr>
          <p:cNvPr id="268" name="Shape 5"/>
          <p:cNvSpPr/>
          <p:nvPr/>
        </p:nvSpPr>
        <p:spPr>
          <a:xfrm>
            <a:off x="8127360" y="365760"/>
            <a:ext cx="1729440" cy="328320"/>
          </a:xfrm>
          <a:prstGeom prst="roundRect">
            <a:avLst>
              <a:gd name="adj" fmla="val 50000"/>
            </a:avLst>
          </a:prstGeom>
          <a:solidFill>
            <a:srgbClr val="eef3f7"/>
          </a:solidFill>
          <a:ln w="12700">
            <a:solidFill>
              <a:srgbClr val="dce5ec"/>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69" name="Text 6"/>
          <p:cNvSpPr/>
          <p:nvPr/>
        </p:nvSpPr>
        <p:spPr>
          <a:xfrm>
            <a:off x="8173080" y="365760"/>
            <a:ext cx="1638000" cy="328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50" spc="-1" strike="noStrike">
                <a:solidFill>
                  <a:srgbClr val="1c7293"/>
                </a:solidFill>
                <a:latin typeface="Calibri"/>
                <a:ea typeface="Calibri"/>
              </a:rPr>
              <a:t>CAMS + ERA5  </a:t>
            </a:r>
            <a:r>
              <a:rPr b="0" lang="en-US" sz="900" spc="-1" strike="noStrike">
                <a:solidFill>
                  <a:srgbClr val="6b7c8f"/>
                </a:solidFill>
                <a:latin typeface="Calibri"/>
                <a:ea typeface="Calibri"/>
              </a:rPr>
              <a:t>real weather</a:t>
            </a:r>
            <a:endParaRPr b="0" lang="en-US" sz="900" spc="-1" strike="noStrike">
              <a:solidFill>
                <a:srgbClr val="000000"/>
              </a:solidFill>
              <a:latin typeface="Arial"/>
            </a:endParaRPr>
          </a:p>
        </p:txBody>
      </p:sp>
      <p:sp>
        <p:nvSpPr>
          <p:cNvPr id="270" name="Text 7"/>
          <p:cNvSpPr/>
          <p:nvPr/>
        </p:nvSpPr>
        <p:spPr>
          <a:xfrm>
            <a:off x="548640" y="1572840"/>
            <a:ext cx="6034320" cy="2102400"/>
          </a:xfrm>
          <a:prstGeom prst="rect">
            <a:avLst/>
          </a:prstGeom>
          <a:noFill/>
          <a:ln w="0">
            <a:noFill/>
          </a:ln>
        </p:spPr>
        <p:style>
          <a:lnRef idx="0"/>
          <a:fillRef idx="0"/>
          <a:effectRef idx="0"/>
          <a:fontRef idx="minor"/>
        </p:style>
        <p:txBody>
          <a:bodyPr lIns="0" rIns="0" tIns="0" bIns="0" anchor="t">
            <a:noAutofit/>
          </a:bodyPr>
          <a:p>
            <a:pPr marL="177840" indent="-177840" defTabSz="914400">
              <a:lnSpc>
                <a:spcPct val="104000"/>
              </a:lnSpc>
              <a:spcAft>
                <a:spcPts val="799"/>
              </a:spcAft>
              <a:buClr>
                <a:srgbClr val="1a2733"/>
              </a:buClr>
              <a:buFont typeface="Symbol" charset="2"/>
              <a:buChar char=""/>
            </a:pPr>
            <a:r>
              <a:rPr b="0" lang="en-US" sz="1250" spc="-1" strike="noStrike">
                <a:solidFill>
                  <a:srgbClr val="1a2733"/>
                </a:solidFill>
                <a:latin typeface="Calibri"/>
                <a:ea typeface="Calibri"/>
              </a:rPr>
              <a:t>Solar: real CAMS satellite irradiance + ERA5 temperature/wind for Ghardaïa (32.59° N, 3.73° E), run through NREL's SAM (PySAM) → 15-minute AC power for all of 2023.</a:t>
            </a:r>
            <a:endParaRPr b="0" lang="en-US" sz="125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250" spc="-1" strike="noStrike">
                <a:solidFill>
                  <a:srgbClr val="1a2733"/>
                </a:solidFill>
                <a:latin typeface="Calibri"/>
                <a:ea typeface="Calibri"/>
              </a:rPr>
              <a:t>Plant PV ≈ 669 kWp DC / 534 kW AC, single-axis tracking — matched to the ETAP interconnect; ≈ 2,150 kWh/kWp/yr, peak ≈ 0.53 MW.</a:t>
            </a:r>
            <a:endParaRPr b="0" lang="en-US" sz="125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250" spc="-1" strike="noStrike">
                <a:solidFill>
                  <a:srgbClr val="1a2733"/>
                </a:solidFill>
                <a:latin typeface="Calibri"/>
                <a:ea typeface="Calibri"/>
              </a:rPr>
              <a:t>Prices: the official CREG / Sonelgaz medium-voltage time-of-use grid — three rates by hour of day (table →).</a:t>
            </a:r>
            <a:endParaRPr b="0" lang="en-US" sz="1250" spc="-1" strike="noStrike">
              <a:solidFill>
                <a:srgbClr val="000000"/>
              </a:solidFill>
              <a:latin typeface="Arial"/>
            </a:endParaRPr>
          </a:p>
        </p:txBody>
      </p:sp>
      <p:pic>
        <p:nvPicPr>
          <p:cNvPr id="271" name="Image 0" descr="/home/youc/hydrogen-dispatch/results/figures/pv_year_2023.png"/>
          <p:cNvPicPr/>
          <p:nvPr/>
        </p:nvPicPr>
        <p:blipFill>
          <a:blip r:embed="rId1"/>
          <a:stretch/>
        </p:blipFill>
        <p:spPr>
          <a:xfrm>
            <a:off x="411480" y="3794760"/>
            <a:ext cx="6308640" cy="2285280"/>
          </a:xfrm>
          <a:prstGeom prst="rect">
            <a:avLst/>
          </a:prstGeom>
          <a:ln w="0">
            <a:noFill/>
          </a:ln>
        </p:spPr>
      </p:pic>
      <p:sp>
        <p:nvSpPr>
          <p:cNvPr id="272" name="Shape 8"/>
          <p:cNvSpPr/>
          <p:nvPr/>
        </p:nvSpPr>
        <p:spPr>
          <a:xfrm>
            <a:off x="6903720" y="1572840"/>
            <a:ext cx="4754160" cy="4370040"/>
          </a:xfrm>
          <a:prstGeom prst="roundRect">
            <a:avLst>
              <a:gd name="adj" fmla="val 2092"/>
            </a:avLst>
          </a:prstGeom>
          <a:solidFill>
            <a:srgbClr val="eef3f7"/>
          </a:solidFill>
          <a:ln w="12700">
            <a:solidFill>
              <a:srgbClr val="dce5ec"/>
            </a:solidFill>
            <a:round/>
          </a:ln>
          <a:effectLst>
            <a:outerShdw algn="bl" blurRad="114480" dir="5400000" dist="38160" kx="0" ky="0" rotWithShape="0" sx="100000" sy="100000">
              <a:srgbClr val="0e2233">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73" name="Text 9"/>
          <p:cNvSpPr/>
          <p:nvPr/>
        </p:nvSpPr>
        <p:spPr>
          <a:xfrm>
            <a:off x="7132320" y="1737360"/>
            <a:ext cx="438840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pc="94" strike="noStrike">
                <a:solidFill>
                  <a:srgbClr val="1c7293"/>
                </a:solidFill>
                <a:latin typeface="Calibri"/>
                <a:ea typeface="Calibri"/>
              </a:rPr>
              <a:t>GRILLE TARIFAIRE MT — CREG / SONELGAZ · CODE 51NM</a:t>
            </a:r>
            <a:endParaRPr b="0" lang="en-US" sz="1050" spc="-1" strike="noStrike">
              <a:solidFill>
                <a:srgbClr val="000000"/>
              </a:solidFill>
              <a:latin typeface="Arial"/>
            </a:endParaRPr>
          </a:p>
        </p:txBody>
      </p:sp>
      <p:sp>
        <p:nvSpPr>
          <p:cNvPr id="274" name="Text 10"/>
          <p:cNvSpPr/>
          <p:nvPr/>
        </p:nvSpPr>
        <p:spPr>
          <a:xfrm>
            <a:off x="7132320" y="2084760"/>
            <a:ext cx="146232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50" spc="94" strike="noStrike">
                <a:solidFill>
                  <a:srgbClr val="6b7c8f"/>
                </a:solidFill>
                <a:latin typeface="Calibri"/>
                <a:ea typeface="Calibri"/>
              </a:rPr>
              <a:t>PÉRIODE</a:t>
            </a:r>
            <a:endParaRPr b="0" lang="en-US" sz="950" spc="-1" strike="noStrike">
              <a:solidFill>
                <a:srgbClr val="000000"/>
              </a:solidFill>
              <a:latin typeface="Arial"/>
            </a:endParaRPr>
          </a:p>
        </p:txBody>
      </p:sp>
      <p:sp>
        <p:nvSpPr>
          <p:cNvPr id="275" name="Text 11"/>
          <p:cNvSpPr/>
          <p:nvPr/>
        </p:nvSpPr>
        <p:spPr>
          <a:xfrm>
            <a:off x="8595360" y="2084760"/>
            <a:ext cx="164520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50" spc="94" strike="noStrike">
                <a:solidFill>
                  <a:srgbClr val="6b7c8f"/>
                </a:solidFill>
                <a:latin typeface="Calibri"/>
                <a:ea typeface="Calibri"/>
              </a:rPr>
              <a:t>HEURES</a:t>
            </a:r>
            <a:endParaRPr b="0" lang="en-US" sz="950" spc="-1" strike="noStrike">
              <a:solidFill>
                <a:srgbClr val="000000"/>
              </a:solidFill>
              <a:latin typeface="Arial"/>
            </a:endParaRPr>
          </a:p>
        </p:txBody>
      </p:sp>
      <p:sp>
        <p:nvSpPr>
          <p:cNvPr id="276" name="Text 12"/>
          <p:cNvSpPr/>
          <p:nvPr/>
        </p:nvSpPr>
        <p:spPr>
          <a:xfrm>
            <a:off x="10195560" y="2084760"/>
            <a:ext cx="1233720" cy="2368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950" spc="94" strike="noStrike">
                <a:solidFill>
                  <a:srgbClr val="6b7c8f"/>
                </a:solidFill>
                <a:latin typeface="Calibri"/>
                <a:ea typeface="Calibri"/>
              </a:rPr>
              <a:t>DA/kWh</a:t>
            </a:r>
            <a:endParaRPr b="0" lang="en-US" sz="950" spc="-1" strike="noStrike">
              <a:solidFill>
                <a:srgbClr val="000000"/>
              </a:solidFill>
              <a:latin typeface="Arial"/>
            </a:endParaRPr>
          </a:p>
        </p:txBody>
      </p:sp>
      <p:sp>
        <p:nvSpPr>
          <p:cNvPr id="277" name="Shape 13"/>
          <p:cNvSpPr/>
          <p:nvPr/>
        </p:nvSpPr>
        <p:spPr>
          <a:xfrm>
            <a:off x="7132320" y="2377440"/>
            <a:ext cx="4296960" cy="749160"/>
          </a:xfrm>
          <a:prstGeom prst="roundRect">
            <a:avLst>
              <a:gd name="adj" fmla="val 8537"/>
            </a:avLst>
          </a:prstGeom>
          <a:solidFill>
            <a:srgbClr val="ffffff"/>
          </a:solidFill>
          <a:ln w="12700">
            <a:solidFill>
              <a:srgbClr val="dce5ec"/>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78" name="Shape 14"/>
          <p:cNvSpPr/>
          <p:nvPr/>
        </p:nvSpPr>
        <p:spPr>
          <a:xfrm>
            <a:off x="7132320" y="2377440"/>
            <a:ext cx="90720" cy="749160"/>
          </a:xfrm>
          <a:prstGeom prst="rect">
            <a:avLst/>
          </a:prstGeom>
          <a:solidFill>
            <a:srgbClr val="e2643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79" name="Text 15"/>
          <p:cNvSpPr/>
          <p:nvPr/>
        </p:nvSpPr>
        <p:spPr>
          <a:xfrm>
            <a:off x="7333560" y="2377440"/>
            <a:ext cx="1279440" cy="749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50" spc="-1" strike="noStrike">
                <a:solidFill>
                  <a:srgbClr val="1a2733"/>
                </a:solidFill>
                <a:latin typeface="Calibri"/>
                <a:ea typeface="Calibri"/>
              </a:rPr>
              <a:t>Pointe</a:t>
            </a:r>
            <a:endParaRPr b="0" lang="en-US" sz="1350" spc="-1" strike="noStrike">
              <a:solidFill>
                <a:srgbClr val="000000"/>
              </a:solidFill>
              <a:latin typeface="Arial"/>
            </a:endParaRPr>
          </a:p>
        </p:txBody>
      </p:sp>
      <p:sp>
        <p:nvSpPr>
          <p:cNvPr id="280" name="Text 16"/>
          <p:cNvSpPr/>
          <p:nvPr/>
        </p:nvSpPr>
        <p:spPr>
          <a:xfrm>
            <a:off x="8595360" y="2377440"/>
            <a:ext cx="1690920" cy="74916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0" lang="en-US" sz="1000" spc="-1" strike="noStrike">
                <a:solidFill>
                  <a:srgbClr val="6b7c8f"/>
                </a:solidFill>
                <a:latin typeface="Calibri"/>
                <a:ea typeface="Calibri"/>
              </a:rPr>
              <a:t>17h00 – 21h00</a:t>
            </a:r>
            <a:endParaRPr b="0" lang="en-US" sz="1000" spc="-1" strike="noStrike">
              <a:solidFill>
                <a:srgbClr val="000000"/>
              </a:solidFill>
              <a:latin typeface="Arial"/>
            </a:endParaRPr>
          </a:p>
        </p:txBody>
      </p:sp>
      <p:sp>
        <p:nvSpPr>
          <p:cNvPr id="281" name="Text 17"/>
          <p:cNvSpPr/>
          <p:nvPr/>
        </p:nvSpPr>
        <p:spPr>
          <a:xfrm>
            <a:off x="9966960" y="2377440"/>
            <a:ext cx="1462320" cy="749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800" spc="-1" strike="noStrike">
                <a:solidFill>
                  <a:srgbClr val="e2643b"/>
                </a:solidFill>
                <a:latin typeface="Cambria"/>
                <a:ea typeface="Cambria"/>
              </a:rPr>
              <a:t>8.1147</a:t>
            </a:r>
            <a:endParaRPr b="0" lang="en-US" sz="1800" spc="-1" strike="noStrike">
              <a:solidFill>
                <a:srgbClr val="000000"/>
              </a:solidFill>
              <a:latin typeface="Arial"/>
            </a:endParaRPr>
          </a:p>
        </p:txBody>
      </p:sp>
      <p:sp>
        <p:nvSpPr>
          <p:cNvPr id="282" name="Shape 18"/>
          <p:cNvSpPr/>
          <p:nvPr/>
        </p:nvSpPr>
        <p:spPr>
          <a:xfrm>
            <a:off x="7132320" y="3237120"/>
            <a:ext cx="4296960" cy="749160"/>
          </a:xfrm>
          <a:prstGeom prst="roundRect">
            <a:avLst>
              <a:gd name="adj" fmla="val 8537"/>
            </a:avLst>
          </a:prstGeom>
          <a:solidFill>
            <a:srgbClr val="ffffff"/>
          </a:solidFill>
          <a:ln w="12700">
            <a:solidFill>
              <a:srgbClr val="dce5ec"/>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83" name="Shape 19"/>
          <p:cNvSpPr/>
          <p:nvPr/>
        </p:nvSpPr>
        <p:spPr>
          <a:xfrm>
            <a:off x="7132320" y="3237120"/>
            <a:ext cx="90720" cy="749160"/>
          </a:xfrm>
          <a:prstGeom prst="rect">
            <a:avLst/>
          </a:prstGeom>
          <a:solidFill>
            <a:srgbClr val="f4a62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84" name="Text 20"/>
          <p:cNvSpPr/>
          <p:nvPr/>
        </p:nvSpPr>
        <p:spPr>
          <a:xfrm>
            <a:off x="7333560" y="3237120"/>
            <a:ext cx="1279440" cy="749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50" spc="-1" strike="noStrike">
                <a:solidFill>
                  <a:srgbClr val="1a2733"/>
                </a:solidFill>
                <a:latin typeface="Calibri"/>
                <a:ea typeface="Calibri"/>
              </a:rPr>
              <a:t>Pleines</a:t>
            </a:r>
            <a:endParaRPr b="0" lang="en-US" sz="1350" spc="-1" strike="noStrike">
              <a:solidFill>
                <a:srgbClr val="000000"/>
              </a:solidFill>
              <a:latin typeface="Arial"/>
            </a:endParaRPr>
          </a:p>
        </p:txBody>
      </p:sp>
      <p:sp>
        <p:nvSpPr>
          <p:cNvPr id="285" name="Text 21"/>
          <p:cNvSpPr/>
          <p:nvPr/>
        </p:nvSpPr>
        <p:spPr>
          <a:xfrm>
            <a:off x="8595360" y="3237120"/>
            <a:ext cx="1690920" cy="74916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0" lang="en-US" sz="1000" spc="-1" strike="noStrike">
                <a:solidFill>
                  <a:srgbClr val="6b7c8f"/>
                </a:solidFill>
                <a:latin typeface="Calibri"/>
                <a:ea typeface="Calibri"/>
              </a:rPr>
              <a:t>06h00 – 17h00</a:t>
            </a:r>
            <a:endParaRPr b="0" lang="en-US" sz="1000" spc="-1" strike="noStrike">
              <a:solidFill>
                <a:srgbClr val="000000"/>
              </a:solidFill>
              <a:latin typeface="Arial"/>
            </a:endParaRPr>
          </a:p>
          <a:p>
            <a:pPr defTabSz="914400">
              <a:lnSpc>
                <a:spcPct val="105000"/>
              </a:lnSpc>
              <a:tabLst>
                <a:tab algn="l" pos="0"/>
              </a:tabLst>
            </a:pPr>
            <a:r>
              <a:rPr b="0" lang="en-US" sz="1000" spc="-1" strike="noStrike">
                <a:solidFill>
                  <a:srgbClr val="6b7c8f"/>
                </a:solidFill>
                <a:latin typeface="Calibri"/>
                <a:ea typeface="Calibri"/>
              </a:rPr>
              <a:t>21h00 – 22h30</a:t>
            </a:r>
            <a:endParaRPr b="0" lang="en-US" sz="1000" spc="-1" strike="noStrike">
              <a:solidFill>
                <a:srgbClr val="000000"/>
              </a:solidFill>
              <a:latin typeface="Arial"/>
            </a:endParaRPr>
          </a:p>
        </p:txBody>
      </p:sp>
      <p:sp>
        <p:nvSpPr>
          <p:cNvPr id="286" name="Text 22"/>
          <p:cNvSpPr/>
          <p:nvPr/>
        </p:nvSpPr>
        <p:spPr>
          <a:xfrm>
            <a:off x="9966960" y="3237120"/>
            <a:ext cx="1462320" cy="749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800" spc="-1" strike="noStrike">
                <a:solidFill>
                  <a:srgbClr val="f4a623"/>
                </a:solidFill>
                <a:latin typeface="Cambria"/>
                <a:ea typeface="Cambria"/>
              </a:rPr>
              <a:t>2.1645</a:t>
            </a:r>
            <a:endParaRPr b="0" lang="en-US" sz="1800" spc="-1" strike="noStrike">
              <a:solidFill>
                <a:srgbClr val="000000"/>
              </a:solidFill>
              <a:latin typeface="Arial"/>
            </a:endParaRPr>
          </a:p>
        </p:txBody>
      </p:sp>
      <p:sp>
        <p:nvSpPr>
          <p:cNvPr id="287" name="Shape 23"/>
          <p:cNvSpPr/>
          <p:nvPr/>
        </p:nvSpPr>
        <p:spPr>
          <a:xfrm>
            <a:off x="7132320" y="4096440"/>
            <a:ext cx="4296960" cy="749160"/>
          </a:xfrm>
          <a:prstGeom prst="roundRect">
            <a:avLst>
              <a:gd name="adj" fmla="val 8537"/>
            </a:avLst>
          </a:prstGeom>
          <a:solidFill>
            <a:srgbClr val="ffffff"/>
          </a:solidFill>
          <a:ln w="12700">
            <a:solidFill>
              <a:srgbClr val="dce5ec"/>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88" name="Shape 24"/>
          <p:cNvSpPr/>
          <p:nvPr/>
        </p:nvSpPr>
        <p:spPr>
          <a:xfrm>
            <a:off x="7132320" y="4096440"/>
            <a:ext cx="90720" cy="749160"/>
          </a:xfrm>
          <a:prstGeom prst="rect">
            <a:avLst/>
          </a:prstGeom>
          <a:solidFill>
            <a:srgbClr val="1c729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89" name="Text 25"/>
          <p:cNvSpPr/>
          <p:nvPr/>
        </p:nvSpPr>
        <p:spPr>
          <a:xfrm>
            <a:off x="7333560" y="4096440"/>
            <a:ext cx="1279440" cy="749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50" spc="-1" strike="noStrike">
                <a:solidFill>
                  <a:srgbClr val="1a2733"/>
                </a:solidFill>
                <a:latin typeface="Calibri"/>
                <a:ea typeface="Calibri"/>
              </a:rPr>
              <a:t>Creuses</a:t>
            </a:r>
            <a:endParaRPr b="0" lang="en-US" sz="1350" spc="-1" strike="noStrike">
              <a:solidFill>
                <a:srgbClr val="000000"/>
              </a:solidFill>
              <a:latin typeface="Arial"/>
            </a:endParaRPr>
          </a:p>
        </p:txBody>
      </p:sp>
      <p:sp>
        <p:nvSpPr>
          <p:cNvPr id="290" name="Text 26"/>
          <p:cNvSpPr/>
          <p:nvPr/>
        </p:nvSpPr>
        <p:spPr>
          <a:xfrm>
            <a:off x="8595360" y="4096440"/>
            <a:ext cx="1690920" cy="74916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0" lang="en-US" sz="1000" spc="-1" strike="noStrike">
                <a:solidFill>
                  <a:srgbClr val="6b7c8f"/>
                </a:solidFill>
                <a:latin typeface="Calibri"/>
                <a:ea typeface="Calibri"/>
              </a:rPr>
              <a:t>22h30 – 06h00</a:t>
            </a:r>
            <a:endParaRPr b="0" lang="en-US" sz="1000" spc="-1" strike="noStrike">
              <a:solidFill>
                <a:srgbClr val="000000"/>
              </a:solidFill>
              <a:latin typeface="Arial"/>
            </a:endParaRPr>
          </a:p>
        </p:txBody>
      </p:sp>
      <p:sp>
        <p:nvSpPr>
          <p:cNvPr id="291" name="Text 27"/>
          <p:cNvSpPr/>
          <p:nvPr/>
        </p:nvSpPr>
        <p:spPr>
          <a:xfrm>
            <a:off x="9966960" y="4096440"/>
            <a:ext cx="1462320" cy="749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800" spc="-1" strike="noStrike">
                <a:solidFill>
                  <a:srgbClr val="1c7293"/>
                </a:solidFill>
                <a:latin typeface="Cambria"/>
                <a:ea typeface="Cambria"/>
              </a:rPr>
              <a:t>1.2050</a:t>
            </a:r>
            <a:endParaRPr b="0" lang="en-US" sz="1800" spc="-1" strike="noStrike">
              <a:solidFill>
                <a:srgbClr val="000000"/>
              </a:solidFill>
              <a:latin typeface="Arial"/>
            </a:endParaRPr>
          </a:p>
        </p:txBody>
      </p:sp>
      <p:sp>
        <p:nvSpPr>
          <p:cNvPr id="292" name="Shape 28"/>
          <p:cNvSpPr/>
          <p:nvPr/>
        </p:nvSpPr>
        <p:spPr>
          <a:xfrm>
            <a:off x="7132320" y="4974480"/>
            <a:ext cx="4296960" cy="456480"/>
          </a:xfrm>
          <a:prstGeom prst="roundRect">
            <a:avLst>
              <a:gd name="adj" fmla="val 14000"/>
            </a:avLst>
          </a:prstGeom>
          <a:solidFill>
            <a:srgbClr val="f4f7fa"/>
          </a:solidFill>
          <a:ln w="12700">
            <a:solidFill>
              <a:srgbClr val="dce5ec"/>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93" name="Text 29"/>
          <p:cNvSpPr/>
          <p:nvPr/>
        </p:nvSpPr>
        <p:spPr>
          <a:xfrm>
            <a:off x="7333560" y="4974480"/>
            <a:ext cx="274248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pc="-1" strike="noStrike">
                <a:solidFill>
                  <a:srgbClr val="1a2733"/>
                </a:solidFill>
                <a:latin typeface="Calibri"/>
                <a:ea typeface="Calibri"/>
              </a:rPr>
              <a:t>Prime de puissance (demand charge)</a:t>
            </a:r>
            <a:endParaRPr b="0" lang="en-US" sz="1000" spc="-1" strike="noStrike">
              <a:solidFill>
                <a:srgbClr val="000000"/>
              </a:solidFill>
              <a:latin typeface="Arial"/>
            </a:endParaRPr>
          </a:p>
        </p:txBody>
      </p:sp>
      <p:sp>
        <p:nvSpPr>
          <p:cNvPr id="294" name="Text 30"/>
          <p:cNvSpPr/>
          <p:nvPr/>
        </p:nvSpPr>
        <p:spPr>
          <a:xfrm>
            <a:off x="9784080" y="4974480"/>
            <a:ext cx="1645200" cy="4564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050" spc="-1" strike="noStrike">
                <a:solidFill>
                  <a:srgbClr val="1a2733"/>
                </a:solidFill>
                <a:latin typeface="Calibri"/>
                <a:ea typeface="Calibri"/>
              </a:rPr>
              <a:t>4.37 DA/kW/mois</a:t>
            </a:r>
            <a:endParaRPr b="0" lang="en-US" sz="1050" spc="-1" strike="noStrike">
              <a:solidFill>
                <a:srgbClr val="000000"/>
              </a:solidFill>
              <a:latin typeface="Arial"/>
            </a:endParaRPr>
          </a:p>
        </p:txBody>
      </p:sp>
      <p:sp>
        <p:nvSpPr>
          <p:cNvPr id="295" name="Text 31"/>
          <p:cNvSpPr/>
          <p:nvPr/>
        </p:nvSpPr>
        <p:spPr>
          <a:xfrm>
            <a:off x="7132320" y="5523120"/>
            <a:ext cx="4315320" cy="328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850" spc="-1" strike="noStrike">
                <a:solidFill>
                  <a:srgbClr val="6b7c8f"/>
                </a:solidFill>
                <a:latin typeface="Calibri"/>
                <a:ea typeface="Calibri"/>
              </a:rPr>
              <a:t>Source : CREG, « Comment lire votre facture » — grille moyenne tension, code tarif 51NM.</a:t>
            </a:r>
            <a:endParaRPr b="0" lang="en-US" sz="850" spc="-1" strike="noStrike">
              <a:solidFill>
                <a:srgbClr val="000000"/>
              </a:solidFill>
              <a:latin typeface="Arial"/>
            </a:endParaRPr>
          </a:p>
        </p:txBody>
      </p:sp>
      <p:sp>
        <p:nvSpPr>
          <p:cNvPr id="296" name="Text 32"/>
          <p:cNvSpPr/>
          <p:nvPr/>
        </p:nvSpPr>
        <p:spPr>
          <a:xfrm>
            <a:off x="6903720" y="6016680"/>
            <a:ext cx="4754160" cy="291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i="1" lang="en-US" sz="1150" spc="-1" strike="noStrike">
                <a:solidFill>
                  <a:srgbClr val="e2643b"/>
                </a:solidFill>
                <a:latin typeface="Calibri"/>
                <a:ea typeface="Calibri"/>
              </a:rPr>
              <a:t>Pointe = 6.7 × Creuses — the spread that makes timing pay.</a:t>
            </a:r>
            <a:endParaRPr b="0" lang="en-US" sz="1150" spc="-1" strike="noStrike">
              <a:solidFill>
                <a:srgbClr val="000000"/>
              </a:solidFill>
              <a:latin typeface="Arial"/>
            </a:endParaRPr>
          </a:p>
        </p:txBody>
      </p:sp>
      <p:sp>
        <p:nvSpPr>
          <p:cNvPr id="297" name="Text 33"/>
          <p:cNvSpPr/>
          <p:nvPr/>
        </p:nvSpPr>
        <p:spPr>
          <a:xfrm>
            <a:off x="548640" y="6437520"/>
            <a:ext cx="82288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900" spc="-1" strike="noStrike">
                <a:solidFill>
                  <a:srgbClr val="6b7c8f"/>
                </a:solidFill>
                <a:latin typeface="Calibri"/>
                <a:ea typeface="Calibri"/>
              </a:rPr>
              <a:t>Supervisory Dispatch Control · Solar–Grid–Electrolyzer H₂ Plant</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98" name="Text 0"/>
          <p:cNvSpPr/>
          <p:nvPr/>
        </p:nvSpPr>
        <p:spPr>
          <a:xfrm>
            <a:off x="11338560" y="6400800"/>
            <a:ext cx="456480" cy="291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050" spc="-1" strike="noStrike">
                <a:solidFill>
                  <a:srgbClr val="6b7c8f"/>
                </a:solidFill>
                <a:latin typeface="Calibri"/>
                <a:ea typeface="Calibri"/>
              </a:rPr>
              <a:t>11</a:t>
            </a:r>
            <a:endParaRPr b="0" lang="en-US" sz="1050" spc="-1" strike="noStrike">
              <a:solidFill>
                <a:srgbClr val="000000"/>
              </a:solidFill>
              <a:latin typeface="Arial"/>
            </a:endParaRPr>
          </a:p>
        </p:txBody>
      </p:sp>
      <p:sp>
        <p:nvSpPr>
          <p:cNvPr id="299" name="Text 1"/>
          <p:cNvSpPr/>
          <p:nvPr/>
        </p:nvSpPr>
        <p:spPr>
          <a:xfrm>
            <a:off x="548640" y="384120"/>
            <a:ext cx="109720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296" strike="noStrike">
                <a:solidFill>
                  <a:srgbClr val="1c7293"/>
                </a:solidFill>
                <a:latin typeface="Calibri"/>
                <a:ea typeface="Calibri"/>
              </a:rPr>
              <a:t>METHOD — THE VALIDATED DIGITAL TWIN</a:t>
            </a:r>
            <a:endParaRPr b="0" lang="en-US" sz="1200" spc="-1" strike="noStrike">
              <a:solidFill>
                <a:srgbClr val="000000"/>
              </a:solidFill>
              <a:latin typeface="Arial"/>
            </a:endParaRPr>
          </a:p>
        </p:txBody>
      </p:sp>
      <p:sp>
        <p:nvSpPr>
          <p:cNvPr id="300" name="Text 2"/>
          <p:cNvSpPr/>
          <p:nvPr/>
        </p:nvSpPr>
        <p:spPr>
          <a:xfrm>
            <a:off x="548640" y="658440"/>
            <a:ext cx="11063520" cy="77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900" spc="-1" strike="noStrike">
                <a:solidFill>
                  <a:srgbClr val="0e2233"/>
                </a:solidFill>
                <a:latin typeface="Cambria"/>
                <a:ea typeface="Cambria"/>
              </a:rPr>
              <a:t>Prove the model before trusting it</a:t>
            </a:r>
            <a:endParaRPr b="0" lang="en-US" sz="2900" spc="-1" strike="noStrike">
              <a:solidFill>
                <a:srgbClr val="000000"/>
              </a:solidFill>
              <a:latin typeface="Arial"/>
            </a:endParaRPr>
          </a:p>
        </p:txBody>
      </p:sp>
      <p:sp>
        <p:nvSpPr>
          <p:cNvPr id="301" name="Shape 3"/>
          <p:cNvSpPr/>
          <p:nvPr/>
        </p:nvSpPr>
        <p:spPr>
          <a:xfrm>
            <a:off x="9626760" y="365760"/>
            <a:ext cx="2012760" cy="328320"/>
          </a:xfrm>
          <a:prstGeom prst="roundRect">
            <a:avLst>
              <a:gd name="adj" fmla="val 50000"/>
            </a:avLst>
          </a:prstGeom>
          <a:solidFill>
            <a:srgbClr val="eef3f7"/>
          </a:solidFill>
          <a:ln w="12700">
            <a:solidFill>
              <a:srgbClr val="dce5ec"/>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02" name="Text 4"/>
          <p:cNvSpPr/>
          <p:nvPr/>
        </p:nvSpPr>
        <p:spPr>
          <a:xfrm>
            <a:off x="9672480" y="365760"/>
            <a:ext cx="1921320" cy="328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50" spc="-1" strike="noStrike">
                <a:solidFill>
                  <a:srgbClr val="1c7293"/>
                </a:solidFill>
                <a:latin typeface="Calibri"/>
                <a:ea typeface="Calibri"/>
              </a:rPr>
              <a:t>pandapower  </a:t>
            </a:r>
            <a:r>
              <a:rPr b="0" lang="en-US" sz="900" spc="-1" strike="noStrike">
                <a:solidFill>
                  <a:srgbClr val="6b7c8f"/>
                </a:solidFill>
                <a:latin typeface="Calibri"/>
                <a:ea typeface="Calibri"/>
              </a:rPr>
              <a:t>open-source engine</a:t>
            </a:r>
            <a:endParaRPr b="0" lang="en-US" sz="900" spc="-1" strike="noStrike">
              <a:solidFill>
                <a:srgbClr val="000000"/>
              </a:solidFill>
              <a:latin typeface="Arial"/>
            </a:endParaRPr>
          </a:p>
        </p:txBody>
      </p:sp>
      <p:sp>
        <p:nvSpPr>
          <p:cNvPr id="303" name="Shape 5"/>
          <p:cNvSpPr/>
          <p:nvPr/>
        </p:nvSpPr>
        <p:spPr>
          <a:xfrm>
            <a:off x="7843680" y="365760"/>
            <a:ext cx="1672560" cy="328320"/>
          </a:xfrm>
          <a:prstGeom prst="roundRect">
            <a:avLst>
              <a:gd name="adj" fmla="val 50000"/>
            </a:avLst>
          </a:prstGeom>
          <a:solidFill>
            <a:srgbClr val="eef3f7"/>
          </a:solidFill>
          <a:ln w="12700">
            <a:solidFill>
              <a:srgbClr val="dce5ec"/>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04" name="Text 6"/>
          <p:cNvSpPr/>
          <p:nvPr/>
        </p:nvSpPr>
        <p:spPr>
          <a:xfrm>
            <a:off x="7889400" y="365760"/>
            <a:ext cx="1581120" cy="328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50" spc="-1" strike="noStrike">
                <a:solidFill>
                  <a:srgbClr val="1c7293"/>
                </a:solidFill>
                <a:latin typeface="Calibri"/>
                <a:ea typeface="Calibri"/>
              </a:rPr>
              <a:t>ETAP  </a:t>
            </a:r>
            <a:r>
              <a:rPr b="0" lang="en-US" sz="900" spc="-1" strike="noStrike">
                <a:solidFill>
                  <a:srgbClr val="6b7c8f"/>
                </a:solidFill>
                <a:latin typeface="Calibri"/>
                <a:ea typeface="Calibri"/>
              </a:rPr>
              <a:t>industry reference</a:t>
            </a:r>
            <a:endParaRPr b="0" lang="en-US" sz="900" spc="-1" strike="noStrike">
              <a:solidFill>
                <a:srgbClr val="000000"/>
              </a:solidFill>
              <a:latin typeface="Arial"/>
            </a:endParaRPr>
          </a:p>
        </p:txBody>
      </p:sp>
      <p:pic>
        <p:nvPicPr>
          <p:cNvPr id="305" name="Image 0" descr="/home/youc/hydrogen-dispatch/results/figures/net_sunny.png"/>
          <p:cNvPicPr/>
          <p:nvPr/>
        </p:nvPicPr>
        <p:blipFill>
          <a:blip r:embed="rId1"/>
          <a:stretch/>
        </p:blipFill>
        <p:spPr>
          <a:xfrm>
            <a:off x="6812280" y="1417320"/>
            <a:ext cx="5028480" cy="4205520"/>
          </a:xfrm>
          <a:prstGeom prst="rect">
            <a:avLst/>
          </a:prstGeom>
          <a:ln w="0">
            <a:noFill/>
          </a:ln>
        </p:spPr>
      </p:pic>
      <p:sp>
        <p:nvSpPr>
          <p:cNvPr id="306" name="Text 7"/>
          <p:cNvSpPr/>
          <p:nvPr/>
        </p:nvSpPr>
        <p:spPr>
          <a:xfrm>
            <a:off x="548640" y="1572840"/>
            <a:ext cx="5988600" cy="3199680"/>
          </a:xfrm>
          <a:prstGeom prst="rect">
            <a:avLst/>
          </a:prstGeom>
          <a:noFill/>
          <a:ln w="0">
            <a:noFill/>
          </a:ln>
        </p:spPr>
        <p:style>
          <a:lnRef idx="0"/>
          <a:fillRef idx="0"/>
          <a:effectRef idx="0"/>
          <a:fontRef idx="minor"/>
        </p:style>
        <p:txBody>
          <a:bodyPr lIns="0" rIns="0" tIns="0" bIns="0" anchor="t">
            <a:noAutofit/>
          </a:bodyPr>
          <a:p>
            <a:pPr marL="177840" indent="-177840" defTabSz="914400">
              <a:lnSpc>
                <a:spcPct val="104000"/>
              </a:lnSpc>
              <a:spcAft>
                <a:spcPts val="799"/>
              </a:spcAft>
              <a:buClr>
                <a:srgbClr val="1a2733"/>
              </a:buClr>
              <a:buFont typeface="Symbol" charset="2"/>
              <a:buChar char=""/>
            </a:pPr>
            <a:r>
              <a:rPr b="0" lang="en-US" sz="1320" spc="-1" strike="noStrike">
                <a:solidFill>
                  <a:srgbClr val="1a2733"/>
                </a:solidFill>
                <a:latin typeface="Calibri"/>
                <a:ea typeface="Calibri"/>
              </a:rPr>
              <a:t>The plant's official electrical study lives in ETAP — the industry-standard power-system tool. Trusted, but GUI-bound: it cannot be scripted across a year of dispatch.</a:t>
            </a:r>
            <a:endParaRPr b="0" lang="en-US" sz="132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320" spc="-1" strike="noStrike">
                <a:solidFill>
                  <a:srgbClr val="1a2733"/>
                </a:solidFill>
                <a:latin typeface="Calibri"/>
                <a:ea typeface="Calibri"/>
              </a:rPr>
              <a:t>So we rebuilt the same network in pandapower, an open-source load-flow engine we can automate: grid → 11 kV → 2 MVA transformer → 0.415 kV → PV + electrolyzer.</a:t>
            </a:r>
            <a:endParaRPr b="0" lang="en-US" sz="132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320" spc="-1" strike="noStrike">
                <a:solidFill>
                  <a:srgbClr val="1a2733"/>
                </a:solidFill>
                <a:latin typeface="Calibri"/>
                <a:ea typeface="Calibri"/>
              </a:rPr>
              <a:t>Same Newton-Raphson load flow, three operating points (sunny / night / PV-export): 24/24 checks agree — voltages ±0.01 pu, loading within 2 pts, flows within 2 %.</a:t>
            </a:r>
            <a:endParaRPr b="0" lang="en-US" sz="132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320" spc="-1" strike="noStrike">
                <a:solidFill>
                  <a:srgbClr val="1a2733"/>
                </a:solidFill>
                <a:latin typeface="Calibri"/>
                <a:ea typeface="Calibri"/>
              </a:rPr>
              <a:t>The credibility anchor: everything downstream runs on a model that matches the professional reference — including the reverse-power-flow sign.</a:t>
            </a:r>
            <a:endParaRPr b="0" lang="en-US" sz="1320" spc="-1" strike="noStrike">
              <a:solidFill>
                <a:srgbClr val="000000"/>
              </a:solidFill>
              <a:latin typeface="Arial"/>
            </a:endParaRPr>
          </a:p>
        </p:txBody>
      </p:sp>
      <p:sp>
        <p:nvSpPr>
          <p:cNvPr id="307" name="Shape 8"/>
          <p:cNvSpPr/>
          <p:nvPr/>
        </p:nvSpPr>
        <p:spPr>
          <a:xfrm>
            <a:off x="548640" y="4983480"/>
            <a:ext cx="2239560" cy="1279440"/>
          </a:xfrm>
          <a:prstGeom prst="roundRect">
            <a:avLst>
              <a:gd name="adj" fmla="val 5714"/>
            </a:avLst>
          </a:prstGeom>
          <a:solidFill>
            <a:srgbClr val="ffffff"/>
          </a:solidFill>
          <a:ln w="12700">
            <a:solidFill>
              <a:srgbClr val="dce5ec"/>
            </a:solidFill>
            <a:round/>
          </a:ln>
          <a:effectLst>
            <a:outerShdw algn="bl" blurRad="114480" dir="5400000" dist="38160" kx="0" ky="0" rotWithShape="0" sx="100000" sy="100000">
              <a:srgbClr val="0e2233">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08" name="Text 9"/>
          <p:cNvSpPr/>
          <p:nvPr/>
        </p:nvSpPr>
        <p:spPr>
          <a:xfrm>
            <a:off x="640080" y="5129640"/>
            <a:ext cx="2056680" cy="6026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700" spc="-1" strike="noStrike">
                <a:solidFill>
                  <a:srgbClr val="2a9d8f"/>
                </a:solidFill>
                <a:latin typeface="Cambria"/>
                <a:ea typeface="Cambria"/>
              </a:rPr>
              <a:t>24 / 24</a:t>
            </a:r>
            <a:endParaRPr b="0" lang="en-US" sz="2700" spc="-1" strike="noStrike">
              <a:solidFill>
                <a:srgbClr val="000000"/>
              </a:solidFill>
              <a:latin typeface="Arial"/>
            </a:endParaRPr>
          </a:p>
        </p:txBody>
      </p:sp>
      <p:sp>
        <p:nvSpPr>
          <p:cNvPr id="309" name="Text 10"/>
          <p:cNvSpPr/>
          <p:nvPr/>
        </p:nvSpPr>
        <p:spPr>
          <a:xfrm>
            <a:off x="658440" y="5769720"/>
            <a:ext cx="2019960" cy="419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pc="-1" strike="noStrike">
                <a:solidFill>
                  <a:srgbClr val="6b7c8f"/>
                </a:solidFill>
                <a:latin typeface="Calibri"/>
                <a:ea typeface="Calibri"/>
              </a:rPr>
              <a:t>validation checks pass</a:t>
            </a:r>
            <a:endParaRPr b="0" lang="en-US" sz="1100" spc="-1" strike="noStrike">
              <a:solidFill>
                <a:srgbClr val="000000"/>
              </a:solidFill>
              <a:latin typeface="Arial"/>
            </a:endParaRPr>
          </a:p>
        </p:txBody>
      </p:sp>
      <p:sp>
        <p:nvSpPr>
          <p:cNvPr id="310" name="Text 11"/>
          <p:cNvSpPr/>
          <p:nvPr/>
        </p:nvSpPr>
        <p:spPr>
          <a:xfrm>
            <a:off x="548640" y="6437520"/>
            <a:ext cx="82288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900" spc="-1" strike="noStrike">
                <a:solidFill>
                  <a:srgbClr val="6b7c8f"/>
                </a:solidFill>
                <a:latin typeface="Calibri"/>
                <a:ea typeface="Calibri"/>
              </a:rPr>
              <a:t>Supervisory Dispatch Control · Solar–Grid–Electrolyzer H₂ Plant</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1" name="Text 0"/>
          <p:cNvSpPr/>
          <p:nvPr/>
        </p:nvSpPr>
        <p:spPr>
          <a:xfrm>
            <a:off x="11338560" y="6400800"/>
            <a:ext cx="456480" cy="291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050" spc="-1" strike="noStrike">
                <a:solidFill>
                  <a:srgbClr val="6b7c8f"/>
                </a:solidFill>
                <a:latin typeface="Calibri"/>
                <a:ea typeface="Calibri"/>
              </a:rPr>
              <a:t>12</a:t>
            </a:r>
            <a:endParaRPr b="0" lang="en-US" sz="1050" spc="-1" strike="noStrike">
              <a:solidFill>
                <a:srgbClr val="000000"/>
              </a:solidFill>
              <a:latin typeface="Arial"/>
            </a:endParaRPr>
          </a:p>
        </p:txBody>
      </p:sp>
      <p:sp>
        <p:nvSpPr>
          <p:cNvPr id="312" name="Text 1"/>
          <p:cNvSpPr/>
          <p:nvPr/>
        </p:nvSpPr>
        <p:spPr>
          <a:xfrm>
            <a:off x="548640" y="384120"/>
            <a:ext cx="109720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296" strike="noStrike">
                <a:solidFill>
                  <a:srgbClr val="1c7293"/>
                </a:solidFill>
                <a:latin typeface="Calibri"/>
                <a:ea typeface="Calibri"/>
              </a:rPr>
              <a:t>METHOD — THE HYDROGEN PHYSICS</a:t>
            </a:r>
            <a:endParaRPr b="0" lang="en-US" sz="1200" spc="-1" strike="noStrike">
              <a:solidFill>
                <a:srgbClr val="000000"/>
              </a:solidFill>
              <a:latin typeface="Arial"/>
            </a:endParaRPr>
          </a:p>
        </p:txBody>
      </p:sp>
      <p:sp>
        <p:nvSpPr>
          <p:cNvPr id="313" name="Text 2"/>
          <p:cNvSpPr/>
          <p:nvPr/>
        </p:nvSpPr>
        <p:spPr>
          <a:xfrm>
            <a:off x="548640" y="658440"/>
            <a:ext cx="11063520" cy="77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900" spc="-1" strike="noStrike">
                <a:solidFill>
                  <a:srgbClr val="0e2233"/>
                </a:solidFill>
                <a:latin typeface="Cambria"/>
                <a:ea typeface="Cambria"/>
              </a:rPr>
              <a:t>PEM electrolyzer: power in, hydrogen out</a:t>
            </a:r>
            <a:endParaRPr b="0" lang="en-US" sz="2900" spc="-1" strike="noStrike">
              <a:solidFill>
                <a:srgbClr val="000000"/>
              </a:solidFill>
              <a:latin typeface="Arial"/>
            </a:endParaRPr>
          </a:p>
        </p:txBody>
      </p:sp>
      <p:sp>
        <p:nvSpPr>
          <p:cNvPr id="314" name="Shape 3"/>
          <p:cNvSpPr/>
          <p:nvPr/>
        </p:nvSpPr>
        <p:spPr>
          <a:xfrm>
            <a:off x="9456840" y="365760"/>
            <a:ext cx="2183040" cy="328320"/>
          </a:xfrm>
          <a:prstGeom prst="roundRect">
            <a:avLst>
              <a:gd name="adj" fmla="val 50000"/>
            </a:avLst>
          </a:prstGeom>
          <a:solidFill>
            <a:srgbClr val="eef3f7"/>
          </a:solidFill>
          <a:ln w="12700">
            <a:solidFill>
              <a:srgbClr val="dce5ec"/>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15" name="Text 4"/>
          <p:cNvSpPr/>
          <p:nvPr/>
        </p:nvSpPr>
        <p:spPr>
          <a:xfrm>
            <a:off x="9502560" y="365760"/>
            <a:ext cx="2091600" cy="328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50" spc="-1" strike="noStrike">
                <a:solidFill>
                  <a:srgbClr val="1c7293"/>
                </a:solidFill>
                <a:latin typeface="Calibri"/>
                <a:ea typeface="Calibri"/>
              </a:rPr>
              <a:t>src/physics  </a:t>
            </a:r>
            <a:r>
              <a:rPr b="0" lang="en-US" sz="900" spc="-1" strike="noStrike">
                <a:solidFill>
                  <a:srgbClr val="6b7c8f"/>
                </a:solidFill>
                <a:latin typeface="Calibri"/>
                <a:ea typeface="Calibri"/>
              </a:rPr>
              <a:t>our model, in Python</a:t>
            </a:r>
            <a:endParaRPr b="0" lang="en-US" sz="900" spc="-1" strike="noStrike">
              <a:solidFill>
                <a:srgbClr val="000000"/>
              </a:solidFill>
              <a:latin typeface="Arial"/>
            </a:endParaRPr>
          </a:p>
        </p:txBody>
      </p:sp>
      <p:sp>
        <p:nvSpPr>
          <p:cNvPr id="316" name="Text 5"/>
          <p:cNvSpPr/>
          <p:nvPr/>
        </p:nvSpPr>
        <p:spPr>
          <a:xfrm>
            <a:off x="548640" y="1600200"/>
            <a:ext cx="5760000" cy="2239560"/>
          </a:xfrm>
          <a:prstGeom prst="rect">
            <a:avLst/>
          </a:prstGeom>
          <a:noFill/>
          <a:ln w="0">
            <a:noFill/>
          </a:ln>
        </p:spPr>
        <p:style>
          <a:lnRef idx="0"/>
          <a:fillRef idx="0"/>
          <a:effectRef idx="0"/>
          <a:fontRef idx="minor"/>
        </p:style>
        <p:txBody>
          <a:bodyPr lIns="0" rIns="0" tIns="0" bIns="0" anchor="t">
            <a:noAutofit/>
          </a:bodyPr>
          <a:p>
            <a:pPr marL="177840" indent="-177840" defTabSz="914400">
              <a:lnSpc>
                <a:spcPct val="104000"/>
              </a:lnSpc>
              <a:spcAft>
                <a:spcPts val="799"/>
              </a:spcAft>
              <a:buClr>
                <a:srgbClr val="1a2733"/>
              </a:buClr>
              <a:buFont typeface="Symbol" charset="2"/>
              <a:buChar char=""/>
            </a:pPr>
            <a:r>
              <a:rPr b="0" lang="en-US" sz="1250" spc="-1" strike="noStrike">
                <a:solidFill>
                  <a:srgbClr val="1a2733"/>
                </a:solidFill>
                <a:latin typeface="Calibri"/>
                <a:ea typeface="Calibri"/>
              </a:rPr>
              <a:t>A PEM stack modelled from physics: reversible voltage + Tafel activation + ohmic loss give V(i); Faraday's law turns current into hydrogen mass flow.</a:t>
            </a:r>
            <a:endParaRPr b="0" lang="en-US" sz="125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250" spc="-1" strike="noStrike">
                <a:solidFill>
                  <a:srgbClr val="1a2733"/>
                </a:solidFill>
                <a:latin typeface="Calibri"/>
                <a:ea typeface="Calibri"/>
              </a:rPr>
              <a:t>Rated 0.800 MW at ≈ 2 A/cm² → ≈ 14.6 kg H₂/h at ≈ 54 kWh/kg; a 10 % minimum turndown (0.080 MW) — below it the stack switches off.</a:t>
            </a:r>
            <a:endParaRPr b="0" lang="en-US" sz="125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250" spc="-1" strike="noStrike">
                <a:solidFill>
                  <a:srgbClr val="1a2733"/>
                </a:solidFill>
                <a:latin typeface="Calibri"/>
                <a:ea typeface="Calibri"/>
              </a:rPr>
              <a:t>The optimiser calls a fast lookup table of this exact curve, so a full year of dispatch is cheap to evaluate.</a:t>
            </a:r>
            <a:endParaRPr b="0" lang="en-US" sz="1250" spc="-1" strike="noStrike">
              <a:solidFill>
                <a:srgbClr val="000000"/>
              </a:solidFill>
              <a:latin typeface="Arial"/>
            </a:endParaRPr>
          </a:p>
        </p:txBody>
      </p:sp>
      <p:pic>
        <p:nvPicPr>
          <p:cNvPr id="317" name="Image 0" descr="/home/youc/hydrogen-dispatch/results/figures/pem_cell_schematic.png"/>
          <p:cNvPicPr/>
          <p:nvPr/>
        </p:nvPicPr>
        <p:blipFill>
          <a:blip r:embed="rId1"/>
          <a:stretch/>
        </p:blipFill>
        <p:spPr>
          <a:xfrm>
            <a:off x="6446520" y="1463040"/>
            <a:ext cx="5211360" cy="2513880"/>
          </a:xfrm>
          <a:prstGeom prst="rect">
            <a:avLst/>
          </a:prstGeom>
          <a:ln w="0">
            <a:noFill/>
          </a:ln>
        </p:spPr>
      </p:pic>
      <p:pic>
        <p:nvPicPr>
          <p:cNvPr id="318" name="Image 1" descr="/home/youc/hydrogen-dispatch/results/figures/electrolyzer_curves.png"/>
          <p:cNvPicPr/>
          <p:nvPr/>
        </p:nvPicPr>
        <p:blipFill>
          <a:blip r:embed="rId2"/>
          <a:stretch/>
        </p:blipFill>
        <p:spPr>
          <a:xfrm>
            <a:off x="1645920" y="3913560"/>
            <a:ext cx="8887320" cy="2440800"/>
          </a:xfrm>
          <a:prstGeom prst="rect">
            <a:avLst/>
          </a:prstGeom>
          <a:ln w="0">
            <a:noFill/>
          </a:ln>
        </p:spPr>
      </p:pic>
      <p:sp>
        <p:nvSpPr>
          <p:cNvPr id="319" name="Text 6"/>
          <p:cNvSpPr/>
          <p:nvPr/>
        </p:nvSpPr>
        <p:spPr>
          <a:xfrm>
            <a:off x="548640" y="6437520"/>
            <a:ext cx="82288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900" spc="-1" strike="noStrike">
                <a:solidFill>
                  <a:srgbClr val="6b7c8f"/>
                </a:solidFill>
                <a:latin typeface="Calibri"/>
                <a:ea typeface="Calibri"/>
              </a:rPr>
              <a:t>Supervisory Dispatch Control · Solar–Grid–Electrolyzer H₂ Plant</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e2233"/>
        </a:solidFill>
      </p:bgPr>
    </p:bg>
    <p:spTree>
      <p:nvGrpSpPr>
        <p:cNvPr id="1" name=""/>
        <p:cNvGrpSpPr/>
        <p:nvPr/>
      </p:nvGrpSpPr>
      <p:grpSpPr>
        <a:xfrm>
          <a:off x="0" y="0"/>
          <a:ext cx="0" cy="0"/>
          <a:chOff x="0" y="0"/>
          <a:chExt cx="0" cy="0"/>
        </a:xfrm>
      </p:grpSpPr>
      <p:sp>
        <p:nvSpPr>
          <p:cNvPr id="320" name="Text 0"/>
          <p:cNvSpPr/>
          <p:nvPr/>
        </p:nvSpPr>
        <p:spPr>
          <a:xfrm>
            <a:off x="11338560" y="6400800"/>
            <a:ext cx="456480" cy="291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050" spc="-1" strike="noStrike">
                <a:solidFill>
                  <a:srgbClr val="8ea6bc"/>
                </a:solidFill>
                <a:latin typeface="Calibri"/>
                <a:ea typeface="Calibri"/>
              </a:rPr>
              <a:t>13</a:t>
            </a:r>
            <a:endParaRPr b="0" lang="en-US" sz="1050" spc="-1" strike="noStrike">
              <a:solidFill>
                <a:srgbClr val="ffffff"/>
              </a:solidFill>
              <a:latin typeface="Arial"/>
            </a:endParaRPr>
          </a:p>
        </p:txBody>
      </p:sp>
      <p:sp>
        <p:nvSpPr>
          <p:cNvPr id="321" name="Text 1"/>
          <p:cNvSpPr/>
          <p:nvPr/>
        </p:nvSpPr>
        <p:spPr>
          <a:xfrm>
            <a:off x="548640" y="457200"/>
            <a:ext cx="109720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296" strike="noStrike">
                <a:solidFill>
                  <a:srgbClr val="f4a623"/>
                </a:solidFill>
                <a:latin typeface="Calibri"/>
                <a:ea typeface="Calibri"/>
              </a:rPr>
              <a:t>THE CONTROL CORE — ① THE PROBLEM</a:t>
            </a:r>
            <a:endParaRPr b="0" lang="en-US" sz="1200" spc="-1" strike="noStrike">
              <a:solidFill>
                <a:srgbClr val="ffffff"/>
              </a:solidFill>
              <a:latin typeface="Arial"/>
            </a:endParaRPr>
          </a:p>
        </p:txBody>
      </p:sp>
      <p:sp>
        <p:nvSpPr>
          <p:cNvPr id="322" name="Text 2"/>
          <p:cNvSpPr/>
          <p:nvPr/>
        </p:nvSpPr>
        <p:spPr>
          <a:xfrm>
            <a:off x="548640" y="777240"/>
            <a:ext cx="11063520" cy="77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900" spc="-1" strike="noStrike">
                <a:solidFill>
                  <a:srgbClr val="ffffff"/>
                </a:solidFill>
                <a:latin typeface="Cambria"/>
                <a:ea typeface="Cambria"/>
              </a:rPr>
              <a:t>Dispatch written as a control problem</a:t>
            </a:r>
            <a:endParaRPr b="0" lang="en-US" sz="2900" spc="-1" strike="noStrike">
              <a:solidFill>
                <a:srgbClr val="ffffff"/>
              </a:solidFill>
              <a:latin typeface="Arial"/>
            </a:endParaRPr>
          </a:p>
        </p:txBody>
      </p:sp>
      <p:sp>
        <p:nvSpPr>
          <p:cNvPr id="323" name="Shape 3"/>
          <p:cNvSpPr/>
          <p:nvPr/>
        </p:nvSpPr>
        <p:spPr>
          <a:xfrm>
            <a:off x="548640" y="1874520"/>
            <a:ext cx="6400080" cy="657720"/>
          </a:xfrm>
          <a:prstGeom prst="roundRect">
            <a:avLst>
              <a:gd name="adj" fmla="val 9722"/>
            </a:avLst>
          </a:prstGeom>
          <a:solidFill>
            <a:srgbClr val="16344b"/>
          </a:solidFill>
          <a:ln w="12700">
            <a:solidFill>
              <a:srgbClr val="27516e"/>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24" name="Text 4"/>
          <p:cNvSpPr/>
          <p:nvPr/>
        </p:nvSpPr>
        <p:spPr>
          <a:xfrm>
            <a:off x="731520" y="1874520"/>
            <a:ext cx="2102400" cy="657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50" spc="-1" strike="noStrike">
                <a:solidFill>
                  <a:srgbClr val="f4a623"/>
                </a:solidFill>
                <a:latin typeface="Calibri"/>
                <a:ea typeface="Calibri"/>
              </a:rPr>
              <a:t>State</a:t>
            </a:r>
            <a:endParaRPr b="0" lang="en-US" sz="1450" spc="-1" strike="noStrike">
              <a:solidFill>
                <a:srgbClr val="ffffff"/>
              </a:solidFill>
              <a:latin typeface="Arial"/>
            </a:endParaRPr>
          </a:p>
        </p:txBody>
      </p:sp>
      <p:sp>
        <p:nvSpPr>
          <p:cNvPr id="325" name="Text 5"/>
          <p:cNvSpPr/>
          <p:nvPr/>
        </p:nvSpPr>
        <p:spPr>
          <a:xfrm>
            <a:off x="2834640" y="1874520"/>
            <a:ext cx="4022640" cy="657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pc="-1" strike="noStrike">
                <a:solidFill>
                  <a:srgbClr val="d6e3ef"/>
                </a:solidFill>
                <a:latin typeface="Calibri"/>
                <a:ea typeface="Calibri"/>
              </a:rPr>
              <a:t>time, battery charge, cumulative H₂ made</a:t>
            </a:r>
            <a:endParaRPr b="0" lang="en-US" sz="1300" spc="-1" strike="noStrike">
              <a:solidFill>
                <a:srgbClr val="ffffff"/>
              </a:solidFill>
              <a:latin typeface="Arial"/>
            </a:endParaRPr>
          </a:p>
        </p:txBody>
      </p:sp>
      <p:sp>
        <p:nvSpPr>
          <p:cNvPr id="326" name="Shape 6"/>
          <p:cNvSpPr/>
          <p:nvPr/>
        </p:nvSpPr>
        <p:spPr>
          <a:xfrm>
            <a:off x="548640" y="2660760"/>
            <a:ext cx="6400080" cy="657720"/>
          </a:xfrm>
          <a:prstGeom prst="roundRect">
            <a:avLst>
              <a:gd name="adj" fmla="val 9722"/>
            </a:avLst>
          </a:prstGeom>
          <a:solidFill>
            <a:srgbClr val="16344b"/>
          </a:solidFill>
          <a:ln w="12700">
            <a:solidFill>
              <a:srgbClr val="27516e"/>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27" name="Text 7"/>
          <p:cNvSpPr/>
          <p:nvPr/>
        </p:nvSpPr>
        <p:spPr>
          <a:xfrm>
            <a:off x="731520" y="2660760"/>
            <a:ext cx="2102400" cy="657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50" spc="-1" strike="noStrike">
                <a:solidFill>
                  <a:srgbClr val="f4a623"/>
                </a:solidFill>
                <a:latin typeface="Calibri"/>
                <a:ea typeface="Calibri"/>
              </a:rPr>
              <a:t>Control input</a:t>
            </a:r>
            <a:endParaRPr b="0" lang="en-US" sz="1450" spc="-1" strike="noStrike">
              <a:solidFill>
                <a:srgbClr val="ffffff"/>
              </a:solidFill>
              <a:latin typeface="Arial"/>
            </a:endParaRPr>
          </a:p>
        </p:txBody>
      </p:sp>
      <p:sp>
        <p:nvSpPr>
          <p:cNvPr id="328" name="Text 8"/>
          <p:cNvSpPr/>
          <p:nvPr/>
        </p:nvSpPr>
        <p:spPr>
          <a:xfrm>
            <a:off x="2834640" y="2660760"/>
            <a:ext cx="4022640" cy="657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pc="-1" strike="noStrike">
                <a:solidFill>
                  <a:srgbClr val="d6e3ef"/>
                </a:solidFill>
                <a:latin typeface="Calibri"/>
                <a:ea typeface="Calibri"/>
              </a:rPr>
              <a:t>electrolyzer setpoint (+ battery power)</a:t>
            </a:r>
            <a:endParaRPr b="0" lang="en-US" sz="1300" spc="-1" strike="noStrike">
              <a:solidFill>
                <a:srgbClr val="ffffff"/>
              </a:solidFill>
              <a:latin typeface="Arial"/>
            </a:endParaRPr>
          </a:p>
        </p:txBody>
      </p:sp>
      <p:sp>
        <p:nvSpPr>
          <p:cNvPr id="329" name="Shape 9"/>
          <p:cNvSpPr/>
          <p:nvPr/>
        </p:nvSpPr>
        <p:spPr>
          <a:xfrm>
            <a:off x="548640" y="3447360"/>
            <a:ext cx="6400080" cy="657720"/>
          </a:xfrm>
          <a:prstGeom prst="roundRect">
            <a:avLst>
              <a:gd name="adj" fmla="val 9722"/>
            </a:avLst>
          </a:prstGeom>
          <a:solidFill>
            <a:srgbClr val="16344b"/>
          </a:solidFill>
          <a:ln w="12700">
            <a:solidFill>
              <a:srgbClr val="27516e"/>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30" name="Text 10"/>
          <p:cNvSpPr/>
          <p:nvPr/>
        </p:nvSpPr>
        <p:spPr>
          <a:xfrm>
            <a:off x="731520" y="3447360"/>
            <a:ext cx="2102400" cy="657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50" spc="-1" strike="noStrike">
                <a:solidFill>
                  <a:srgbClr val="f4a623"/>
                </a:solidFill>
                <a:latin typeface="Calibri"/>
                <a:ea typeface="Calibri"/>
              </a:rPr>
              <a:t>Disturbance</a:t>
            </a:r>
            <a:endParaRPr b="0" lang="en-US" sz="1450" spc="-1" strike="noStrike">
              <a:solidFill>
                <a:srgbClr val="ffffff"/>
              </a:solidFill>
              <a:latin typeface="Arial"/>
            </a:endParaRPr>
          </a:p>
        </p:txBody>
      </p:sp>
      <p:sp>
        <p:nvSpPr>
          <p:cNvPr id="331" name="Text 11"/>
          <p:cNvSpPr/>
          <p:nvPr/>
        </p:nvSpPr>
        <p:spPr>
          <a:xfrm>
            <a:off x="2834640" y="3447360"/>
            <a:ext cx="4022640" cy="657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pc="-1" strike="noStrike">
                <a:solidFill>
                  <a:srgbClr val="d6e3ef"/>
                </a:solidFill>
                <a:latin typeface="Calibri"/>
                <a:ea typeface="Calibri"/>
              </a:rPr>
              <a:t>available PV — measured, forecast ahead</a:t>
            </a:r>
            <a:endParaRPr b="0" lang="en-US" sz="1300" spc="-1" strike="noStrike">
              <a:solidFill>
                <a:srgbClr val="ffffff"/>
              </a:solidFill>
              <a:latin typeface="Arial"/>
            </a:endParaRPr>
          </a:p>
        </p:txBody>
      </p:sp>
      <p:sp>
        <p:nvSpPr>
          <p:cNvPr id="332" name="Shape 12"/>
          <p:cNvSpPr/>
          <p:nvPr/>
        </p:nvSpPr>
        <p:spPr>
          <a:xfrm>
            <a:off x="548640" y="4233600"/>
            <a:ext cx="6400080" cy="657720"/>
          </a:xfrm>
          <a:prstGeom prst="roundRect">
            <a:avLst>
              <a:gd name="adj" fmla="val 9722"/>
            </a:avLst>
          </a:prstGeom>
          <a:solidFill>
            <a:srgbClr val="16344b"/>
          </a:solidFill>
          <a:ln w="12700">
            <a:solidFill>
              <a:srgbClr val="27516e"/>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33" name="Text 13"/>
          <p:cNvSpPr/>
          <p:nvPr/>
        </p:nvSpPr>
        <p:spPr>
          <a:xfrm>
            <a:off x="731520" y="4233600"/>
            <a:ext cx="2102400" cy="657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50" spc="-1" strike="noStrike">
                <a:solidFill>
                  <a:srgbClr val="f4a623"/>
                </a:solidFill>
                <a:latin typeface="Calibri"/>
                <a:ea typeface="Calibri"/>
              </a:rPr>
              <a:t>Constraints</a:t>
            </a:r>
            <a:endParaRPr b="0" lang="en-US" sz="1450" spc="-1" strike="noStrike">
              <a:solidFill>
                <a:srgbClr val="ffffff"/>
              </a:solidFill>
              <a:latin typeface="Arial"/>
            </a:endParaRPr>
          </a:p>
        </p:txBody>
      </p:sp>
      <p:sp>
        <p:nvSpPr>
          <p:cNvPr id="334" name="Text 14"/>
          <p:cNvSpPr/>
          <p:nvPr/>
        </p:nvSpPr>
        <p:spPr>
          <a:xfrm>
            <a:off x="2834640" y="4233600"/>
            <a:ext cx="4022640" cy="657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pc="-1" strike="noStrike">
                <a:solidFill>
                  <a:srgbClr val="d6e3ef"/>
                </a:solidFill>
                <a:latin typeface="Calibri"/>
                <a:ea typeface="Calibri"/>
              </a:rPr>
              <a:t>V ∈ 0.95–1.05 pu, transformer ≤ 100 %, demand, turndown</a:t>
            </a:r>
            <a:endParaRPr b="0" lang="en-US" sz="1300" spc="-1" strike="noStrike">
              <a:solidFill>
                <a:srgbClr val="ffffff"/>
              </a:solidFill>
              <a:latin typeface="Arial"/>
            </a:endParaRPr>
          </a:p>
        </p:txBody>
      </p:sp>
      <p:sp>
        <p:nvSpPr>
          <p:cNvPr id="335" name="Shape 15"/>
          <p:cNvSpPr/>
          <p:nvPr/>
        </p:nvSpPr>
        <p:spPr>
          <a:xfrm>
            <a:off x="548640" y="5020200"/>
            <a:ext cx="6400080" cy="657720"/>
          </a:xfrm>
          <a:prstGeom prst="roundRect">
            <a:avLst>
              <a:gd name="adj" fmla="val 9722"/>
            </a:avLst>
          </a:prstGeom>
          <a:solidFill>
            <a:srgbClr val="16344b"/>
          </a:solidFill>
          <a:ln w="12700">
            <a:solidFill>
              <a:srgbClr val="27516e"/>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36" name="Text 16"/>
          <p:cNvSpPr/>
          <p:nvPr/>
        </p:nvSpPr>
        <p:spPr>
          <a:xfrm>
            <a:off x="731520" y="5020200"/>
            <a:ext cx="2102400" cy="657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50" spc="-1" strike="noStrike">
                <a:solidFill>
                  <a:srgbClr val="f4a623"/>
                </a:solidFill>
                <a:latin typeface="Calibri"/>
                <a:ea typeface="Calibri"/>
              </a:rPr>
              <a:t>Cost functional</a:t>
            </a:r>
            <a:endParaRPr b="0" lang="en-US" sz="1450" spc="-1" strike="noStrike">
              <a:solidFill>
                <a:srgbClr val="ffffff"/>
              </a:solidFill>
              <a:latin typeface="Arial"/>
            </a:endParaRPr>
          </a:p>
        </p:txBody>
      </p:sp>
      <p:sp>
        <p:nvSpPr>
          <p:cNvPr id="337" name="Text 17"/>
          <p:cNvSpPr/>
          <p:nvPr/>
        </p:nvSpPr>
        <p:spPr>
          <a:xfrm>
            <a:off x="2834640" y="5020200"/>
            <a:ext cx="4022640" cy="657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pc="-1" strike="noStrike">
                <a:solidFill>
                  <a:srgbClr val="d6e3ef"/>
                </a:solidFill>
                <a:latin typeface="Calibri"/>
                <a:ea typeface="Calibri"/>
              </a:rPr>
              <a:t>daily grid energy cost (time-of-use)</a:t>
            </a:r>
            <a:endParaRPr b="0" lang="en-US" sz="1300" spc="-1" strike="noStrike">
              <a:solidFill>
                <a:srgbClr val="ffffff"/>
              </a:solidFill>
              <a:latin typeface="Arial"/>
            </a:endParaRPr>
          </a:p>
        </p:txBody>
      </p:sp>
      <p:sp>
        <p:nvSpPr>
          <p:cNvPr id="338" name="Shape 18"/>
          <p:cNvSpPr/>
          <p:nvPr/>
        </p:nvSpPr>
        <p:spPr>
          <a:xfrm>
            <a:off x="7269480" y="1874520"/>
            <a:ext cx="4388400" cy="3885480"/>
          </a:xfrm>
          <a:prstGeom prst="roundRect">
            <a:avLst>
              <a:gd name="adj" fmla="val 2353"/>
            </a:avLst>
          </a:prstGeom>
          <a:solidFill>
            <a:srgbClr val="12283c"/>
          </a:solidFill>
          <a:ln w="12700">
            <a:solidFill>
              <a:srgbClr val="27516e"/>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39" name="Text 19"/>
          <p:cNvSpPr/>
          <p:nvPr/>
        </p:nvSpPr>
        <p:spPr>
          <a:xfrm>
            <a:off x="7498080" y="2057400"/>
            <a:ext cx="393120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94" strike="noStrike">
                <a:solidFill>
                  <a:srgbClr val="f4a623"/>
                </a:solidFill>
                <a:latin typeface="Calibri"/>
                <a:ea typeface="Calibri"/>
              </a:rPr>
              <a:t>WHY NO TEXTBOOK SOLVER FITS</a:t>
            </a:r>
            <a:endParaRPr b="0" lang="en-US" sz="1200" spc="-1" strike="noStrike">
              <a:solidFill>
                <a:srgbClr val="ffffff"/>
              </a:solidFill>
              <a:latin typeface="Arial"/>
            </a:endParaRPr>
          </a:p>
        </p:txBody>
      </p:sp>
      <p:sp>
        <p:nvSpPr>
          <p:cNvPr id="340" name="Text 20"/>
          <p:cNvSpPr/>
          <p:nvPr/>
        </p:nvSpPr>
        <p:spPr>
          <a:xfrm>
            <a:off x="7498080" y="2468880"/>
            <a:ext cx="3976920" cy="7675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250" spc="-1" strike="noStrike">
                <a:solidFill>
                  <a:srgbClr val="e2643b"/>
                </a:solidFill>
                <a:latin typeface="Calibri"/>
                <a:ea typeface="Calibri"/>
              </a:rPr>
              <a:t>Non-linear</a:t>
            </a:r>
            <a:endParaRPr b="0" lang="en-US" sz="1250" spc="-1" strike="noStrike">
              <a:solidFill>
                <a:srgbClr val="ffffff"/>
              </a:solidFill>
              <a:latin typeface="Arial"/>
            </a:endParaRPr>
          </a:p>
          <a:p>
            <a:pPr defTabSz="914400">
              <a:lnSpc>
                <a:spcPct val="105000"/>
              </a:lnSpc>
              <a:tabLst>
                <a:tab algn="l" pos="0"/>
              </a:tabLst>
            </a:pPr>
            <a:endParaRPr b="0" lang="en-US" sz="1250" spc="-1" strike="noStrike">
              <a:solidFill>
                <a:srgbClr val="ffffff"/>
              </a:solidFill>
              <a:latin typeface="Arial"/>
            </a:endParaRPr>
          </a:p>
          <a:p>
            <a:pPr defTabSz="914400">
              <a:lnSpc>
                <a:spcPct val="105000"/>
              </a:lnSpc>
              <a:tabLst>
                <a:tab algn="l" pos="0"/>
              </a:tabLst>
            </a:pPr>
            <a:r>
              <a:rPr b="0" lang="en-US" sz="1100" spc="-1" strike="noStrike">
                <a:solidFill>
                  <a:srgbClr val="d6e3ef"/>
                </a:solidFill>
                <a:latin typeface="Calibri"/>
                <a:ea typeface="Calibri"/>
              </a:rPr>
              <a:t>the electrolyzer map g(u) bends — efficiency shifts with load</a:t>
            </a:r>
            <a:endParaRPr b="0" lang="en-US" sz="1100" spc="-1" strike="noStrike">
              <a:solidFill>
                <a:srgbClr val="ffffff"/>
              </a:solidFill>
              <a:latin typeface="Arial"/>
            </a:endParaRPr>
          </a:p>
        </p:txBody>
      </p:sp>
      <p:sp>
        <p:nvSpPr>
          <p:cNvPr id="341" name="Text 21"/>
          <p:cNvSpPr/>
          <p:nvPr/>
        </p:nvSpPr>
        <p:spPr>
          <a:xfrm>
            <a:off x="7498080" y="3291840"/>
            <a:ext cx="3976920" cy="7675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250" spc="-1" strike="noStrike">
                <a:solidFill>
                  <a:srgbClr val="e2643b"/>
                </a:solidFill>
                <a:latin typeface="Calibri"/>
                <a:ea typeface="Calibri"/>
              </a:rPr>
              <a:t>Discontinuous</a:t>
            </a:r>
            <a:endParaRPr b="0" lang="en-US" sz="1250" spc="-1" strike="noStrike">
              <a:solidFill>
                <a:srgbClr val="ffffff"/>
              </a:solidFill>
              <a:latin typeface="Arial"/>
            </a:endParaRPr>
          </a:p>
          <a:p>
            <a:pPr defTabSz="914400">
              <a:lnSpc>
                <a:spcPct val="105000"/>
              </a:lnSpc>
              <a:tabLst>
                <a:tab algn="l" pos="0"/>
              </a:tabLst>
            </a:pPr>
            <a:endParaRPr b="0" lang="en-US" sz="1250" spc="-1" strike="noStrike">
              <a:solidFill>
                <a:srgbClr val="ffffff"/>
              </a:solidFill>
              <a:latin typeface="Arial"/>
            </a:endParaRPr>
          </a:p>
          <a:p>
            <a:pPr defTabSz="914400">
              <a:lnSpc>
                <a:spcPct val="105000"/>
              </a:lnSpc>
              <a:tabLst>
                <a:tab algn="l" pos="0"/>
              </a:tabLst>
            </a:pPr>
            <a:r>
              <a:rPr b="0" lang="en-US" sz="1100" spc="-1" strike="noStrike">
                <a:solidFill>
                  <a:srgbClr val="d6e3ef"/>
                </a:solidFill>
                <a:latin typeface="Calibri"/>
                <a:ea typeface="Calibri"/>
              </a:rPr>
              <a:t>the tariff jumps between 3 rates — a 6.7× cliff at 17h00</a:t>
            </a:r>
            <a:endParaRPr b="0" lang="en-US" sz="1100" spc="-1" strike="noStrike">
              <a:solidFill>
                <a:srgbClr val="ffffff"/>
              </a:solidFill>
              <a:latin typeface="Arial"/>
            </a:endParaRPr>
          </a:p>
        </p:txBody>
      </p:sp>
      <p:sp>
        <p:nvSpPr>
          <p:cNvPr id="342" name="Text 22"/>
          <p:cNvSpPr/>
          <p:nvPr/>
        </p:nvSpPr>
        <p:spPr>
          <a:xfrm>
            <a:off x="7498080" y="4114800"/>
            <a:ext cx="3976920" cy="7675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250" spc="-1" strike="noStrike">
                <a:solidFill>
                  <a:srgbClr val="e2643b"/>
                </a:solidFill>
                <a:latin typeface="Calibri"/>
                <a:ea typeface="Calibri"/>
              </a:rPr>
              <a:t>Disjoint input</a:t>
            </a:r>
            <a:endParaRPr b="0" lang="en-US" sz="1250" spc="-1" strike="noStrike">
              <a:solidFill>
                <a:srgbClr val="ffffff"/>
              </a:solidFill>
              <a:latin typeface="Arial"/>
            </a:endParaRPr>
          </a:p>
          <a:p>
            <a:pPr defTabSz="914400">
              <a:lnSpc>
                <a:spcPct val="105000"/>
              </a:lnSpc>
              <a:tabLst>
                <a:tab algn="l" pos="0"/>
              </a:tabLst>
            </a:pPr>
            <a:endParaRPr b="0" lang="en-US" sz="1250" spc="-1" strike="noStrike">
              <a:solidFill>
                <a:srgbClr val="ffffff"/>
              </a:solidFill>
              <a:latin typeface="Arial"/>
            </a:endParaRPr>
          </a:p>
          <a:p>
            <a:pPr defTabSz="914400">
              <a:lnSpc>
                <a:spcPct val="105000"/>
              </a:lnSpc>
              <a:tabLst>
                <a:tab algn="l" pos="0"/>
              </a:tabLst>
            </a:pPr>
            <a:r>
              <a:rPr b="0" lang="en-US" sz="1100" spc="-1" strike="noStrike">
                <a:solidFill>
                  <a:srgbClr val="d6e3ef"/>
                </a:solidFill>
                <a:latin typeface="Calibri"/>
                <a:ea typeface="Calibri"/>
              </a:rPr>
              <a:t>off, or 10–100 % — a hole in the feasible set</a:t>
            </a:r>
            <a:endParaRPr b="0" lang="en-US" sz="1100" spc="-1" strike="noStrike">
              <a:solidFill>
                <a:srgbClr val="ffffff"/>
              </a:solidFill>
              <a:latin typeface="Arial"/>
            </a:endParaRPr>
          </a:p>
        </p:txBody>
      </p:sp>
      <p:sp>
        <p:nvSpPr>
          <p:cNvPr id="343" name="Text 23"/>
          <p:cNvSpPr/>
          <p:nvPr/>
        </p:nvSpPr>
        <p:spPr>
          <a:xfrm>
            <a:off x="7498080" y="4937760"/>
            <a:ext cx="3976920" cy="7675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250" spc="-1" strike="noStrike">
                <a:solidFill>
                  <a:srgbClr val="e2643b"/>
                </a:solidFill>
                <a:latin typeface="Calibri"/>
                <a:ea typeface="Calibri"/>
              </a:rPr>
              <a:t>Uncertain</a:t>
            </a:r>
            <a:endParaRPr b="0" lang="en-US" sz="1250" spc="-1" strike="noStrike">
              <a:solidFill>
                <a:srgbClr val="ffffff"/>
              </a:solidFill>
              <a:latin typeface="Arial"/>
            </a:endParaRPr>
          </a:p>
          <a:p>
            <a:pPr defTabSz="914400">
              <a:lnSpc>
                <a:spcPct val="105000"/>
              </a:lnSpc>
              <a:tabLst>
                <a:tab algn="l" pos="0"/>
              </a:tabLst>
            </a:pPr>
            <a:endParaRPr b="0" lang="en-US" sz="1250" spc="-1" strike="noStrike">
              <a:solidFill>
                <a:srgbClr val="ffffff"/>
              </a:solidFill>
              <a:latin typeface="Arial"/>
            </a:endParaRPr>
          </a:p>
          <a:p>
            <a:pPr defTabSz="914400">
              <a:lnSpc>
                <a:spcPct val="105000"/>
              </a:lnSpc>
              <a:tabLst>
                <a:tab algn="l" pos="0"/>
              </a:tabLst>
            </a:pPr>
            <a:r>
              <a:rPr b="0" lang="en-US" sz="1100" spc="-1" strike="noStrike">
                <a:solidFill>
                  <a:srgbClr val="d6e3ef"/>
                </a:solidFill>
                <a:latin typeface="Calibri"/>
                <a:ea typeface="Calibri"/>
              </a:rPr>
              <a:t>tomorrow's sun is unknown — plans go stale within hours</a:t>
            </a:r>
            <a:endParaRPr b="0" lang="en-US" sz="1100" spc="-1" strike="noStrike">
              <a:solidFill>
                <a:srgbClr val="ffffff"/>
              </a:solidFill>
              <a:latin typeface="Arial"/>
            </a:endParaRPr>
          </a:p>
        </p:txBody>
      </p:sp>
      <p:sp>
        <p:nvSpPr>
          <p:cNvPr id="344" name="Shape 24"/>
          <p:cNvSpPr/>
          <p:nvPr/>
        </p:nvSpPr>
        <p:spPr>
          <a:xfrm>
            <a:off x="548640" y="5925240"/>
            <a:ext cx="11090880" cy="456480"/>
          </a:xfrm>
          <a:prstGeom prst="roundRect">
            <a:avLst>
              <a:gd name="adj" fmla="val 18000"/>
            </a:avLst>
          </a:prstGeom>
          <a:solidFill>
            <a:srgbClr val="12283c"/>
          </a:solidFill>
          <a:ln w="12700">
            <a:solidFill>
              <a:srgbClr val="f4a623"/>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45" name="Text 25"/>
          <p:cNvSpPr/>
          <p:nvPr/>
        </p:nvSpPr>
        <p:spPr>
          <a:xfrm>
            <a:off x="822960" y="5925240"/>
            <a:ext cx="1060632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f4a623"/>
                </a:solidFill>
                <a:latin typeface="Calibri"/>
                <a:ea typeface="Calibri"/>
              </a:rPr>
              <a:t>So the method has two parts:  </a:t>
            </a:r>
            <a:r>
              <a:rPr b="0" lang="en-US" sz="1250" spc="-1" strike="noStrike">
                <a:solidFill>
                  <a:srgbClr val="d6e3ef"/>
                </a:solidFill>
                <a:latin typeface="Calibri"/>
                <a:ea typeface="Calibri"/>
              </a:rPr>
              <a:t>② a solver that finds the cheapest possible day  —  then  ③ a loop that survives imperfect forecasts.</a:t>
            </a:r>
            <a:endParaRPr b="0" lang="en-US" sz="12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e2233"/>
        </a:solidFill>
      </p:bgPr>
    </p:bg>
    <p:spTree>
      <p:nvGrpSpPr>
        <p:cNvPr id="1" name=""/>
        <p:cNvGrpSpPr/>
        <p:nvPr/>
      </p:nvGrpSpPr>
      <p:grpSpPr>
        <a:xfrm>
          <a:off x="0" y="0"/>
          <a:ext cx="0" cy="0"/>
          <a:chOff x="0" y="0"/>
          <a:chExt cx="0" cy="0"/>
        </a:xfrm>
      </p:grpSpPr>
      <p:sp>
        <p:nvSpPr>
          <p:cNvPr id="346" name="Text 0"/>
          <p:cNvSpPr/>
          <p:nvPr/>
        </p:nvSpPr>
        <p:spPr>
          <a:xfrm>
            <a:off x="11338560" y="6400800"/>
            <a:ext cx="456480" cy="291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050" spc="-1" strike="noStrike">
                <a:solidFill>
                  <a:srgbClr val="8ea6bc"/>
                </a:solidFill>
                <a:latin typeface="Calibri"/>
                <a:ea typeface="Calibri"/>
              </a:rPr>
              <a:t>14</a:t>
            </a:r>
            <a:endParaRPr b="0" lang="en-US" sz="1050" spc="-1" strike="noStrike">
              <a:solidFill>
                <a:srgbClr val="ffffff"/>
              </a:solidFill>
              <a:latin typeface="Arial"/>
            </a:endParaRPr>
          </a:p>
        </p:txBody>
      </p:sp>
      <p:sp>
        <p:nvSpPr>
          <p:cNvPr id="347" name="Text 1"/>
          <p:cNvSpPr/>
          <p:nvPr/>
        </p:nvSpPr>
        <p:spPr>
          <a:xfrm>
            <a:off x="548640" y="457200"/>
            <a:ext cx="109720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296" strike="noStrike">
                <a:solidFill>
                  <a:srgbClr val="f4a623"/>
                </a:solidFill>
                <a:latin typeface="Calibri"/>
                <a:ea typeface="Calibri"/>
              </a:rPr>
              <a:t>THE CONTROL CORE — ① THE PROBLEM, FORMALLY</a:t>
            </a:r>
            <a:endParaRPr b="0" lang="en-US" sz="1200" spc="-1" strike="noStrike">
              <a:solidFill>
                <a:srgbClr val="ffffff"/>
              </a:solidFill>
              <a:latin typeface="Arial"/>
            </a:endParaRPr>
          </a:p>
        </p:txBody>
      </p:sp>
      <p:sp>
        <p:nvSpPr>
          <p:cNvPr id="348" name="Text 2"/>
          <p:cNvSpPr/>
          <p:nvPr/>
        </p:nvSpPr>
        <p:spPr>
          <a:xfrm>
            <a:off x="548640" y="777240"/>
            <a:ext cx="11063520" cy="77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900" spc="-1" strike="noStrike">
                <a:solidFill>
                  <a:srgbClr val="ffffff"/>
                </a:solidFill>
                <a:latin typeface="Cambria"/>
                <a:ea typeface="Cambria"/>
              </a:rPr>
              <a:t>The problem, formally</a:t>
            </a:r>
            <a:endParaRPr b="0" lang="en-US" sz="2900" spc="-1" strike="noStrike">
              <a:solidFill>
                <a:srgbClr val="ffffff"/>
              </a:solidFill>
              <a:latin typeface="Arial"/>
            </a:endParaRPr>
          </a:p>
        </p:txBody>
      </p:sp>
      <p:sp>
        <p:nvSpPr>
          <p:cNvPr id="349" name="Shape 3"/>
          <p:cNvSpPr/>
          <p:nvPr/>
        </p:nvSpPr>
        <p:spPr>
          <a:xfrm>
            <a:off x="548640" y="1783080"/>
            <a:ext cx="5531400" cy="3656880"/>
          </a:xfrm>
          <a:prstGeom prst="roundRect">
            <a:avLst>
              <a:gd name="adj" fmla="val 2500"/>
            </a:avLst>
          </a:prstGeom>
          <a:solidFill>
            <a:srgbClr val="16344b"/>
          </a:solidFill>
          <a:ln w="19050">
            <a:solidFill>
              <a:srgbClr val="1c7293"/>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50" name="Text 4"/>
          <p:cNvSpPr/>
          <p:nvPr/>
        </p:nvSpPr>
        <p:spPr>
          <a:xfrm>
            <a:off x="804600" y="1920240"/>
            <a:ext cx="50284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94" strike="noStrike">
                <a:solidFill>
                  <a:srgbClr val="1c7293"/>
                </a:solidFill>
                <a:latin typeface="Calibri"/>
                <a:ea typeface="Calibri"/>
              </a:rPr>
              <a:t>PLANT — DISCRETE-TIME STATE-SPACE</a:t>
            </a:r>
            <a:endParaRPr b="0" lang="en-US" sz="1200" spc="-1" strike="noStrike">
              <a:solidFill>
                <a:srgbClr val="ffffff"/>
              </a:solidFill>
              <a:latin typeface="Arial"/>
            </a:endParaRPr>
          </a:p>
        </p:txBody>
      </p:sp>
      <p:sp>
        <p:nvSpPr>
          <p:cNvPr id="351" name="Text 5"/>
          <p:cNvSpPr/>
          <p:nvPr/>
        </p:nvSpPr>
        <p:spPr>
          <a:xfrm>
            <a:off x="804600" y="2231280"/>
            <a:ext cx="5028480" cy="346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fffff"/>
                </a:solidFill>
                <a:latin typeface="Consolas"/>
                <a:ea typeface="Consolas"/>
              </a:rPr>
              <a:t>x(k+1) = x(k) + T·g(u(k))</a:t>
            </a:r>
            <a:endParaRPr b="0" lang="en-US" sz="1600" spc="-1" strike="noStrike">
              <a:solidFill>
                <a:srgbClr val="ffffff"/>
              </a:solidFill>
              <a:latin typeface="Arial"/>
            </a:endParaRPr>
          </a:p>
        </p:txBody>
      </p:sp>
      <p:sp>
        <p:nvSpPr>
          <p:cNvPr id="352" name="Text 6"/>
          <p:cNvSpPr/>
          <p:nvPr/>
        </p:nvSpPr>
        <p:spPr>
          <a:xfrm>
            <a:off x="804600" y="2633400"/>
            <a:ext cx="283392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Consolas"/>
                <a:ea typeface="Consolas"/>
              </a:rPr>
              <a:t>q(k)   = [u(k) − d(k)]⁺</a:t>
            </a:r>
            <a:endParaRPr b="0" lang="en-US" sz="1300" spc="-1" strike="noStrike">
              <a:solidFill>
                <a:srgbClr val="ffffff"/>
              </a:solidFill>
              <a:latin typeface="Arial"/>
            </a:endParaRPr>
          </a:p>
        </p:txBody>
      </p:sp>
      <p:sp>
        <p:nvSpPr>
          <p:cNvPr id="353" name="Text 7"/>
          <p:cNvSpPr/>
          <p:nvPr/>
        </p:nvSpPr>
        <p:spPr>
          <a:xfrm>
            <a:off x="3611880" y="2651760"/>
            <a:ext cx="219384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i="1" lang="en-US" sz="1000" spc="-1" strike="noStrike">
                <a:solidFill>
                  <a:srgbClr val="e2643b"/>
                </a:solidFill>
                <a:latin typeface="Calibri"/>
                <a:ea typeface="Calibri"/>
              </a:rPr>
              <a:t>grid import — where d acts</a:t>
            </a:r>
            <a:endParaRPr b="0" lang="en-US" sz="1000" spc="-1" strike="noStrike">
              <a:solidFill>
                <a:srgbClr val="ffffff"/>
              </a:solidFill>
              <a:latin typeface="Arial"/>
            </a:endParaRPr>
          </a:p>
        </p:txBody>
      </p:sp>
      <p:sp>
        <p:nvSpPr>
          <p:cNvPr id="354" name="Text 8"/>
          <p:cNvSpPr/>
          <p:nvPr/>
        </p:nvSpPr>
        <p:spPr>
          <a:xfrm>
            <a:off x="804600" y="2944440"/>
            <a:ext cx="283392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aec2d4"/>
                </a:solidFill>
                <a:latin typeface="Consolas"/>
                <a:ea typeface="Consolas"/>
              </a:rPr>
              <a:t>y(k)   = x(k)</a:t>
            </a:r>
            <a:endParaRPr b="0" lang="en-US" sz="1200" spc="-1" strike="noStrike">
              <a:solidFill>
                <a:srgbClr val="ffffff"/>
              </a:solidFill>
              <a:latin typeface="Arial"/>
            </a:endParaRPr>
          </a:p>
        </p:txBody>
      </p:sp>
      <p:sp>
        <p:nvSpPr>
          <p:cNvPr id="355" name="Text 9"/>
          <p:cNvSpPr/>
          <p:nvPr/>
        </p:nvSpPr>
        <p:spPr>
          <a:xfrm>
            <a:off x="3611880" y="2953440"/>
            <a:ext cx="219384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000" spc="-1" strike="noStrike">
                <a:solidFill>
                  <a:srgbClr val="8ea6bc"/>
                </a:solidFill>
                <a:latin typeface="Calibri"/>
                <a:ea typeface="Calibri"/>
              </a:rPr>
              <a:t>measured every hour</a:t>
            </a:r>
            <a:endParaRPr b="0" lang="en-US" sz="1000" spc="-1" strike="noStrike">
              <a:solidFill>
                <a:srgbClr val="ffffff"/>
              </a:solidFill>
              <a:latin typeface="Arial"/>
            </a:endParaRPr>
          </a:p>
        </p:txBody>
      </p:sp>
      <p:sp>
        <p:nvSpPr>
          <p:cNvPr id="356" name="Text 10"/>
          <p:cNvSpPr/>
          <p:nvPr/>
        </p:nvSpPr>
        <p:spPr>
          <a:xfrm>
            <a:off x="804600" y="3291840"/>
            <a:ext cx="65772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ffffff"/>
                </a:solidFill>
                <a:latin typeface="Consolas"/>
                <a:ea typeface="Consolas"/>
              </a:rPr>
              <a:t>x</a:t>
            </a:r>
            <a:endParaRPr b="0" lang="en-US" sz="1250" spc="-1" strike="noStrike">
              <a:solidFill>
                <a:srgbClr val="ffffff"/>
              </a:solidFill>
              <a:latin typeface="Arial"/>
            </a:endParaRPr>
          </a:p>
        </p:txBody>
      </p:sp>
      <p:sp>
        <p:nvSpPr>
          <p:cNvPr id="357" name="Text 11"/>
          <p:cNvSpPr/>
          <p:nvPr/>
        </p:nvSpPr>
        <p:spPr>
          <a:xfrm>
            <a:off x="1481400" y="3291840"/>
            <a:ext cx="447984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pc="-1" strike="noStrike">
                <a:solidFill>
                  <a:srgbClr val="d6e3ef"/>
                </a:solidFill>
                <a:latin typeface="Calibri"/>
                <a:ea typeface="Calibri"/>
              </a:rPr>
              <a:t>hydrogen produced so far today [kg] — one state</a:t>
            </a:r>
            <a:endParaRPr b="0" lang="en-US" sz="1100" spc="-1" strike="noStrike">
              <a:solidFill>
                <a:srgbClr val="ffffff"/>
              </a:solidFill>
              <a:latin typeface="Arial"/>
            </a:endParaRPr>
          </a:p>
        </p:txBody>
      </p:sp>
      <p:sp>
        <p:nvSpPr>
          <p:cNvPr id="358" name="Text 12"/>
          <p:cNvSpPr/>
          <p:nvPr/>
        </p:nvSpPr>
        <p:spPr>
          <a:xfrm>
            <a:off x="804600" y="3694320"/>
            <a:ext cx="65772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f4a623"/>
                </a:solidFill>
                <a:latin typeface="Consolas"/>
                <a:ea typeface="Consolas"/>
              </a:rPr>
              <a:t>u</a:t>
            </a:r>
            <a:endParaRPr b="0" lang="en-US" sz="1250" spc="-1" strike="noStrike">
              <a:solidFill>
                <a:srgbClr val="ffffff"/>
              </a:solidFill>
              <a:latin typeface="Arial"/>
            </a:endParaRPr>
          </a:p>
        </p:txBody>
      </p:sp>
      <p:sp>
        <p:nvSpPr>
          <p:cNvPr id="359" name="Text 13"/>
          <p:cNvSpPr/>
          <p:nvPr/>
        </p:nvSpPr>
        <p:spPr>
          <a:xfrm>
            <a:off x="1481400" y="3694320"/>
            <a:ext cx="447984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pc="-1" strike="noStrike">
                <a:solidFill>
                  <a:srgbClr val="d6e3ef"/>
                </a:solidFill>
                <a:latin typeface="Calibri"/>
                <a:ea typeface="Calibri"/>
              </a:rPr>
              <a:t>electrolyzer setpoint ∈ {0} ∪ [0.08, 0.80] MW</a:t>
            </a:r>
            <a:endParaRPr b="0" lang="en-US" sz="1100" spc="-1" strike="noStrike">
              <a:solidFill>
                <a:srgbClr val="ffffff"/>
              </a:solidFill>
              <a:latin typeface="Arial"/>
            </a:endParaRPr>
          </a:p>
        </p:txBody>
      </p:sp>
      <p:sp>
        <p:nvSpPr>
          <p:cNvPr id="360" name="Text 14"/>
          <p:cNvSpPr/>
          <p:nvPr/>
        </p:nvSpPr>
        <p:spPr>
          <a:xfrm>
            <a:off x="804600" y="4096440"/>
            <a:ext cx="65772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e2643b"/>
                </a:solidFill>
                <a:latin typeface="Consolas"/>
                <a:ea typeface="Consolas"/>
              </a:rPr>
              <a:t>d</a:t>
            </a:r>
            <a:endParaRPr b="0" lang="en-US" sz="1250" spc="-1" strike="noStrike">
              <a:solidFill>
                <a:srgbClr val="ffffff"/>
              </a:solidFill>
              <a:latin typeface="Arial"/>
            </a:endParaRPr>
          </a:p>
        </p:txBody>
      </p:sp>
      <p:sp>
        <p:nvSpPr>
          <p:cNvPr id="361" name="Text 15"/>
          <p:cNvSpPr/>
          <p:nvPr/>
        </p:nvSpPr>
        <p:spPr>
          <a:xfrm>
            <a:off x="1481400" y="4096440"/>
            <a:ext cx="447984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pc="-1" strike="noStrike">
                <a:solidFill>
                  <a:srgbClr val="d6e3ef"/>
                </a:solidFill>
                <a:latin typeface="Calibri"/>
                <a:ea typeface="Calibri"/>
              </a:rPr>
              <a:t>available PV [MW] — disturbance: enters q (the bill), not the dynamics</a:t>
            </a:r>
            <a:endParaRPr b="0" lang="en-US" sz="1100" spc="-1" strike="noStrike">
              <a:solidFill>
                <a:srgbClr val="ffffff"/>
              </a:solidFill>
              <a:latin typeface="Arial"/>
            </a:endParaRPr>
          </a:p>
        </p:txBody>
      </p:sp>
      <p:sp>
        <p:nvSpPr>
          <p:cNvPr id="362" name="Text 16"/>
          <p:cNvSpPr/>
          <p:nvPr/>
        </p:nvSpPr>
        <p:spPr>
          <a:xfrm>
            <a:off x="804600" y="4498920"/>
            <a:ext cx="65772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1c7293"/>
                </a:solidFill>
                <a:latin typeface="Consolas"/>
                <a:ea typeface="Consolas"/>
              </a:rPr>
              <a:t>g(·)</a:t>
            </a:r>
            <a:endParaRPr b="0" lang="en-US" sz="1250" spc="-1" strike="noStrike">
              <a:solidFill>
                <a:srgbClr val="ffffff"/>
              </a:solidFill>
              <a:latin typeface="Arial"/>
            </a:endParaRPr>
          </a:p>
        </p:txBody>
      </p:sp>
      <p:sp>
        <p:nvSpPr>
          <p:cNvPr id="363" name="Text 17"/>
          <p:cNvSpPr/>
          <p:nvPr/>
        </p:nvSpPr>
        <p:spPr>
          <a:xfrm>
            <a:off x="1481400" y="4498920"/>
            <a:ext cx="447984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pc="-1" strike="noStrike">
                <a:solidFill>
                  <a:srgbClr val="d6e3ef"/>
                </a:solidFill>
                <a:latin typeface="Calibri"/>
                <a:ea typeface="Calibri"/>
              </a:rPr>
              <a:t>electrolyzer map: polarisation curve + Faraday</a:t>
            </a:r>
            <a:endParaRPr b="0" lang="en-US" sz="1100" spc="-1" strike="noStrike">
              <a:solidFill>
                <a:srgbClr val="ffffff"/>
              </a:solidFill>
              <a:latin typeface="Arial"/>
            </a:endParaRPr>
          </a:p>
        </p:txBody>
      </p:sp>
      <p:sp>
        <p:nvSpPr>
          <p:cNvPr id="364" name="Shape 18"/>
          <p:cNvSpPr/>
          <p:nvPr/>
        </p:nvSpPr>
        <p:spPr>
          <a:xfrm>
            <a:off x="804600" y="4937760"/>
            <a:ext cx="5028480" cy="438120"/>
          </a:xfrm>
          <a:prstGeom prst="roundRect">
            <a:avLst>
              <a:gd name="adj" fmla="val 14583"/>
            </a:avLst>
          </a:prstGeom>
          <a:solidFill>
            <a:srgbClr val="12283c"/>
          </a:solidFill>
          <a:ln w="12700">
            <a:solidFill>
              <a:srgbClr val="27516e"/>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65" name="Text 19"/>
          <p:cNvSpPr/>
          <p:nvPr/>
        </p:nvSpPr>
        <p:spPr>
          <a:xfrm>
            <a:off x="932760" y="4937760"/>
            <a:ext cx="4799880" cy="438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aec2d4"/>
                </a:solidFill>
                <a:latin typeface="Calibri"/>
                <a:ea typeface="Calibri"/>
              </a:rPr>
              <a:t>Hammerstein plant — locally an integrator:  </a:t>
            </a:r>
            <a:r>
              <a:rPr b="1" lang="en-US" sz="1050" spc="-1" strike="noStrike">
                <a:solidFill>
                  <a:srgbClr val="ffffff"/>
                </a:solidFill>
                <a:latin typeface="Calibri"/>
                <a:ea typeface="Calibri"/>
              </a:rPr>
              <a:t>G(z) = K/(z−1),  K = T·g'(u₀) ≈ 15–22 kg/MW</a:t>
            </a:r>
            <a:endParaRPr b="0" lang="en-US" sz="1050" spc="-1" strike="noStrike">
              <a:solidFill>
                <a:srgbClr val="ffffff"/>
              </a:solidFill>
              <a:latin typeface="Arial"/>
            </a:endParaRPr>
          </a:p>
        </p:txBody>
      </p:sp>
      <p:sp>
        <p:nvSpPr>
          <p:cNvPr id="366" name="Shape 20"/>
          <p:cNvSpPr/>
          <p:nvPr/>
        </p:nvSpPr>
        <p:spPr>
          <a:xfrm>
            <a:off x="6355080" y="1783080"/>
            <a:ext cx="5284440" cy="3656880"/>
          </a:xfrm>
          <a:prstGeom prst="roundRect">
            <a:avLst>
              <a:gd name="adj" fmla="val 2500"/>
            </a:avLst>
          </a:prstGeom>
          <a:solidFill>
            <a:srgbClr val="16344b"/>
          </a:solidFill>
          <a:ln w="19050">
            <a:solidFill>
              <a:srgbClr val="f4a623"/>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67" name="Text 21"/>
          <p:cNvSpPr/>
          <p:nvPr/>
        </p:nvSpPr>
        <p:spPr>
          <a:xfrm>
            <a:off x="6611040" y="1920240"/>
            <a:ext cx="475416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94" strike="noStrike">
                <a:solidFill>
                  <a:srgbClr val="f4a623"/>
                </a:solidFill>
                <a:latin typeface="Calibri"/>
                <a:ea typeface="Calibri"/>
              </a:rPr>
              <a:t>OBJECTIVE — LEAST-COST DISPATCH</a:t>
            </a:r>
            <a:endParaRPr b="0" lang="en-US" sz="1200" spc="-1" strike="noStrike">
              <a:solidFill>
                <a:srgbClr val="ffffff"/>
              </a:solidFill>
              <a:latin typeface="Arial"/>
            </a:endParaRPr>
          </a:p>
        </p:txBody>
      </p:sp>
      <p:sp>
        <p:nvSpPr>
          <p:cNvPr id="368" name="Text 22"/>
          <p:cNvSpPr/>
          <p:nvPr/>
        </p:nvSpPr>
        <p:spPr>
          <a:xfrm>
            <a:off x="6611040" y="2267640"/>
            <a:ext cx="484560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fffff"/>
                </a:solidFill>
                <a:latin typeface="Consolas"/>
                <a:ea typeface="Consolas"/>
              </a:rPr>
              <a:t>min  J = Σ p(k)·[u(k) − d(k)]⁺·Δt</a:t>
            </a:r>
            <a:endParaRPr b="0" lang="en-US" sz="1600" spc="-1" strike="noStrike">
              <a:solidFill>
                <a:srgbClr val="ffffff"/>
              </a:solidFill>
              <a:latin typeface="Arial"/>
            </a:endParaRPr>
          </a:p>
        </p:txBody>
      </p:sp>
      <p:sp>
        <p:nvSpPr>
          <p:cNvPr id="369" name="Text 23"/>
          <p:cNvSpPr/>
          <p:nvPr/>
        </p:nvSpPr>
        <p:spPr>
          <a:xfrm>
            <a:off x="6611040" y="2670120"/>
            <a:ext cx="484560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050" spc="-1" strike="noStrike">
                <a:solidFill>
                  <a:srgbClr val="aec2d4"/>
                </a:solidFill>
                <a:latin typeface="Calibri"/>
                <a:ea typeface="Calibri"/>
              </a:rPr>
              <a:t>= Σ p(k)·q(k)·Δt — pay only for net import · 96 × 15-min steps</a:t>
            </a:r>
            <a:endParaRPr b="0" lang="en-US" sz="1050" spc="-1" strike="noStrike">
              <a:solidFill>
                <a:srgbClr val="ffffff"/>
              </a:solidFill>
              <a:latin typeface="Arial"/>
            </a:endParaRPr>
          </a:p>
        </p:txBody>
      </p:sp>
      <p:sp>
        <p:nvSpPr>
          <p:cNvPr id="370" name="Text 24"/>
          <p:cNvSpPr/>
          <p:nvPr/>
        </p:nvSpPr>
        <p:spPr>
          <a:xfrm>
            <a:off x="6611040" y="3035880"/>
            <a:ext cx="4845600" cy="328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50" spc="-1" strike="noStrike">
                <a:solidFill>
                  <a:srgbClr val="ffffff"/>
                </a:solidFill>
                <a:latin typeface="Consolas"/>
                <a:ea typeface="Consolas"/>
              </a:rPr>
              <a:t>s.t.  x(24) ≥ D</a:t>
            </a:r>
            <a:endParaRPr b="0" lang="en-US" sz="1450" spc="-1" strike="noStrike">
              <a:solidFill>
                <a:srgbClr val="ffffff"/>
              </a:solidFill>
              <a:latin typeface="Arial"/>
            </a:endParaRPr>
          </a:p>
        </p:txBody>
      </p:sp>
      <p:sp>
        <p:nvSpPr>
          <p:cNvPr id="371" name="Text 25"/>
          <p:cNvSpPr/>
          <p:nvPr/>
        </p:nvSpPr>
        <p:spPr>
          <a:xfrm>
            <a:off x="6611040" y="3383280"/>
            <a:ext cx="484560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050" spc="-1" strike="noStrike">
                <a:solidFill>
                  <a:srgbClr val="aec2d4"/>
                </a:solidFill>
                <a:latin typeface="Calibri"/>
                <a:ea typeface="Calibri"/>
              </a:rPr>
              <a:t>terminal demand constraint — softened as  + λ·[D − x(24)]⁺,  λ = 10⁷ DA/kg</a:t>
            </a:r>
            <a:endParaRPr b="0" lang="en-US" sz="1050" spc="-1" strike="noStrike">
              <a:solidFill>
                <a:srgbClr val="ffffff"/>
              </a:solidFill>
              <a:latin typeface="Arial"/>
            </a:endParaRPr>
          </a:p>
        </p:txBody>
      </p:sp>
      <p:sp>
        <p:nvSpPr>
          <p:cNvPr id="372" name="Shape 26"/>
          <p:cNvSpPr/>
          <p:nvPr/>
        </p:nvSpPr>
        <p:spPr>
          <a:xfrm>
            <a:off x="6611040" y="3749040"/>
            <a:ext cx="4799880" cy="438120"/>
          </a:xfrm>
          <a:prstGeom prst="roundRect">
            <a:avLst>
              <a:gd name="adj" fmla="val 12500"/>
            </a:avLst>
          </a:prstGeom>
          <a:solidFill>
            <a:srgbClr val="12283c"/>
          </a:solidFill>
          <a:ln w="12700">
            <a:solidFill>
              <a:srgbClr val="27516e"/>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73" name="Text 27"/>
          <p:cNvSpPr/>
          <p:nvPr/>
        </p:nvSpPr>
        <p:spPr>
          <a:xfrm>
            <a:off x="6748200" y="3749040"/>
            <a:ext cx="4525560" cy="438120"/>
          </a:xfrm>
          <a:prstGeom prst="rect">
            <a:avLst/>
          </a:prstGeom>
          <a:noFill/>
          <a:ln w="0">
            <a:noFill/>
          </a:ln>
        </p:spPr>
        <p:style>
          <a:lnRef idx="0"/>
          <a:fillRef idx="0"/>
          <a:effectRef idx="0"/>
          <a:fontRef idx="minor"/>
        </p:style>
        <p:txBody>
          <a:bodyPr lIns="0" rIns="0" tIns="0" bIns="0" anchor="ctr">
            <a:noAutofit/>
          </a:bodyPr>
          <a:p>
            <a:pPr defTabSz="914400">
              <a:lnSpc>
                <a:spcPct val="98000"/>
              </a:lnSpc>
              <a:tabLst>
                <a:tab algn="l" pos="0"/>
              </a:tabLst>
            </a:pPr>
            <a:r>
              <a:rPr b="0" lang="en-US" sz="1000" spc="-1" strike="noStrike">
                <a:solidFill>
                  <a:srgbClr val="d6e3ef"/>
                </a:solidFill>
                <a:latin typeface="Calibri"/>
                <a:ea typeface="Calibri"/>
              </a:rPr>
              <a:t>p(k) ∈ {1.21, 2.16, 8.11} DA/kWh — the 3-rate CREG tariff (discontinuous in time)</a:t>
            </a:r>
            <a:endParaRPr b="0" lang="en-US" sz="1000" spc="-1" strike="noStrike">
              <a:solidFill>
                <a:srgbClr val="ffffff"/>
              </a:solidFill>
              <a:latin typeface="Arial"/>
            </a:endParaRPr>
          </a:p>
        </p:txBody>
      </p:sp>
      <p:sp>
        <p:nvSpPr>
          <p:cNvPr id="374" name="Shape 28"/>
          <p:cNvSpPr/>
          <p:nvPr/>
        </p:nvSpPr>
        <p:spPr>
          <a:xfrm>
            <a:off x="6611040" y="4260960"/>
            <a:ext cx="4799880" cy="566280"/>
          </a:xfrm>
          <a:prstGeom prst="roundRect">
            <a:avLst>
              <a:gd name="adj" fmla="val 9677"/>
            </a:avLst>
          </a:prstGeom>
          <a:solidFill>
            <a:srgbClr val="12283c"/>
          </a:solidFill>
          <a:ln w="12700">
            <a:solidFill>
              <a:srgbClr val="27516e"/>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75" name="Text 29"/>
          <p:cNvSpPr/>
          <p:nvPr/>
        </p:nvSpPr>
        <p:spPr>
          <a:xfrm>
            <a:off x="6748200" y="4260960"/>
            <a:ext cx="4525560" cy="566280"/>
          </a:xfrm>
          <a:prstGeom prst="rect">
            <a:avLst/>
          </a:prstGeom>
          <a:noFill/>
          <a:ln w="0">
            <a:noFill/>
          </a:ln>
        </p:spPr>
        <p:style>
          <a:lnRef idx="0"/>
          <a:fillRef idx="0"/>
          <a:effectRef idx="0"/>
          <a:fontRef idx="minor"/>
        </p:style>
        <p:txBody>
          <a:bodyPr lIns="0" rIns="0" tIns="0" bIns="0" anchor="ctr">
            <a:noAutofit/>
          </a:bodyPr>
          <a:p>
            <a:pPr defTabSz="914400">
              <a:lnSpc>
                <a:spcPct val="98000"/>
              </a:lnSpc>
              <a:tabLst>
                <a:tab algn="l" pos="0"/>
              </a:tabLst>
            </a:pPr>
            <a:r>
              <a:rPr b="0" lang="en-US" sz="1000" spc="-1" strike="noStrike">
                <a:solidFill>
                  <a:srgbClr val="d6e3ef"/>
                </a:solidFill>
                <a:latin typeface="Calibri"/>
                <a:ea typeface="Calibri"/>
              </a:rPr>
              <a:t>V ∈ [0.95, 1.05] pu · transformer ≤ 100 % — verified on the ETAP-validated load flow (never binding at this PV size)</a:t>
            </a:r>
            <a:endParaRPr b="0" lang="en-US" sz="1000" spc="-1" strike="noStrike">
              <a:solidFill>
                <a:srgbClr val="ffffff"/>
              </a:solidFill>
              <a:latin typeface="Arial"/>
            </a:endParaRPr>
          </a:p>
        </p:txBody>
      </p:sp>
      <p:sp>
        <p:nvSpPr>
          <p:cNvPr id="376" name="Shape 30"/>
          <p:cNvSpPr/>
          <p:nvPr/>
        </p:nvSpPr>
        <p:spPr>
          <a:xfrm>
            <a:off x="6611040" y="4901040"/>
            <a:ext cx="4799880" cy="438120"/>
          </a:xfrm>
          <a:prstGeom prst="roundRect">
            <a:avLst>
              <a:gd name="adj" fmla="val 12500"/>
            </a:avLst>
          </a:prstGeom>
          <a:solidFill>
            <a:srgbClr val="12283c"/>
          </a:solidFill>
          <a:ln w="12700">
            <a:solidFill>
              <a:srgbClr val="27516e"/>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77" name="Text 31"/>
          <p:cNvSpPr/>
          <p:nvPr/>
        </p:nvSpPr>
        <p:spPr>
          <a:xfrm>
            <a:off x="6748200" y="4901040"/>
            <a:ext cx="4525560" cy="438120"/>
          </a:xfrm>
          <a:prstGeom prst="rect">
            <a:avLst/>
          </a:prstGeom>
          <a:noFill/>
          <a:ln w="0">
            <a:noFill/>
          </a:ln>
        </p:spPr>
        <p:style>
          <a:lnRef idx="0"/>
          <a:fillRef idx="0"/>
          <a:effectRef idx="0"/>
          <a:fontRef idx="minor"/>
        </p:style>
        <p:txBody>
          <a:bodyPr lIns="0" rIns="0" tIns="0" bIns="0" anchor="ctr">
            <a:noAutofit/>
          </a:bodyPr>
          <a:p>
            <a:pPr defTabSz="914400">
              <a:lnSpc>
                <a:spcPct val="98000"/>
              </a:lnSpc>
              <a:tabLst>
                <a:tab algn="l" pos="0"/>
              </a:tabLst>
            </a:pPr>
            <a:r>
              <a:rPr b="0" lang="en-US" sz="1000" spc="-1" strike="noStrike">
                <a:solidFill>
                  <a:srgbClr val="d6e3ef"/>
                </a:solidFill>
                <a:latin typeface="Calibri"/>
                <a:ea typeface="Calibri"/>
              </a:rPr>
              <a:t>Input set {0} ∪ [0.08, 0.80] is disjoint and g is non-linear → non-convex → solved with PSO</a:t>
            </a:r>
            <a:endParaRPr b="0" lang="en-US" sz="1000" spc="-1" strike="noStrike">
              <a:solidFill>
                <a:srgbClr val="ffffff"/>
              </a:solidFill>
              <a:latin typeface="Arial"/>
            </a:endParaRPr>
          </a:p>
        </p:txBody>
      </p:sp>
      <p:sp>
        <p:nvSpPr>
          <p:cNvPr id="378" name="Shape 32"/>
          <p:cNvSpPr/>
          <p:nvPr/>
        </p:nvSpPr>
        <p:spPr>
          <a:xfrm>
            <a:off x="548640" y="5650920"/>
            <a:ext cx="11090880" cy="566280"/>
          </a:xfrm>
          <a:prstGeom prst="roundRect">
            <a:avLst>
              <a:gd name="adj" fmla="val 14516"/>
            </a:avLst>
          </a:prstGeom>
          <a:solidFill>
            <a:srgbClr val="12283c"/>
          </a:solidFill>
          <a:ln w="12700">
            <a:solidFill>
              <a:srgbClr val="f4a623"/>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79" name="Text 33"/>
          <p:cNvSpPr/>
          <p:nvPr/>
        </p:nvSpPr>
        <p:spPr>
          <a:xfrm>
            <a:off x="822960" y="5650920"/>
            <a:ext cx="10606320" cy="566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f4a623"/>
                </a:solidFill>
                <a:latin typeface="Calibri"/>
                <a:ea typeface="Calibri"/>
              </a:rPr>
              <a:t>A bill, not a setpoint:  </a:t>
            </a:r>
            <a:r>
              <a:rPr b="0" lang="en-US" sz="1250" spc="-1" strike="noStrike">
                <a:solidFill>
                  <a:srgbClr val="d6e3ef"/>
                </a:solidFill>
                <a:latin typeface="Calibri"/>
                <a:ea typeface="Calibri"/>
              </a:rPr>
              <a:t>the cost is money and the only reference is the end-of-day quota x(24) ≥ D — there is nothing to 'track'; the tariff itself shapes the optimal behaviour.</a:t>
            </a:r>
            <a:endParaRPr b="0" lang="en-US" sz="12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0" name="Text 0"/>
          <p:cNvSpPr/>
          <p:nvPr/>
        </p:nvSpPr>
        <p:spPr>
          <a:xfrm>
            <a:off x="11338560" y="6400800"/>
            <a:ext cx="456480" cy="291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050" spc="-1" strike="noStrike">
                <a:solidFill>
                  <a:srgbClr val="6b7c8f"/>
                </a:solidFill>
                <a:latin typeface="Calibri"/>
                <a:ea typeface="Calibri"/>
              </a:rPr>
              <a:t>15</a:t>
            </a:r>
            <a:endParaRPr b="0" lang="en-US" sz="1050" spc="-1" strike="noStrike">
              <a:solidFill>
                <a:srgbClr val="000000"/>
              </a:solidFill>
              <a:latin typeface="Arial"/>
            </a:endParaRPr>
          </a:p>
        </p:txBody>
      </p:sp>
      <p:sp>
        <p:nvSpPr>
          <p:cNvPr id="381" name="Text 1"/>
          <p:cNvSpPr/>
          <p:nvPr/>
        </p:nvSpPr>
        <p:spPr>
          <a:xfrm>
            <a:off x="548640" y="384120"/>
            <a:ext cx="109720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296" strike="noStrike">
                <a:solidFill>
                  <a:srgbClr val="1c7293"/>
                </a:solidFill>
                <a:latin typeface="Calibri"/>
                <a:ea typeface="Calibri"/>
              </a:rPr>
              <a:t>THE CONTROL CORE — ② THE SOLVER (PSO), 1/2</a:t>
            </a:r>
            <a:endParaRPr b="0" lang="en-US" sz="1200" spc="-1" strike="noStrike">
              <a:solidFill>
                <a:srgbClr val="000000"/>
              </a:solidFill>
              <a:latin typeface="Arial"/>
            </a:endParaRPr>
          </a:p>
        </p:txBody>
      </p:sp>
      <p:sp>
        <p:nvSpPr>
          <p:cNvPr id="382" name="Text 2"/>
          <p:cNvSpPr/>
          <p:nvPr/>
        </p:nvSpPr>
        <p:spPr>
          <a:xfrm>
            <a:off x="548640" y="658440"/>
            <a:ext cx="11063520" cy="77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900" spc="-1" strike="noStrike">
                <a:solidFill>
                  <a:srgbClr val="0e2233"/>
                </a:solidFill>
                <a:latin typeface="Cambria"/>
                <a:ea typeface="Cambria"/>
              </a:rPr>
              <a:t>What is particle-swarm optimisation?</a:t>
            </a:r>
            <a:endParaRPr b="0" lang="en-US" sz="2900" spc="-1" strike="noStrike">
              <a:solidFill>
                <a:srgbClr val="000000"/>
              </a:solidFill>
              <a:latin typeface="Arial"/>
            </a:endParaRPr>
          </a:p>
        </p:txBody>
      </p:sp>
      <p:sp>
        <p:nvSpPr>
          <p:cNvPr id="383" name="Shape 3"/>
          <p:cNvSpPr/>
          <p:nvPr/>
        </p:nvSpPr>
        <p:spPr>
          <a:xfrm>
            <a:off x="10136880" y="365760"/>
            <a:ext cx="1502640" cy="328320"/>
          </a:xfrm>
          <a:prstGeom prst="roundRect">
            <a:avLst>
              <a:gd name="adj" fmla="val 50000"/>
            </a:avLst>
          </a:prstGeom>
          <a:solidFill>
            <a:srgbClr val="eef3f7"/>
          </a:solidFill>
          <a:ln w="12700">
            <a:solidFill>
              <a:srgbClr val="dce5ec"/>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84" name="Text 4"/>
          <p:cNvSpPr/>
          <p:nvPr/>
        </p:nvSpPr>
        <p:spPr>
          <a:xfrm>
            <a:off x="10182600" y="365760"/>
            <a:ext cx="1411200" cy="328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50" spc="-1" strike="noStrike">
                <a:solidFill>
                  <a:srgbClr val="1c7293"/>
                </a:solidFill>
                <a:latin typeface="Calibri"/>
                <a:ea typeface="Calibri"/>
              </a:rPr>
              <a:t>pymoo  </a:t>
            </a:r>
            <a:r>
              <a:rPr b="0" lang="en-US" sz="900" spc="-1" strike="noStrike">
                <a:solidFill>
                  <a:srgbClr val="6b7c8f"/>
                </a:solidFill>
                <a:latin typeface="Calibri"/>
                <a:ea typeface="Calibri"/>
              </a:rPr>
              <a:t>the PSO engine</a:t>
            </a:r>
            <a:endParaRPr b="0" lang="en-US" sz="900" spc="-1" strike="noStrike">
              <a:solidFill>
                <a:srgbClr val="000000"/>
              </a:solidFill>
              <a:latin typeface="Arial"/>
            </a:endParaRPr>
          </a:p>
        </p:txBody>
      </p:sp>
      <p:sp>
        <p:nvSpPr>
          <p:cNvPr id="385" name="Text 5"/>
          <p:cNvSpPr/>
          <p:nvPr/>
        </p:nvSpPr>
        <p:spPr>
          <a:xfrm>
            <a:off x="548640" y="1554480"/>
            <a:ext cx="6125760" cy="2331000"/>
          </a:xfrm>
          <a:prstGeom prst="rect">
            <a:avLst/>
          </a:prstGeom>
          <a:noFill/>
          <a:ln w="0">
            <a:noFill/>
          </a:ln>
        </p:spPr>
        <p:style>
          <a:lnRef idx="0"/>
          <a:fillRef idx="0"/>
          <a:effectRef idx="0"/>
          <a:fontRef idx="minor"/>
        </p:style>
        <p:txBody>
          <a:bodyPr lIns="0" rIns="0" tIns="0" bIns="0" anchor="t">
            <a:noAutofit/>
          </a:bodyPr>
          <a:p>
            <a:pPr marL="177840" indent="-177840" defTabSz="914400">
              <a:lnSpc>
                <a:spcPct val="104000"/>
              </a:lnSpc>
              <a:spcAft>
                <a:spcPts val="799"/>
              </a:spcAft>
              <a:buClr>
                <a:srgbClr val="1a2733"/>
              </a:buClr>
              <a:buFont typeface="Symbol" charset="2"/>
              <a:buChar char=""/>
            </a:pPr>
            <a:r>
              <a:rPr b="0" lang="en-US" sz="1250" spc="-1" strike="noStrike">
                <a:solidFill>
                  <a:srgbClr val="1a2733"/>
                </a:solidFill>
                <a:latin typeface="Calibri"/>
                <a:ea typeface="Calibri"/>
              </a:rPr>
              <a:t>A population-based optimiser inspired by how a flock searches for food: many candidate solutions explore the search space together.</a:t>
            </a:r>
            <a:endParaRPr b="0" lang="en-US" sz="125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250" spc="-1" strike="noStrike">
                <a:solidFill>
                  <a:srgbClr val="1a2733"/>
                </a:solidFill>
                <a:latin typeface="Calibri"/>
                <a:ea typeface="Calibri"/>
              </a:rPr>
              <a:t>Each particle is one complete candidate day-plan, with a position (the solution itself) and a velocity (how it is changing).</a:t>
            </a:r>
            <a:endParaRPr b="0" lang="en-US" sz="125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250" spc="-1" strike="noStrike">
                <a:solidFill>
                  <a:srgbClr val="1a2733"/>
                </a:solidFill>
                <a:latin typeface="Calibri"/>
                <a:ea typeface="Calibri"/>
              </a:rPr>
              <a:t>Every iteration a particle is pulled two ways — toward its own best find, and toward the whole swarm's best. That balance of exploring and exploiting converges on the global optimum.</a:t>
            </a:r>
            <a:endParaRPr b="0" lang="en-US" sz="125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250" spc="-1" strike="noStrike">
                <a:solidFill>
                  <a:srgbClr val="1a2733"/>
                </a:solidFill>
                <a:latin typeface="Calibri"/>
                <a:ea typeface="Calibri"/>
              </a:rPr>
              <a:t>It is gradient-free: it needs no derivatives, so it copes with our non-linear electrolyzer and the discontinuous 3-rate tariff.</a:t>
            </a:r>
            <a:endParaRPr b="0" lang="en-US" sz="1250" spc="-1" strike="noStrike">
              <a:solidFill>
                <a:srgbClr val="000000"/>
              </a:solidFill>
              <a:latin typeface="Arial"/>
            </a:endParaRPr>
          </a:p>
        </p:txBody>
      </p:sp>
      <p:pic>
        <p:nvPicPr>
          <p:cNvPr id="386" name="Image 0" descr="/home/youc/hydrogen-dispatch/results/figures/pso_swarm_concept.png"/>
          <p:cNvPicPr/>
          <p:nvPr/>
        </p:nvPicPr>
        <p:blipFill>
          <a:blip r:embed="rId1"/>
          <a:stretch/>
        </p:blipFill>
        <p:spPr>
          <a:xfrm>
            <a:off x="457200" y="3950280"/>
            <a:ext cx="6262920" cy="1974240"/>
          </a:xfrm>
          <a:prstGeom prst="rect">
            <a:avLst/>
          </a:prstGeom>
          <a:ln w="0">
            <a:noFill/>
          </a:ln>
        </p:spPr>
      </p:pic>
      <p:sp>
        <p:nvSpPr>
          <p:cNvPr id="387" name="Shape 6"/>
          <p:cNvSpPr/>
          <p:nvPr/>
        </p:nvSpPr>
        <p:spPr>
          <a:xfrm>
            <a:off x="6903720" y="1737360"/>
            <a:ext cx="4754160" cy="4159800"/>
          </a:xfrm>
          <a:prstGeom prst="roundRect">
            <a:avLst>
              <a:gd name="adj" fmla="val 2198"/>
            </a:avLst>
          </a:prstGeom>
          <a:solidFill>
            <a:srgbClr val="eef3f7"/>
          </a:solidFill>
          <a:ln w="12700">
            <a:solidFill>
              <a:srgbClr val="dce5ec"/>
            </a:solidFill>
            <a:round/>
          </a:ln>
          <a:effectLst>
            <a:outerShdw algn="bl" blurRad="114480" dir="5400000" dist="38160" kx="0" ky="0" rotWithShape="0" sx="100000" sy="100000">
              <a:srgbClr val="0e2233">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88" name="Text 7"/>
          <p:cNvSpPr/>
          <p:nvPr/>
        </p:nvSpPr>
        <p:spPr>
          <a:xfrm>
            <a:off x="7132320" y="1920240"/>
            <a:ext cx="429696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94" strike="noStrike">
                <a:solidFill>
                  <a:srgbClr val="1c7293"/>
                </a:solidFill>
                <a:latin typeface="Calibri"/>
                <a:ea typeface="Calibri"/>
              </a:rPr>
              <a:t>THE UPDATE, EACH ITERATION</a:t>
            </a:r>
            <a:endParaRPr b="0" lang="en-US" sz="1150" spc="-1" strike="noStrike">
              <a:solidFill>
                <a:srgbClr val="000000"/>
              </a:solidFill>
              <a:latin typeface="Arial"/>
            </a:endParaRPr>
          </a:p>
        </p:txBody>
      </p:sp>
      <p:sp>
        <p:nvSpPr>
          <p:cNvPr id="389" name="Text 8"/>
          <p:cNvSpPr/>
          <p:nvPr/>
        </p:nvSpPr>
        <p:spPr>
          <a:xfrm>
            <a:off x="7132320" y="2286000"/>
            <a:ext cx="4342680" cy="410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50" spc="-1" strike="noStrike">
                <a:solidFill>
                  <a:srgbClr val="0e2233"/>
                </a:solidFill>
                <a:latin typeface="Consolas"/>
                <a:ea typeface="Consolas"/>
              </a:rPr>
              <a:t>vᵢ ← w·vᵢ + c₁r₁(pᵢ − xᵢ) + c₂r₂(g − xᵢ)</a:t>
            </a:r>
            <a:endParaRPr b="0" lang="en-US" sz="1350" spc="-1" strike="noStrike">
              <a:solidFill>
                <a:srgbClr val="000000"/>
              </a:solidFill>
              <a:latin typeface="Arial"/>
            </a:endParaRPr>
          </a:p>
        </p:txBody>
      </p:sp>
      <p:sp>
        <p:nvSpPr>
          <p:cNvPr id="390" name="Text 9"/>
          <p:cNvSpPr/>
          <p:nvPr/>
        </p:nvSpPr>
        <p:spPr>
          <a:xfrm>
            <a:off x="7132320" y="2743200"/>
            <a:ext cx="434268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50" spc="-1" strike="noStrike">
                <a:solidFill>
                  <a:srgbClr val="0e2233"/>
                </a:solidFill>
                <a:latin typeface="Consolas"/>
                <a:ea typeface="Consolas"/>
              </a:rPr>
              <a:t>xᵢ ← xᵢ + vᵢ</a:t>
            </a:r>
            <a:endParaRPr b="0" lang="en-US" sz="1350" spc="-1" strike="noStrike">
              <a:solidFill>
                <a:srgbClr val="000000"/>
              </a:solidFill>
              <a:latin typeface="Arial"/>
            </a:endParaRPr>
          </a:p>
        </p:txBody>
      </p:sp>
      <p:sp>
        <p:nvSpPr>
          <p:cNvPr id="391" name="Shape 10"/>
          <p:cNvSpPr/>
          <p:nvPr/>
        </p:nvSpPr>
        <p:spPr>
          <a:xfrm>
            <a:off x="7132320" y="3291840"/>
            <a:ext cx="4296960" cy="621000"/>
          </a:xfrm>
          <a:prstGeom prst="roundRect">
            <a:avLst>
              <a:gd name="adj" fmla="val 8824"/>
            </a:avLst>
          </a:prstGeom>
          <a:solidFill>
            <a:srgbClr val="ffffff"/>
          </a:solidFill>
          <a:ln w="12700">
            <a:solidFill>
              <a:srgbClr val="dce5ec"/>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92" name="Shape 11"/>
          <p:cNvSpPr/>
          <p:nvPr/>
        </p:nvSpPr>
        <p:spPr>
          <a:xfrm>
            <a:off x="7132320" y="3291840"/>
            <a:ext cx="81720" cy="621000"/>
          </a:xfrm>
          <a:prstGeom prst="rect">
            <a:avLst/>
          </a:prstGeom>
          <a:solidFill>
            <a:srgbClr val="1c729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93" name="Text 12"/>
          <p:cNvSpPr/>
          <p:nvPr/>
        </p:nvSpPr>
        <p:spPr>
          <a:xfrm>
            <a:off x="7315200" y="3291840"/>
            <a:ext cx="1782360" cy="621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1c7293"/>
                </a:solidFill>
                <a:latin typeface="Consolas"/>
                <a:ea typeface="Consolas"/>
              </a:rPr>
              <a:t>w·vᵢ</a:t>
            </a:r>
            <a:endParaRPr b="0" lang="en-US" sz="1300" spc="-1" strike="noStrike">
              <a:solidFill>
                <a:srgbClr val="000000"/>
              </a:solidFill>
              <a:latin typeface="Arial"/>
            </a:endParaRPr>
          </a:p>
        </p:txBody>
      </p:sp>
      <p:sp>
        <p:nvSpPr>
          <p:cNvPr id="394" name="Text 13"/>
          <p:cNvSpPr/>
          <p:nvPr/>
        </p:nvSpPr>
        <p:spPr>
          <a:xfrm>
            <a:off x="9098280" y="3291840"/>
            <a:ext cx="2239560" cy="621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a2733"/>
                </a:solidFill>
                <a:latin typeface="Calibri"/>
                <a:ea typeface="Calibri"/>
              </a:rPr>
              <a:t>inertia — keep exploring</a:t>
            </a:r>
            <a:endParaRPr b="0" lang="en-US" sz="1200" spc="-1" strike="noStrike">
              <a:solidFill>
                <a:srgbClr val="000000"/>
              </a:solidFill>
              <a:latin typeface="Arial"/>
            </a:endParaRPr>
          </a:p>
        </p:txBody>
      </p:sp>
      <p:sp>
        <p:nvSpPr>
          <p:cNvPr id="395" name="Shape 14"/>
          <p:cNvSpPr/>
          <p:nvPr/>
        </p:nvSpPr>
        <p:spPr>
          <a:xfrm>
            <a:off x="7132320" y="4060080"/>
            <a:ext cx="4296960" cy="621000"/>
          </a:xfrm>
          <a:prstGeom prst="roundRect">
            <a:avLst>
              <a:gd name="adj" fmla="val 8824"/>
            </a:avLst>
          </a:prstGeom>
          <a:solidFill>
            <a:srgbClr val="ffffff"/>
          </a:solidFill>
          <a:ln w="12700">
            <a:solidFill>
              <a:srgbClr val="dce5ec"/>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96" name="Shape 15"/>
          <p:cNvSpPr/>
          <p:nvPr/>
        </p:nvSpPr>
        <p:spPr>
          <a:xfrm>
            <a:off x="7132320" y="4060080"/>
            <a:ext cx="81720" cy="621000"/>
          </a:xfrm>
          <a:prstGeom prst="rect">
            <a:avLst/>
          </a:prstGeom>
          <a:solidFill>
            <a:srgbClr val="f4a62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97" name="Text 16"/>
          <p:cNvSpPr/>
          <p:nvPr/>
        </p:nvSpPr>
        <p:spPr>
          <a:xfrm>
            <a:off x="7315200" y="4060080"/>
            <a:ext cx="1782360" cy="621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4a623"/>
                </a:solidFill>
                <a:latin typeface="Consolas"/>
                <a:ea typeface="Consolas"/>
              </a:rPr>
              <a:t>c₁r₁(pᵢ−xᵢ)</a:t>
            </a:r>
            <a:endParaRPr b="0" lang="en-US" sz="1300" spc="-1" strike="noStrike">
              <a:solidFill>
                <a:srgbClr val="000000"/>
              </a:solidFill>
              <a:latin typeface="Arial"/>
            </a:endParaRPr>
          </a:p>
        </p:txBody>
      </p:sp>
      <p:sp>
        <p:nvSpPr>
          <p:cNvPr id="398" name="Text 17"/>
          <p:cNvSpPr/>
          <p:nvPr/>
        </p:nvSpPr>
        <p:spPr>
          <a:xfrm>
            <a:off x="9098280" y="4060080"/>
            <a:ext cx="2239560" cy="621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a2733"/>
                </a:solidFill>
                <a:latin typeface="Calibri"/>
                <a:ea typeface="Calibri"/>
              </a:rPr>
              <a:t>pull toward its personal best</a:t>
            </a:r>
            <a:endParaRPr b="0" lang="en-US" sz="1200" spc="-1" strike="noStrike">
              <a:solidFill>
                <a:srgbClr val="000000"/>
              </a:solidFill>
              <a:latin typeface="Arial"/>
            </a:endParaRPr>
          </a:p>
        </p:txBody>
      </p:sp>
      <p:sp>
        <p:nvSpPr>
          <p:cNvPr id="399" name="Shape 18"/>
          <p:cNvSpPr/>
          <p:nvPr/>
        </p:nvSpPr>
        <p:spPr>
          <a:xfrm>
            <a:off x="7132320" y="4827960"/>
            <a:ext cx="4296960" cy="621000"/>
          </a:xfrm>
          <a:prstGeom prst="roundRect">
            <a:avLst>
              <a:gd name="adj" fmla="val 8824"/>
            </a:avLst>
          </a:prstGeom>
          <a:solidFill>
            <a:srgbClr val="ffffff"/>
          </a:solidFill>
          <a:ln w="12700">
            <a:solidFill>
              <a:srgbClr val="dce5ec"/>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400" name="Shape 19"/>
          <p:cNvSpPr/>
          <p:nvPr/>
        </p:nvSpPr>
        <p:spPr>
          <a:xfrm>
            <a:off x="7132320" y="4827960"/>
            <a:ext cx="81720" cy="621000"/>
          </a:xfrm>
          <a:prstGeom prst="rect">
            <a:avLst/>
          </a:prstGeom>
          <a:solidFill>
            <a:srgbClr val="2a9d8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01" name="Text 20"/>
          <p:cNvSpPr/>
          <p:nvPr/>
        </p:nvSpPr>
        <p:spPr>
          <a:xfrm>
            <a:off x="7315200" y="4827960"/>
            <a:ext cx="1782360" cy="621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2a9d8f"/>
                </a:solidFill>
                <a:latin typeface="Consolas"/>
                <a:ea typeface="Consolas"/>
              </a:rPr>
              <a:t>c₂r₂(g−xᵢ)</a:t>
            </a:r>
            <a:endParaRPr b="0" lang="en-US" sz="1300" spc="-1" strike="noStrike">
              <a:solidFill>
                <a:srgbClr val="000000"/>
              </a:solidFill>
              <a:latin typeface="Arial"/>
            </a:endParaRPr>
          </a:p>
        </p:txBody>
      </p:sp>
      <p:sp>
        <p:nvSpPr>
          <p:cNvPr id="402" name="Text 21"/>
          <p:cNvSpPr/>
          <p:nvPr/>
        </p:nvSpPr>
        <p:spPr>
          <a:xfrm>
            <a:off x="9098280" y="4827960"/>
            <a:ext cx="2239560" cy="621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a2733"/>
                </a:solidFill>
                <a:latin typeface="Calibri"/>
                <a:ea typeface="Calibri"/>
              </a:rPr>
              <a:t>pull toward the swarm's best</a:t>
            </a:r>
            <a:endParaRPr b="0" lang="en-US" sz="1200" spc="-1" strike="noStrike">
              <a:solidFill>
                <a:srgbClr val="000000"/>
              </a:solidFill>
              <a:latin typeface="Arial"/>
            </a:endParaRPr>
          </a:p>
        </p:txBody>
      </p:sp>
      <p:sp>
        <p:nvSpPr>
          <p:cNvPr id="403" name="Text 22"/>
          <p:cNvSpPr/>
          <p:nvPr/>
        </p:nvSpPr>
        <p:spPr>
          <a:xfrm>
            <a:off x="7132320" y="5486400"/>
            <a:ext cx="4296960" cy="401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000" spc="-1" strike="noStrike">
                <a:solidFill>
                  <a:srgbClr val="6b7c8f"/>
                </a:solidFill>
                <a:latin typeface="Calibri"/>
                <a:ea typeface="Calibri"/>
              </a:rPr>
              <a:t>r₁, r₂ ~ U(0,1), fresh each step · |v| capped at 20 % of range · pymoo: w = 0.9, c₁ = c₂ = 2.0, adapted online.</a:t>
            </a:r>
            <a:endParaRPr b="0" lang="en-US" sz="1000" spc="-1" strike="noStrike">
              <a:solidFill>
                <a:srgbClr val="000000"/>
              </a:solidFill>
              <a:latin typeface="Arial"/>
            </a:endParaRPr>
          </a:p>
        </p:txBody>
      </p:sp>
      <p:sp>
        <p:nvSpPr>
          <p:cNvPr id="404" name="Text 23"/>
          <p:cNvSpPr/>
          <p:nvPr/>
        </p:nvSpPr>
        <p:spPr>
          <a:xfrm>
            <a:off x="548640" y="6437520"/>
            <a:ext cx="82288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900" spc="-1" strike="noStrike">
                <a:solidFill>
                  <a:srgbClr val="6b7c8f"/>
                </a:solidFill>
                <a:latin typeface="Calibri"/>
                <a:ea typeface="Calibri"/>
              </a:rPr>
              <a:t>Supervisory Dispatch Control · Solar–Grid–Electrolyzer H₂ Plant</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5" name="Text 0"/>
          <p:cNvSpPr/>
          <p:nvPr/>
        </p:nvSpPr>
        <p:spPr>
          <a:xfrm>
            <a:off x="11338560" y="6400800"/>
            <a:ext cx="456480" cy="291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050" spc="-1" strike="noStrike">
                <a:solidFill>
                  <a:srgbClr val="6b7c8f"/>
                </a:solidFill>
                <a:latin typeface="Calibri"/>
                <a:ea typeface="Calibri"/>
              </a:rPr>
              <a:t>16</a:t>
            </a:r>
            <a:endParaRPr b="0" lang="en-US" sz="1050" spc="-1" strike="noStrike">
              <a:solidFill>
                <a:srgbClr val="000000"/>
              </a:solidFill>
              <a:latin typeface="Arial"/>
            </a:endParaRPr>
          </a:p>
        </p:txBody>
      </p:sp>
      <p:sp>
        <p:nvSpPr>
          <p:cNvPr id="406" name="Text 1"/>
          <p:cNvSpPr/>
          <p:nvPr/>
        </p:nvSpPr>
        <p:spPr>
          <a:xfrm>
            <a:off x="548640" y="384120"/>
            <a:ext cx="109720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296" strike="noStrike">
                <a:solidFill>
                  <a:srgbClr val="1c7293"/>
                </a:solidFill>
                <a:latin typeface="Calibri"/>
                <a:ea typeface="Calibri"/>
              </a:rPr>
              <a:t>THE CONTROL CORE — ② THE SOLVER (PSO), 2/2</a:t>
            </a:r>
            <a:endParaRPr b="0" lang="en-US" sz="1200" spc="-1" strike="noStrike">
              <a:solidFill>
                <a:srgbClr val="000000"/>
              </a:solidFill>
              <a:latin typeface="Arial"/>
            </a:endParaRPr>
          </a:p>
        </p:txBody>
      </p:sp>
      <p:sp>
        <p:nvSpPr>
          <p:cNvPr id="407" name="Text 2"/>
          <p:cNvSpPr/>
          <p:nvPr/>
        </p:nvSpPr>
        <p:spPr>
          <a:xfrm>
            <a:off x="548640" y="658440"/>
            <a:ext cx="11063520" cy="77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900" spc="-1" strike="noStrike">
                <a:solidFill>
                  <a:srgbClr val="0e2233"/>
                </a:solidFill>
                <a:latin typeface="Cambria"/>
                <a:ea typeface="Cambria"/>
              </a:rPr>
              <a:t>PSO applied: how each daily plan is solved</a:t>
            </a:r>
            <a:endParaRPr b="0" lang="en-US" sz="2900" spc="-1" strike="noStrike">
              <a:solidFill>
                <a:srgbClr val="000000"/>
              </a:solidFill>
              <a:latin typeface="Arial"/>
            </a:endParaRPr>
          </a:p>
        </p:txBody>
      </p:sp>
      <p:pic>
        <p:nvPicPr>
          <p:cNvPr id="408" name="Image 0" descr="/home/youc/hydrogen-dispatch/results/figures/pso_convergence.png"/>
          <p:cNvPicPr/>
          <p:nvPr/>
        </p:nvPicPr>
        <p:blipFill>
          <a:blip r:embed="rId1"/>
          <a:stretch/>
        </p:blipFill>
        <p:spPr>
          <a:xfrm>
            <a:off x="411480" y="1600200"/>
            <a:ext cx="7314480" cy="4479840"/>
          </a:xfrm>
          <a:prstGeom prst="rect">
            <a:avLst/>
          </a:prstGeom>
          <a:ln w="0">
            <a:noFill/>
          </a:ln>
        </p:spPr>
      </p:pic>
      <p:sp>
        <p:nvSpPr>
          <p:cNvPr id="409" name="Shape 3"/>
          <p:cNvSpPr/>
          <p:nvPr/>
        </p:nvSpPr>
        <p:spPr>
          <a:xfrm>
            <a:off x="8229600" y="1783080"/>
            <a:ext cx="3428280" cy="1279440"/>
          </a:xfrm>
          <a:prstGeom prst="roundRect">
            <a:avLst>
              <a:gd name="adj" fmla="val 5714"/>
            </a:avLst>
          </a:prstGeom>
          <a:solidFill>
            <a:srgbClr val="ffffff"/>
          </a:solidFill>
          <a:ln w="12700">
            <a:solidFill>
              <a:srgbClr val="dce5ec"/>
            </a:solidFill>
            <a:round/>
          </a:ln>
          <a:effectLst>
            <a:outerShdw algn="bl" blurRad="114480" dir="5400000" dist="38160" kx="0" ky="0" rotWithShape="0" sx="100000" sy="100000">
              <a:srgbClr val="0e2233">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410" name="Text 4"/>
          <p:cNvSpPr/>
          <p:nvPr/>
        </p:nvSpPr>
        <p:spPr>
          <a:xfrm>
            <a:off x="8321040" y="1929240"/>
            <a:ext cx="3245400" cy="6026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700" spc="-1" strike="noStrike">
                <a:solidFill>
                  <a:srgbClr val="2a9d8f"/>
                </a:solidFill>
                <a:latin typeface="Cambria"/>
                <a:ea typeface="Cambria"/>
              </a:rPr>
              <a:t>3 / 3</a:t>
            </a:r>
            <a:endParaRPr b="0" lang="en-US" sz="2700" spc="-1" strike="noStrike">
              <a:solidFill>
                <a:srgbClr val="000000"/>
              </a:solidFill>
              <a:latin typeface="Arial"/>
            </a:endParaRPr>
          </a:p>
        </p:txBody>
      </p:sp>
      <p:sp>
        <p:nvSpPr>
          <p:cNvPr id="411" name="Text 5"/>
          <p:cNvSpPr/>
          <p:nvPr/>
        </p:nvSpPr>
        <p:spPr>
          <a:xfrm>
            <a:off x="8339400" y="2569320"/>
            <a:ext cx="3208680" cy="419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pc="-1" strike="noStrike">
                <a:solidFill>
                  <a:srgbClr val="6b7c8f"/>
                </a:solidFill>
                <a:latin typeface="Calibri"/>
                <a:ea typeface="Calibri"/>
              </a:rPr>
              <a:t>random seeds reach the same optimum</a:t>
            </a:r>
            <a:endParaRPr b="0" lang="en-US" sz="1100" spc="-1" strike="noStrike">
              <a:solidFill>
                <a:srgbClr val="000000"/>
              </a:solidFill>
              <a:latin typeface="Arial"/>
            </a:endParaRPr>
          </a:p>
        </p:txBody>
      </p:sp>
      <p:sp>
        <p:nvSpPr>
          <p:cNvPr id="412" name="Text 6"/>
          <p:cNvSpPr/>
          <p:nvPr/>
        </p:nvSpPr>
        <p:spPr>
          <a:xfrm>
            <a:off x="8229600" y="3291840"/>
            <a:ext cx="3519720" cy="2742480"/>
          </a:xfrm>
          <a:prstGeom prst="rect">
            <a:avLst/>
          </a:prstGeom>
          <a:noFill/>
          <a:ln w="0">
            <a:noFill/>
          </a:ln>
        </p:spPr>
        <p:style>
          <a:lnRef idx="0"/>
          <a:fillRef idx="0"/>
          <a:effectRef idx="0"/>
          <a:fontRef idx="minor"/>
        </p:style>
        <p:txBody>
          <a:bodyPr lIns="0" rIns="0" tIns="0" bIns="0" anchor="t">
            <a:noAutofit/>
          </a:bodyPr>
          <a:p>
            <a:pPr marL="177840" indent="-177840" defTabSz="914400">
              <a:lnSpc>
                <a:spcPct val="104000"/>
              </a:lnSpc>
              <a:spcAft>
                <a:spcPts val="799"/>
              </a:spcAft>
              <a:buClr>
                <a:srgbClr val="1a2733"/>
              </a:buClr>
              <a:buFont typeface="Symbol" charset="2"/>
              <a:buChar char=""/>
            </a:pPr>
            <a:r>
              <a:rPr b="0" lang="en-US" sz="1300" spc="-1" strike="noStrike">
                <a:solidFill>
                  <a:srgbClr val="1a2733"/>
                </a:solidFill>
                <a:latin typeface="Calibri"/>
                <a:ea typeface="Calibri"/>
              </a:rPr>
              <a:t>The search is hard: 24 hourly setpoints, a non-linear electrolyzer, a discontinuous 3-rate tariff — no gradients to follow.</a:t>
            </a:r>
            <a:endParaRPr b="0" lang="en-US" sz="130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300" spc="-1" strike="noStrike">
                <a:solidFill>
                  <a:srgbClr val="1a2733"/>
                </a:solidFill>
                <a:latin typeface="Calibri"/>
                <a:ea typeface="Calibri"/>
              </a:rPr>
              <a:t>PSO flies a swarm of ~60 candidate day-plans; each is pulled toward its own best and the swarm's best.</a:t>
            </a:r>
            <a:endParaRPr b="0" lang="en-US" sz="130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300" spc="-1" strike="noStrike">
                <a:solidFill>
                  <a:srgbClr val="1a2733"/>
                </a:solidFill>
                <a:latin typeface="Calibri"/>
                <a:ea typeface="Calibri"/>
              </a:rPr>
              <a:t>Fitness = exactly the J of the formal statement: the 15-min grid bill + 10⁷ × any shortfall. Converges in ≈150 generations; 3 seeds, one optimum.</a:t>
            </a:r>
            <a:endParaRPr b="0" lang="en-US" sz="130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300" spc="-1" strike="noStrike">
                <a:solidFill>
                  <a:srgbClr val="1a2733"/>
                </a:solidFill>
                <a:latin typeface="Calibri"/>
                <a:ea typeface="Calibri"/>
              </a:rPr>
              <a:t>But note what we assumed: the day's weather, known in advance. Tomorrow's never is — closing that gap is the loop's job, next.</a:t>
            </a:r>
            <a:endParaRPr b="0" lang="en-US" sz="1300" spc="-1" strike="noStrike">
              <a:solidFill>
                <a:srgbClr val="000000"/>
              </a:solidFill>
              <a:latin typeface="Arial"/>
            </a:endParaRPr>
          </a:p>
        </p:txBody>
      </p:sp>
      <p:sp>
        <p:nvSpPr>
          <p:cNvPr id="413" name="Text 7"/>
          <p:cNvSpPr/>
          <p:nvPr/>
        </p:nvSpPr>
        <p:spPr>
          <a:xfrm>
            <a:off x="548640" y="6437520"/>
            <a:ext cx="82288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900" spc="-1" strike="noStrike">
                <a:solidFill>
                  <a:srgbClr val="6b7c8f"/>
                </a:solidFill>
                <a:latin typeface="Calibri"/>
                <a:ea typeface="Calibri"/>
              </a:rPr>
              <a:t>Supervisory Dispatch Control · Solar–Grid–Electrolyzer H₂ Plant</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e2233"/>
        </a:solidFill>
      </p:bgPr>
    </p:bg>
    <p:spTree>
      <p:nvGrpSpPr>
        <p:cNvPr id="1" name=""/>
        <p:cNvGrpSpPr/>
        <p:nvPr/>
      </p:nvGrpSpPr>
      <p:grpSpPr>
        <a:xfrm>
          <a:off x="0" y="0"/>
          <a:ext cx="0" cy="0"/>
          <a:chOff x="0" y="0"/>
          <a:chExt cx="0" cy="0"/>
        </a:xfrm>
      </p:grpSpPr>
      <p:sp>
        <p:nvSpPr>
          <p:cNvPr id="414" name="Text 0"/>
          <p:cNvSpPr/>
          <p:nvPr/>
        </p:nvSpPr>
        <p:spPr>
          <a:xfrm>
            <a:off x="11338560" y="6400800"/>
            <a:ext cx="456480" cy="291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050" spc="-1" strike="noStrike">
                <a:solidFill>
                  <a:srgbClr val="8ea6bc"/>
                </a:solidFill>
                <a:latin typeface="Calibri"/>
                <a:ea typeface="Calibri"/>
              </a:rPr>
              <a:t>17</a:t>
            </a:r>
            <a:endParaRPr b="0" lang="en-US" sz="1050" spc="-1" strike="noStrike">
              <a:solidFill>
                <a:srgbClr val="ffffff"/>
              </a:solidFill>
              <a:latin typeface="Arial"/>
            </a:endParaRPr>
          </a:p>
        </p:txBody>
      </p:sp>
      <p:sp>
        <p:nvSpPr>
          <p:cNvPr id="415" name="Text 1"/>
          <p:cNvSpPr/>
          <p:nvPr/>
        </p:nvSpPr>
        <p:spPr>
          <a:xfrm>
            <a:off x="548640" y="457200"/>
            <a:ext cx="109720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296" strike="noStrike">
                <a:solidFill>
                  <a:srgbClr val="f4a623"/>
                </a:solidFill>
                <a:latin typeface="Calibri"/>
                <a:ea typeface="Calibri"/>
              </a:rPr>
              <a:t>THE CONTROL CORE — ③ THE LOOP (MPC)</a:t>
            </a:r>
            <a:endParaRPr b="0" lang="en-US" sz="1200" spc="-1" strike="noStrike">
              <a:solidFill>
                <a:srgbClr val="ffffff"/>
              </a:solidFill>
              <a:latin typeface="Arial"/>
            </a:endParaRPr>
          </a:p>
        </p:txBody>
      </p:sp>
      <p:sp>
        <p:nvSpPr>
          <p:cNvPr id="416" name="Text 2"/>
          <p:cNvSpPr/>
          <p:nvPr/>
        </p:nvSpPr>
        <p:spPr>
          <a:xfrm>
            <a:off x="548640" y="777240"/>
            <a:ext cx="11063520" cy="77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900" spc="-1" strike="noStrike">
                <a:solidFill>
                  <a:srgbClr val="ffffff"/>
                </a:solidFill>
                <a:latin typeface="Cambria"/>
                <a:ea typeface="Cambria"/>
              </a:rPr>
              <a:t>Model Predictive Control (MPC)</a:t>
            </a:r>
            <a:endParaRPr b="0" lang="en-US" sz="2900" spc="-1" strike="noStrike">
              <a:solidFill>
                <a:srgbClr val="ffffff"/>
              </a:solidFill>
              <a:latin typeface="Arial"/>
            </a:endParaRPr>
          </a:p>
        </p:txBody>
      </p:sp>
      <p:sp>
        <p:nvSpPr>
          <p:cNvPr id="417" name="Shape 3"/>
          <p:cNvSpPr/>
          <p:nvPr/>
        </p:nvSpPr>
        <p:spPr>
          <a:xfrm>
            <a:off x="9853560" y="365760"/>
            <a:ext cx="1785960" cy="328320"/>
          </a:xfrm>
          <a:prstGeom prst="roundRect">
            <a:avLst>
              <a:gd name="adj" fmla="val 50000"/>
            </a:avLst>
          </a:prstGeom>
          <a:solidFill>
            <a:srgbClr val="16344b"/>
          </a:solidFill>
          <a:ln w="12700">
            <a:solidFill>
              <a:srgbClr val="27516e"/>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18" name="Text 4"/>
          <p:cNvSpPr/>
          <p:nvPr/>
        </p:nvSpPr>
        <p:spPr>
          <a:xfrm>
            <a:off x="9899280" y="365760"/>
            <a:ext cx="1694520" cy="328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50" spc="-1" strike="noStrike">
                <a:solidFill>
                  <a:srgbClr val="f4a623"/>
                </a:solidFill>
                <a:latin typeface="Calibri"/>
                <a:ea typeface="Calibri"/>
              </a:rPr>
              <a:t>src/mpc.py  </a:t>
            </a:r>
            <a:r>
              <a:rPr b="0" lang="en-US" sz="900" spc="-1" strike="noStrike">
                <a:solidFill>
                  <a:srgbClr val="aec2d4"/>
                </a:solidFill>
                <a:latin typeface="Calibri"/>
                <a:ea typeface="Calibri"/>
              </a:rPr>
              <a:t>our controller</a:t>
            </a:r>
            <a:endParaRPr b="0" lang="en-US" sz="900" spc="-1" strike="noStrike">
              <a:solidFill>
                <a:srgbClr val="ffffff"/>
              </a:solidFill>
              <a:latin typeface="Arial"/>
            </a:endParaRPr>
          </a:p>
        </p:txBody>
      </p:sp>
      <p:sp>
        <p:nvSpPr>
          <p:cNvPr id="419" name="Text 5"/>
          <p:cNvSpPr/>
          <p:nvPr/>
        </p:nvSpPr>
        <p:spPr>
          <a:xfrm>
            <a:off x="548640" y="1389960"/>
            <a:ext cx="11063520" cy="310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 strike="noStrike">
                <a:solidFill>
                  <a:srgbClr val="f4a623"/>
                </a:solidFill>
                <a:latin typeface="Calibri"/>
                <a:ea typeface="Calibri"/>
              </a:rPr>
              <a:t>PSO runs inside this loop, ~24× a day — not “PSO then MPC”.</a:t>
            </a:r>
            <a:endParaRPr b="0" lang="en-US" sz="1200" spc="-1" strike="noStrike">
              <a:solidFill>
                <a:srgbClr val="ffffff"/>
              </a:solidFill>
              <a:latin typeface="Arial"/>
            </a:endParaRPr>
          </a:p>
        </p:txBody>
      </p:sp>
      <p:sp>
        <p:nvSpPr>
          <p:cNvPr id="420" name="Shape 6"/>
          <p:cNvSpPr/>
          <p:nvPr/>
        </p:nvSpPr>
        <p:spPr>
          <a:xfrm>
            <a:off x="548640" y="1783080"/>
            <a:ext cx="5805720" cy="3656880"/>
          </a:xfrm>
          <a:prstGeom prst="roundRect">
            <a:avLst>
              <a:gd name="adj" fmla="val 2500"/>
            </a:avLst>
          </a:prstGeom>
          <a:solidFill>
            <a:srgbClr val="16344b"/>
          </a:solidFill>
          <a:ln w="12700">
            <a:solidFill>
              <a:srgbClr val="27516e"/>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21" name="Text 7"/>
          <p:cNvSpPr/>
          <p:nvPr/>
        </p:nvSpPr>
        <p:spPr>
          <a:xfrm>
            <a:off x="777240" y="1901880"/>
            <a:ext cx="31996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94" strike="noStrike">
                <a:solidFill>
                  <a:srgbClr val="f4a623"/>
                </a:solidFill>
                <a:latin typeface="Calibri"/>
                <a:ea typeface="Calibri"/>
              </a:rPr>
              <a:t>THE CLOSED LOOP</a:t>
            </a:r>
            <a:endParaRPr b="0" lang="en-US" sz="1200" spc="-1" strike="noStrike">
              <a:solidFill>
                <a:srgbClr val="ffffff"/>
              </a:solidFill>
              <a:latin typeface="Arial"/>
            </a:endParaRPr>
          </a:p>
        </p:txBody>
      </p:sp>
      <p:sp>
        <p:nvSpPr>
          <p:cNvPr id="422" name="Shape 8"/>
          <p:cNvSpPr/>
          <p:nvPr/>
        </p:nvSpPr>
        <p:spPr>
          <a:xfrm>
            <a:off x="960120" y="2231280"/>
            <a:ext cx="2102400" cy="694080"/>
          </a:xfrm>
          <a:prstGeom prst="roundRect">
            <a:avLst>
              <a:gd name="adj" fmla="val 9211"/>
            </a:avLst>
          </a:prstGeom>
          <a:solidFill>
            <a:srgbClr val="12283c"/>
          </a:solidFill>
          <a:ln w="12700">
            <a:solidFill>
              <a:srgbClr val="0ea5e9"/>
            </a:solidFill>
            <a:prstDash val="dash"/>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23" name="Text 9"/>
          <p:cNvSpPr/>
          <p:nvPr/>
        </p:nvSpPr>
        <p:spPr>
          <a:xfrm>
            <a:off x="1005840" y="2231280"/>
            <a:ext cx="2010960" cy="69408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1000" spc="-1" strike="noStrike">
                <a:solidFill>
                  <a:srgbClr val="9ccfec"/>
                </a:solidFill>
                <a:latin typeface="Consolas"/>
                <a:ea typeface="Consolas"/>
              </a:rPr>
              <a:t>d(j|k) = α(k)·d_yday(j)</a:t>
            </a:r>
            <a:endParaRPr b="0" lang="en-US" sz="1000" spc="-1" strike="noStrike">
              <a:solidFill>
                <a:srgbClr val="ffffff"/>
              </a:solidFill>
              <a:latin typeface="Arial"/>
            </a:endParaRPr>
          </a:p>
          <a:p>
            <a:pPr algn="ctr" defTabSz="914400">
              <a:lnSpc>
                <a:spcPct val="105000"/>
              </a:lnSpc>
              <a:tabLst>
                <a:tab algn="l" pos="0"/>
              </a:tabLst>
            </a:pPr>
            <a:endParaRPr b="0" lang="en-US" sz="1000" spc="-1" strike="noStrike">
              <a:solidFill>
                <a:srgbClr val="ffffff"/>
              </a:solidFill>
              <a:latin typeface="Arial"/>
            </a:endParaRPr>
          </a:p>
          <a:p>
            <a:pPr algn="ctr" defTabSz="914400">
              <a:lnSpc>
                <a:spcPct val="105000"/>
              </a:lnSpc>
              <a:tabLst>
                <a:tab algn="l" pos="0"/>
              </a:tabLst>
            </a:pPr>
            <a:r>
              <a:rPr b="0" i="1" lang="en-US" sz="750" spc="-1" strike="noStrike">
                <a:solidFill>
                  <a:srgbClr val="6e9fbe"/>
                </a:solidFill>
                <a:latin typeface="Calibri"/>
                <a:ea typeface="Calibri"/>
              </a:rPr>
              <a:t>PV forecast — yesterday + clearness fix</a:t>
            </a:r>
            <a:endParaRPr b="0" lang="en-US" sz="750" spc="-1" strike="noStrike">
              <a:solidFill>
                <a:srgbClr val="ffffff"/>
              </a:solidFill>
              <a:latin typeface="Arial"/>
            </a:endParaRPr>
          </a:p>
        </p:txBody>
      </p:sp>
      <p:sp>
        <p:nvSpPr>
          <p:cNvPr id="424" name="Shape 10"/>
          <p:cNvSpPr/>
          <p:nvPr/>
        </p:nvSpPr>
        <p:spPr>
          <a:xfrm>
            <a:off x="2011680" y="2926080"/>
            <a:ext cx="360" cy="274320"/>
          </a:xfrm>
          <a:prstGeom prst="line">
            <a:avLst/>
          </a:prstGeom>
          <a:ln w="19050">
            <a:solidFill>
              <a:srgbClr val="0ea5e9"/>
            </a:solidFill>
            <a:prstDash val="dash"/>
            <a:round/>
            <a:tailEnd len="med" type="triangle" w="me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425" name="Text 11"/>
          <p:cNvSpPr/>
          <p:nvPr/>
        </p:nvSpPr>
        <p:spPr>
          <a:xfrm>
            <a:off x="4023360" y="2286000"/>
            <a:ext cx="2056680" cy="45648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1050" spc="-1" strike="noStrike">
                <a:solidFill>
                  <a:srgbClr val="e2643b"/>
                </a:solidFill>
                <a:latin typeface="Consolas"/>
                <a:ea typeface="Consolas"/>
              </a:rPr>
              <a:t>d(k)</a:t>
            </a:r>
            <a:endParaRPr b="0" lang="en-US" sz="1050" spc="-1" strike="noStrike">
              <a:solidFill>
                <a:srgbClr val="ffffff"/>
              </a:solidFill>
              <a:latin typeface="Arial"/>
            </a:endParaRPr>
          </a:p>
          <a:p>
            <a:pPr algn="ctr" defTabSz="914400">
              <a:lnSpc>
                <a:spcPct val="100000"/>
              </a:lnSpc>
              <a:tabLst>
                <a:tab algn="l" pos="0"/>
              </a:tabLst>
            </a:pPr>
            <a:endParaRPr b="0" lang="en-US" sz="1050" spc="-1" strike="noStrike">
              <a:solidFill>
                <a:srgbClr val="ffffff"/>
              </a:solidFill>
              <a:latin typeface="Arial"/>
            </a:endParaRPr>
          </a:p>
          <a:p>
            <a:pPr algn="ctr" defTabSz="914400">
              <a:lnSpc>
                <a:spcPct val="100000"/>
              </a:lnSpc>
              <a:tabLst>
                <a:tab algn="l" pos="0"/>
              </a:tabLst>
            </a:pPr>
            <a:r>
              <a:rPr b="0" i="1" lang="en-US" sz="750" spc="-1" strike="noStrike">
                <a:solidFill>
                  <a:srgbClr val="e2643b"/>
                </a:solidFill>
                <a:latin typeface="Calibri"/>
                <a:ea typeface="Calibri"/>
              </a:rPr>
              <a:t>clouds — the disturbance</a:t>
            </a:r>
            <a:endParaRPr b="0" lang="en-US" sz="750" spc="-1" strike="noStrike">
              <a:solidFill>
                <a:srgbClr val="ffffff"/>
              </a:solidFill>
              <a:latin typeface="Arial"/>
            </a:endParaRPr>
          </a:p>
        </p:txBody>
      </p:sp>
      <p:sp>
        <p:nvSpPr>
          <p:cNvPr id="426" name="Shape 12"/>
          <p:cNvSpPr/>
          <p:nvPr/>
        </p:nvSpPr>
        <p:spPr>
          <a:xfrm>
            <a:off x="5038200" y="2761200"/>
            <a:ext cx="360" cy="439200"/>
          </a:xfrm>
          <a:prstGeom prst="line">
            <a:avLst/>
          </a:prstGeom>
          <a:ln w="25400">
            <a:solidFill>
              <a:srgbClr val="e2643b"/>
            </a:solidFill>
            <a:round/>
            <a:tailEnd len="med" type="triangle" w="me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427" name="Text 13"/>
          <p:cNvSpPr/>
          <p:nvPr/>
        </p:nvSpPr>
        <p:spPr>
          <a:xfrm>
            <a:off x="457200" y="3035880"/>
            <a:ext cx="639360" cy="50220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1000" spc="-1" strike="noStrike">
                <a:solidFill>
                  <a:srgbClr val="aec2d4"/>
                </a:solidFill>
                <a:latin typeface="Consolas"/>
                <a:ea typeface="Consolas"/>
              </a:rPr>
              <a:t>r = D</a:t>
            </a:r>
            <a:endParaRPr b="0" lang="en-US" sz="1000" spc="-1" strike="noStrike">
              <a:solidFill>
                <a:srgbClr val="ffffff"/>
              </a:solidFill>
              <a:latin typeface="Arial"/>
            </a:endParaRPr>
          </a:p>
          <a:p>
            <a:pPr algn="ctr" defTabSz="914400">
              <a:lnSpc>
                <a:spcPct val="100000"/>
              </a:lnSpc>
              <a:tabLst>
                <a:tab algn="l" pos="0"/>
              </a:tabLst>
            </a:pPr>
            <a:endParaRPr b="0" lang="en-US" sz="1000" spc="-1" strike="noStrike">
              <a:solidFill>
                <a:srgbClr val="ffffff"/>
              </a:solidFill>
              <a:latin typeface="Arial"/>
            </a:endParaRPr>
          </a:p>
          <a:p>
            <a:pPr algn="ctr" defTabSz="914400">
              <a:lnSpc>
                <a:spcPct val="100000"/>
              </a:lnSpc>
              <a:tabLst>
                <a:tab algn="l" pos="0"/>
              </a:tabLst>
            </a:pPr>
            <a:r>
              <a:rPr b="0" i="1" lang="en-US" sz="750" spc="-1" strike="noStrike">
                <a:solidFill>
                  <a:srgbClr val="8ea6bc"/>
                </a:solidFill>
                <a:latin typeface="Calibri"/>
                <a:ea typeface="Calibri"/>
              </a:rPr>
              <a:t>daily quota</a:t>
            </a:r>
            <a:endParaRPr b="0" lang="en-US" sz="750" spc="-1" strike="noStrike">
              <a:solidFill>
                <a:srgbClr val="ffffff"/>
              </a:solidFill>
              <a:latin typeface="Arial"/>
            </a:endParaRPr>
          </a:p>
        </p:txBody>
      </p:sp>
      <p:sp>
        <p:nvSpPr>
          <p:cNvPr id="428" name="Shape 14"/>
          <p:cNvSpPr/>
          <p:nvPr/>
        </p:nvSpPr>
        <p:spPr>
          <a:xfrm>
            <a:off x="777240" y="3675600"/>
            <a:ext cx="365760" cy="360"/>
          </a:xfrm>
          <a:prstGeom prst="line">
            <a:avLst/>
          </a:prstGeom>
          <a:ln w="22225">
            <a:solidFill>
              <a:srgbClr val="aec2d4"/>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429" name="Shape 15"/>
          <p:cNvSpPr/>
          <p:nvPr/>
        </p:nvSpPr>
        <p:spPr>
          <a:xfrm>
            <a:off x="1143000" y="3200400"/>
            <a:ext cx="2148120" cy="968400"/>
          </a:xfrm>
          <a:prstGeom prst="roundRect">
            <a:avLst>
              <a:gd name="adj" fmla="val 7547"/>
            </a:avLst>
          </a:prstGeom>
          <a:solidFill>
            <a:srgbClr val="12283c"/>
          </a:solidFill>
          <a:ln w="25400">
            <a:solidFill>
              <a:srgbClr val="f4a623"/>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30" name="Text 16"/>
          <p:cNvSpPr/>
          <p:nvPr/>
        </p:nvSpPr>
        <p:spPr>
          <a:xfrm>
            <a:off x="1188720" y="3200400"/>
            <a:ext cx="2056680" cy="96840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1050" spc="-1" strike="noStrike">
                <a:solidFill>
                  <a:srgbClr val="ffffff"/>
                </a:solidFill>
                <a:latin typeface="Consolas"/>
                <a:ea typeface="Consolas"/>
              </a:rPr>
              <a:t>min Σ p·[u − d(j|k)]⁺·T</a:t>
            </a:r>
            <a:endParaRPr b="0" lang="en-US" sz="1050" spc="-1" strike="noStrike">
              <a:solidFill>
                <a:srgbClr val="ffffff"/>
              </a:solidFill>
              <a:latin typeface="Arial"/>
            </a:endParaRPr>
          </a:p>
          <a:p>
            <a:pPr algn="ctr" defTabSz="914400">
              <a:lnSpc>
                <a:spcPct val="108000"/>
              </a:lnSpc>
              <a:tabLst>
                <a:tab algn="l" pos="0"/>
              </a:tabLst>
            </a:pPr>
            <a:endParaRPr b="0" lang="en-US" sz="1050" spc="-1" strike="noStrike">
              <a:solidFill>
                <a:srgbClr val="ffffff"/>
              </a:solidFill>
              <a:latin typeface="Arial"/>
            </a:endParaRPr>
          </a:p>
          <a:p>
            <a:pPr algn="ctr" defTabSz="914400">
              <a:lnSpc>
                <a:spcPct val="108000"/>
              </a:lnSpc>
              <a:tabLst>
                <a:tab algn="l" pos="0"/>
              </a:tabLst>
            </a:pPr>
            <a:r>
              <a:rPr b="1" lang="en-US" sz="800" spc="-1" strike="noStrike">
                <a:solidFill>
                  <a:srgbClr val="f4a623"/>
                </a:solidFill>
                <a:latin typeface="Calibri"/>
                <a:ea typeface="Calibri"/>
              </a:rPr>
              <a:t>MPC supervisor</a:t>
            </a:r>
            <a:endParaRPr b="0" lang="en-US" sz="800" spc="-1" strike="noStrike">
              <a:solidFill>
                <a:srgbClr val="ffffff"/>
              </a:solidFill>
              <a:latin typeface="Arial"/>
            </a:endParaRPr>
          </a:p>
          <a:p>
            <a:pPr algn="ctr" defTabSz="914400">
              <a:lnSpc>
                <a:spcPct val="108000"/>
              </a:lnSpc>
              <a:tabLst>
                <a:tab algn="l" pos="0"/>
              </a:tabLst>
            </a:pPr>
            <a:endParaRPr b="0" lang="en-US" sz="800" spc="-1" strike="noStrike">
              <a:solidFill>
                <a:srgbClr val="ffffff"/>
              </a:solidFill>
              <a:latin typeface="Arial"/>
            </a:endParaRPr>
          </a:p>
          <a:p>
            <a:pPr algn="ctr" defTabSz="914400">
              <a:lnSpc>
                <a:spcPct val="108000"/>
              </a:lnSpc>
              <a:tabLst>
                <a:tab algn="l" pos="0"/>
              </a:tabLst>
            </a:pPr>
            <a:r>
              <a:rPr b="0" i="1" lang="en-US" sz="750" spc="-1" strike="noStrike">
                <a:solidFill>
                  <a:srgbClr val="aec2d4"/>
                </a:solidFill>
                <a:latin typeface="Calibri"/>
                <a:ea typeface="Calibri"/>
              </a:rPr>
              <a:t>re-solves with PSO every hour</a:t>
            </a:r>
            <a:endParaRPr b="0" lang="en-US" sz="750" spc="-1" strike="noStrike">
              <a:solidFill>
                <a:srgbClr val="ffffff"/>
              </a:solidFill>
              <a:latin typeface="Arial"/>
            </a:endParaRPr>
          </a:p>
        </p:txBody>
      </p:sp>
      <p:sp>
        <p:nvSpPr>
          <p:cNvPr id="431" name="Shape 17"/>
          <p:cNvSpPr/>
          <p:nvPr/>
        </p:nvSpPr>
        <p:spPr>
          <a:xfrm>
            <a:off x="3291840" y="3675600"/>
            <a:ext cx="640080" cy="360"/>
          </a:xfrm>
          <a:prstGeom prst="line">
            <a:avLst/>
          </a:prstGeom>
          <a:ln w="25400">
            <a:solidFill>
              <a:srgbClr val="f4a623"/>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432" name="Text 18"/>
          <p:cNvSpPr/>
          <p:nvPr/>
        </p:nvSpPr>
        <p:spPr>
          <a:xfrm>
            <a:off x="3218760" y="3383280"/>
            <a:ext cx="785520" cy="255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50" spc="-1" strike="noStrike">
                <a:solidFill>
                  <a:srgbClr val="f4a623"/>
                </a:solidFill>
                <a:latin typeface="Consolas"/>
                <a:ea typeface="Consolas"/>
              </a:rPr>
              <a:t>u(k)</a:t>
            </a:r>
            <a:endParaRPr b="0" lang="en-US" sz="1050" spc="-1" strike="noStrike">
              <a:solidFill>
                <a:srgbClr val="ffffff"/>
              </a:solidFill>
              <a:latin typeface="Arial"/>
            </a:endParaRPr>
          </a:p>
        </p:txBody>
      </p:sp>
      <p:sp>
        <p:nvSpPr>
          <p:cNvPr id="433" name="Text 19"/>
          <p:cNvSpPr/>
          <p:nvPr/>
        </p:nvSpPr>
        <p:spPr>
          <a:xfrm>
            <a:off x="3218760" y="3749040"/>
            <a:ext cx="785520" cy="383400"/>
          </a:xfrm>
          <a:prstGeom prst="rect">
            <a:avLst/>
          </a:prstGeom>
          <a:noFill/>
          <a:ln w="0">
            <a:noFill/>
          </a:ln>
        </p:spPr>
        <p:style>
          <a:lnRef idx="0"/>
          <a:fillRef idx="0"/>
          <a:effectRef idx="0"/>
          <a:fontRef idx="minor"/>
        </p:style>
        <p:txBody>
          <a:bodyPr lIns="0" rIns="0" tIns="0" bIns="0" anchor="ctr">
            <a:noAutofit/>
          </a:bodyPr>
          <a:p>
            <a:pPr algn="ctr" defTabSz="914400">
              <a:lnSpc>
                <a:spcPct val="95000"/>
              </a:lnSpc>
              <a:tabLst>
                <a:tab algn="l" pos="0"/>
              </a:tabLst>
            </a:pPr>
            <a:r>
              <a:rPr b="0" i="1" lang="en-US" sz="750" spc="-1" strike="noStrike">
                <a:solidFill>
                  <a:srgbClr val="f4a623"/>
                </a:solidFill>
                <a:latin typeface="Calibri"/>
                <a:ea typeface="Calibri"/>
              </a:rPr>
              <a:t>first hour</a:t>
            </a:r>
            <a:endParaRPr b="0" lang="en-US" sz="750" spc="-1" strike="noStrike">
              <a:solidFill>
                <a:srgbClr val="ffffff"/>
              </a:solidFill>
              <a:latin typeface="Arial"/>
            </a:endParaRPr>
          </a:p>
          <a:p>
            <a:pPr algn="ctr" defTabSz="914400">
              <a:lnSpc>
                <a:spcPct val="95000"/>
              </a:lnSpc>
              <a:tabLst>
                <a:tab algn="l" pos="0"/>
              </a:tabLst>
            </a:pPr>
            <a:r>
              <a:rPr b="0" i="1" lang="en-US" sz="750" spc="-1" strike="noStrike">
                <a:solidFill>
                  <a:srgbClr val="f4a623"/>
                </a:solidFill>
                <a:latin typeface="Calibri"/>
                <a:ea typeface="Calibri"/>
              </a:rPr>
              <a:t>only</a:t>
            </a:r>
            <a:endParaRPr b="0" lang="en-US" sz="750" spc="-1" strike="noStrike">
              <a:solidFill>
                <a:srgbClr val="ffffff"/>
              </a:solidFill>
              <a:latin typeface="Arial"/>
            </a:endParaRPr>
          </a:p>
        </p:txBody>
      </p:sp>
      <p:sp>
        <p:nvSpPr>
          <p:cNvPr id="434" name="Shape 20"/>
          <p:cNvSpPr/>
          <p:nvPr/>
        </p:nvSpPr>
        <p:spPr>
          <a:xfrm>
            <a:off x="3931920" y="3200400"/>
            <a:ext cx="2212200" cy="968400"/>
          </a:xfrm>
          <a:prstGeom prst="roundRect">
            <a:avLst>
              <a:gd name="adj" fmla="val 7547"/>
            </a:avLst>
          </a:prstGeom>
          <a:solidFill>
            <a:srgbClr val="12283c"/>
          </a:solidFill>
          <a:ln w="25400">
            <a:solidFill>
              <a:srgbClr val="1c7293"/>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35" name="Text 21"/>
          <p:cNvSpPr/>
          <p:nvPr/>
        </p:nvSpPr>
        <p:spPr>
          <a:xfrm>
            <a:off x="3977640" y="3200400"/>
            <a:ext cx="2120760" cy="96840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1050" spc="-1" strike="noStrike">
                <a:solidFill>
                  <a:srgbClr val="ffffff"/>
                </a:solidFill>
                <a:latin typeface="Consolas"/>
                <a:ea typeface="Consolas"/>
              </a:rPr>
              <a:t>x(k+1) = x(k) + T·g(u(k))</a:t>
            </a:r>
            <a:endParaRPr b="0" lang="en-US" sz="1050" spc="-1" strike="noStrike">
              <a:solidFill>
                <a:srgbClr val="ffffff"/>
              </a:solidFill>
              <a:latin typeface="Arial"/>
            </a:endParaRPr>
          </a:p>
          <a:p>
            <a:pPr algn="ctr" defTabSz="914400">
              <a:lnSpc>
                <a:spcPct val="110000"/>
              </a:lnSpc>
              <a:tabLst>
                <a:tab algn="l" pos="0"/>
              </a:tabLst>
            </a:pPr>
            <a:endParaRPr b="0" lang="en-US" sz="1050" spc="-1" strike="noStrike">
              <a:solidFill>
                <a:srgbClr val="ffffff"/>
              </a:solidFill>
              <a:latin typeface="Arial"/>
            </a:endParaRPr>
          </a:p>
          <a:p>
            <a:pPr algn="ctr" defTabSz="914400">
              <a:lnSpc>
                <a:spcPct val="110000"/>
              </a:lnSpc>
              <a:tabLst>
                <a:tab algn="l" pos="0"/>
              </a:tabLst>
            </a:pPr>
            <a:r>
              <a:rPr b="0" i="1" lang="en-US" sz="750" spc="-1" strike="noStrike">
                <a:solidFill>
                  <a:srgbClr val="aec2d4"/>
                </a:solidFill>
                <a:latin typeface="Calibri"/>
                <a:ea typeface="Calibri"/>
              </a:rPr>
              <a:t>PLANT — PV · grid · electrolyzer</a:t>
            </a:r>
            <a:endParaRPr b="0" lang="en-US" sz="750" spc="-1" strike="noStrike">
              <a:solidFill>
                <a:srgbClr val="ffffff"/>
              </a:solidFill>
              <a:latin typeface="Arial"/>
            </a:endParaRPr>
          </a:p>
        </p:txBody>
      </p:sp>
      <p:sp>
        <p:nvSpPr>
          <p:cNvPr id="436" name="Shape 22"/>
          <p:cNvSpPr/>
          <p:nvPr/>
        </p:nvSpPr>
        <p:spPr>
          <a:xfrm>
            <a:off x="6144480" y="3675600"/>
            <a:ext cx="146520" cy="360"/>
          </a:xfrm>
          <a:prstGeom prst="line">
            <a:avLst/>
          </a:prstGeom>
          <a:ln w="22225">
            <a:solidFill>
              <a:srgbClr val="aec2d4"/>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437" name="Text 23"/>
          <p:cNvSpPr/>
          <p:nvPr/>
        </p:nvSpPr>
        <p:spPr>
          <a:xfrm>
            <a:off x="3931920" y="4260960"/>
            <a:ext cx="2285280" cy="45648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900" spc="-1" strike="noStrike">
                <a:solidFill>
                  <a:srgbClr val="aec2d4"/>
                </a:solidFill>
                <a:latin typeface="Consolas"/>
                <a:ea typeface="Consolas"/>
              </a:rPr>
              <a:t>y(k) = x(k) · q(k) = [u−d]⁺</a:t>
            </a:r>
            <a:endParaRPr b="0" lang="en-US" sz="900" spc="-1" strike="noStrike">
              <a:solidFill>
                <a:srgbClr val="ffffff"/>
              </a:solidFill>
              <a:latin typeface="Arial"/>
            </a:endParaRPr>
          </a:p>
          <a:p>
            <a:pPr algn="ctr" defTabSz="914400">
              <a:lnSpc>
                <a:spcPct val="105000"/>
              </a:lnSpc>
              <a:tabLst>
                <a:tab algn="l" pos="0"/>
              </a:tabLst>
            </a:pPr>
            <a:endParaRPr b="0" lang="en-US" sz="900" spc="-1" strike="noStrike">
              <a:solidFill>
                <a:srgbClr val="ffffff"/>
              </a:solidFill>
              <a:latin typeface="Arial"/>
            </a:endParaRPr>
          </a:p>
          <a:p>
            <a:pPr algn="ctr" defTabSz="914400">
              <a:lnSpc>
                <a:spcPct val="105000"/>
              </a:lnSpc>
              <a:tabLst>
                <a:tab algn="l" pos="0"/>
              </a:tabLst>
            </a:pPr>
            <a:r>
              <a:rPr b="0" i="1" lang="en-US" sz="750" spc="-1" strike="noStrike">
                <a:solidFill>
                  <a:srgbClr val="8ea6bc"/>
                </a:solidFill>
                <a:latin typeface="Calibri"/>
                <a:ea typeface="Calibri"/>
              </a:rPr>
              <a:t>H₂ made · grid import</a:t>
            </a:r>
            <a:endParaRPr b="0" lang="en-US" sz="750" spc="-1" strike="noStrike">
              <a:solidFill>
                <a:srgbClr val="ffffff"/>
              </a:solidFill>
              <a:latin typeface="Arial"/>
            </a:endParaRPr>
          </a:p>
        </p:txBody>
      </p:sp>
      <p:sp>
        <p:nvSpPr>
          <p:cNvPr id="438" name="Shape 24"/>
          <p:cNvSpPr/>
          <p:nvPr/>
        </p:nvSpPr>
        <p:spPr>
          <a:xfrm>
            <a:off x="6089760" y="3675600"/>
            <a:ext cx="360" cy="1152360"/>
          </a:xfrm>
          <a:prstGeom prst="line">
            <a:avLst/>
          </a:prstGeom>
          <a:ln w="22225">
            <a:solidFill>
              <a:srgbClr val="2a9d8f"/>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439" name="Shape 25"/>
          <p:cNvSpPr/>
          <p:nvPr/>
        </p:nvSpPr>
        <p:spPr>
          <a:xfrm>
            <a:off x="2103120" y="4827960"/>
            <a:ext cx="3986640" cy="360"/>
          </a:xfrm>
          <a:prstGeom prst="line">
            <a:avLst/>
          </a:prstGeom>
          <a:ln w="22225">
            <a:solidFill>
              <a:srgbClr val="2a9d8f"/>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440" name="Shape 26"/>
          <p:cNvSpPr/>
          <p:nvPr/>
        </p:nvSpPr>
        <p:spPr>
          <a:xfrm flipV="1">
            <a:off x="2103120" y="4169520"/>
            <a:ext cx="360" cy="658440"/>
          </a:xfrm>
          <a:prstGeom prst="line">
            <a:avLst/>
          </a:prstGeom>
          <a:ln w="22225">
            <a:solidFill>
              <a:srgbClr val="2a9d8f"/>
            </a:solidFill>
            <a:round/>
            <a:tailEnd len="med" type="triangle" w="me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441" name="Text 27"/>
          <p:cNvSpPr/>
          <p:nvPr/>
        </p:nvSpPr>
        <p:spPr>
          <a:xfrm>
            <a:off x="2240280" y="4873680"/>
            <a:ext cx="3839760" cy="236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pc="-1" strike="noStrike">
                <a:solidFill>
                  <a:srgbClr val="2a9d8f"/>
                </a:solidFill>
                <a:latin typeface="Consolas"/>
                <a:ea typeface="Consolas"/>
              </a:rPr>
              <a:t>x(k), α(k)</a:t>
            </a:r>
            <a:r>
              <a:rPr b="0" i="1" lang="en-US" sz="900" spc="-1" strike="noStrike">
                <a:solidFill>
                  <a:srgbClr val="2a9d8f"/>
                </a:solidFill>
                <a:latin typeface="Calibri"/>
                <a:ea typeface="Calibri"/>
              </a:rPr>
              <a:t>  — measured H₂ · realised clearness</a:t>
            </a:r>
            <a:endParaRPr b="0" lang="en-US" sz="900" spc="-1" strike="noStrike">
              <a:solidFill>
                <a:srgbClr val="ffffff"/>
              </a:solidFill>
              <a:latin typeface="Arial"/>
            </a:endParaRPr>
          </a:p>
        </p:txBody>
      </p:sp>
      <p:sp>
        <p:nvSpPr>
          <p:cNvPr id="442" name="Text 28"/>
          <p:cNvSpPr/>
          <p:nvPr/>
        </p:nvSpPr>
        <p:spPr>
          <a:xfrm>
            <a:off x="777240" y="5139000"/>
            <a:ext cx="543996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950" spc="-1" strike="noStrike">
                <a:solidFill>
                  <a:srgbClr val="8ea6bc"/>
                </a:solidFill>
                <a:latin typeface="Calibri"/>
                <a:ea typeface="Calibri"/>
              </a:rPr>
              <a:t>Every box is the formal slide's math, wired into a loop — measure x, correct the forecast by α, re-solve, apply one hour.</a:t>
            </a:r>
            <a:endParaRPr b="0" lang="en-US" sz="950" spc="-1" strike="noStrike">
              <a:solidFill>
                <a:srgbClr val="ffffff"/>
              </a:solidFill>
              <a:latin typeface="Arial"/>
            </a:endParaRPr>
          </a:p>
        </p:txBody>
      </p:sp>
      <p:sp>
        <p:nvSpPr>
          <p:cNvPr id="443" name="Shape 29"/>
          <p:cNvSpPr/>
          <p:nvPr/>
        </p:nvSpPr>
        <p:spPr>
          <a:xfrm>
            <a:off x="6565320" y="1783080"/>
            <a:ext cx="5074200" cy="3656880"/>
          </a:xfrm>
          <a:prstGeom prst="roundRect">
            <a:avLst>
              <a:gd name="adj" fmla="val 2500"/>
            </a:avLst>
          </a:prstGeom>
          <a:solidFill>
            <a:srgbClr val="16344b"/>
          </a:solidFill>
          <a:ln w="12700">
            <a:solidFill>
              <a:srgbClr val="27516e"/>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44" name="Text 30"/>
          <p:cNvSpPr/>
          <p:nvPr/>
        </p:nvSpPr>
        <p:spPr>
          <a:xfrm>
            <a:off x="6793920" y="1901880"/>
            <a:ext cx="36568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94" strike="noStrike">
                <a:solidFill>
                  <a:srgbClr val="f4a623"/>
                </a:solidFill>
                <a:latin typeface="Calibri"/>
                <a:ea typeface="Calibri"/>
              </a:rPr>
              <a:t>THE RECEDING HORIZON</a:t>
            </a:r>
            <a:endParaRPr b="0" lang="en-US" sz="1200" spc="-1" strike="noStrike">
              <a:solidFill>
                <a:srgbClr val="ffffff"/>
              </a:solidFill>
              <a:latin typeface="Arial"/>
            </a:endParaRPr>
          </a:p>
        </p:txBody>
      </p:sp>
      <p:sp>
        <p:nvSpPr>
          <p:cNvPr id="445" name="Text 31"/>
          <p:cNvSpPr/>
          <p:nvPr/>
        </p:nvSpPr>
        <p:spPr>
          <a:xfrm>
            <a:off x="6793920" y="2194560"/>
            <a:ext cx="466272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050" spc="-1" strike="noStrike">
                <a:solidFill>
                  <a:srgbClr val="aec2d4"/>
                </a:solidFill>
                <a:latin typeface="Calibri"/>
                <a:ea typeface="Calibri"/>
              </a:rPr>
              <a:t>optimise the rest of the day · commit one hour · slide forward</a:t>
            </a:r>
            <a:endParaRPr b="0" lang="en-US" sz="1050" spc="-1" strike="noStrike">
              <a:solidFill>
                <a:srgbClr val="ffffff"/>
              </a:solidFill>
              <a:latin typeface="Arial"/>
            </a:endParaRPr>
          </a:p>
        </p:txBody>
      </p:sp>
      <p:sp>
        <p:nvSpPr>
          <p:cNvPr id="446" name="Text 32"/>
          <p:cNvSpPr/>
          <p:nvPr/>
        </p:nvSpPr>
        <p:spPr>
          <a:xfrm>
            <a:off x="6793920" y="2606040"/>
            <a:ext cx="712440" cy="438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ffffff"/>
                </a:solidFill>
                <a:latin typeface="Calibri"/>
                <a:ea typeface="Calibri"/>
              </a:rPr>
              <a:t>12:00</a:t>
            </a:r>
            <a:endParaRPr b="0" lang="en-US" sz="1100" spc="-1" strike="noStrike">
              <a:solidFill>
                <a:srgbClr val="ffffff"/>
              </a:solidFill>
              <a:latin typeface="Arial"/>
            </a:endParaRPr>
          </a:p>
        </p:txBody>
      </p:sp>
      <p:sp>
        <p:nvSpPr>
          <p:cNvPr id="447" name="Shape 33"/>
          <p:cNvSpPr/>
          <p:nvPr/>
        </p:nvSpPr>
        <p:spPr>
          <a:xfrm>
            <a:off x="7589520" y="2606040"/>
            <a:ext cx="273600" cy="438120"/>
          </a:xfrm>
          <a:prstGeom prst="roundRect">
            <a:avLst>
              <a:gd name="adj" fmla="val 13333"/>
            </a:avLst>
          </a:prstGeom>
          <a:solidFill>
            <a:srgbClr val="f4a623"/>
          </a:solidFill>
          <a:ln w="12700">
            <a:solidFill>
              <a:srgbClr val="f4a623"/>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448" name="Shape 34"/>
          <p:cNvSpPr/>
          <p:nvPr/>
        </p:nvSpPr>
        <p:spPr>
          <a:xfrm>
            <a:off x="7904880" y="2606040"/>
            <a:ext cx="273600" cy="438120"/>
          </a:xfrm>
          <a:prstGeom prst="roundRect">
            <a:avLst>
              <a:gd name="adj" fmla="val 13333"/>
            </a:avLst>
          </a:prstGeom>
          <a:solidFill>
            <a:srgbClr val="16344b"/>
          </a:solidFill>
          <a:ln w="12700">
            <a:solidFill>
              <a:srgbClr val="5c7c96"/>
            </a:solidFill>
            <a:prstDash val="dash"/>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49" name="Shape 35"/>
          <p:cNvSpPr/>
          <p:nvPr/>
        </p:nvSpPr>
        <p:spPr>
          <a:xfrm>
            <a:off x="8220600" y="2606040"/>
            <a:ext cx="273600" cy="438120"/>
          </a:xfrm>
          <a:prstGeom prst="roundRect">
            <a:avLst>
              <a:gd name="adj" fmla="val 13333"/>
            </a:avLst>
          </a:prstGeom>
          <a:solidFill>
            <a:srgbClr val="16344b"/>
          </a:solidFill>
          <a:ln w="12700">
            <a:solidFill>
              <a:srgbClr val="5c7c96"/>
            </a:solidFill>
            <a:prstDash val="dash"/>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50" name="Shape 36"/>
          <p:cNvSpPr/>
          <p:nvPr/>
        </p:nvSpPr>
        <p:spPr>
          <a:xfrm>
            <a:off x="8535960" y="2606040"/>
            <a:ext cx="273600" cy="438120"/>
          </a:xfrm>
          <a:prstGeom prst="roundRect">
            <a:avLst>
              <a:gd name="adj" fmla="val 13333"/>
            </a:avLst>
          </a:prstGeom>
          <a:solidFill>
            <a:srgbClr val="16344b"/>
          </a:solidFill>
          <a:ln w="12700">
            <a:solidFill>
              <a:srgbClr val="5c7c96"/>
            </a:solidFill>
            <a:prstDash val="dash"/>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51" name="Shape 37"/>
          <p:cNvSpPr/>
          <p:nvPr/>
        </p:nvSpPr>
        <p:spPr>
          <a:xfrm>
            <a:off x="8851320" y="2606040"/>
            <a:ext cx="273600" cy="438120"/>
          </a:xfrm>
          <a:prstGeom prst="roundRect">
            <a:avLst>
              <a:gd name="adj" fmla="val 13333"/>
            </a:avLst>
          </a:prstGeom>
          <a:solidFill>
            <a:srgbClr val="16344b"/>
          </a:solidFill>
          <a:ln w="12700">
            <a:solidFill>
              <a:srgbClr val="5c7c96"/>
            </a:solidFill>
            <a:prstDash val="dash"/>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52" name="Shape 38"/>
          <p:cNvSpPr/>
          <p:nvPr/>
        </p:nvSpPr>
        <p:spPr>
          <a:xfrm>
            <a:off x="9167040" y="2606040"/>
            <a:ext cx="273600" cy="438120"/>
          </a:xfrm>
          <a:prstGeom prst="roundRect">
            <a:avLst>
              <a:gd name="adj" fmla="val 13333"/>
            </a:avLst>
          </a:prstGeom>
          <a:solidFill>
            <a:srgbClr val="16344b"/>
          </a:solidFill>
          <a:ln w="12700">
            <a:solidFill>
              <a:srgbClr val="5c7c96"/>
            </a:solidFill>
            <a:prstDash val="dash"/>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53" name="Shape 39"/>
          <p:cNvSpPr/>
          <p:nvPr/>
        </p:nvSpPr>
        <p:spPr>
          <a:xfrm>
            <a:off x="9482400" y="2606040"/>
            <a:ext cx="273600" cy="438120"/>
          </a:xfrm>
          <a:prstGeom prst="roundRect">
            <a:avLst>
              <a:gd name="adj" fmla="val 13333"/>
            </a:avLst>
          </a:prstGeom>
          <a:solidFill>
            <a:srgbClr val="16344b"/>
          </a:solidFill>
          <a:ln w="12700">
            <a:solidFill>
              <a:srgbClr val="5c7c96"/>
            </a:solidFill>
            <a:prstDash val="dash"/>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54" name="Shape 40"/>
          <p:cNvSpPr/>
          <p:nvPr/>
        </p:nvSpPr>
        <p:spPr>
          <a:xfrm>
            <a:off x="9797760" y="2606040"/>
            <a:ext cx="273600" cy="438120"/>
          </a:xfrm>
          <a:prstGeom prst="roundRect">
            <a:avLst>
              <a:gd name="adj" fmla="val 13333"/>
            </a:avLst>
          </a:prstGeom>
          <a:solidFill>
            <a:srgbClr val="16344b"/>
          </a:solidFill>
          <a:ln w="12700">
            <a:solidFill>
              <a:srgbClr val="5c7c96"/>
            </a:solidFill>
            <a:prstDash val="dash"/>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55" name="Shape 41"/>
          <p:cNvSpPr/>
          <p:nvPr/>
        </p:nvSpPr>
        <p:spPr>
          <a:xfrm>
            <a:off x="10113120" y="2606040"/>
            <a:ext cx="273600" cy="438120"/>
          </a:xfrm>
          <a:prstGeom prst="roundRect">
            <a:avLst>
              <a:gd name="adj" fmla="val 13333"/>
            </a:avLst>
          </a:prstGeom>
          <a:solidFill>
            <a:srgbClr val="16344b"/>
          </a:solidFill>
          <a:ln w="12700">
            <a:solidFill>
              <a:srgbClr val="5c7c96"/>
            </a:solidFill>
            <a:prstDash val="dash"/>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56" name="Shape 42"/>
          <p:cNvSpPr/>
          <p:nvPr/>
        </p:nvSpPr>
        <p:spPr>
          <a:xfrm>
            <a:off x="10428840" y="2606040"/>
            <a:ext cx="273600" cy="438120"/>
          </a:xfrm>
          <a:prstGeom prst="roundRect">
            <a:avLst>
              <a:gd name="adj" fmla="val 13333"/>
            </a:avLst>
          </a:prstGeom>
          <a:solidFill>
            <a:srgbClr val="16344b"/>
          </a:solidFill>
          <a:ln w="12700">
            <a:solidFill>
              <a:srgbClr val="5c7c96"/>
            </a:solidFill>
            <a:prstDash val="dash"/>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57" name="Shape 43"/>
          <p:cNvSpPr/>
          <p:nvPr/>
        </p:nvSpPr>
        <p:spPr>
          <a:xfrm>
            <a:off x="10744200" y="2606040"/>
            <a:ext cx="273600" cy="438120"/>
          </a:xfrm>
          <a:prstGeom prst="roundRect">
            <a:avLst>
              <a:gd name="adj" fmla="val 13333"/>
            </a:avLst>
          </a:prstGeom>
          <a:solidFill>
            <a:srgbClr val="16344b"/>
          </a:solidFill>
          <a:ln w="12700">
            <a:solidFill>
              <a:srgbClr val="5c7c96"/>
            </a:solidFill>
            <a:prstDash val="dash"/>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58" name="Shape 44"/>
          <p:cNvSpPr/>
          <p:nvPr/>
        </p:nvSpPr>
        <p:spPr>
          <a:xfrm>
            <a:off x="11059560" y="2606040"/>
            <a:ext cx="273600" cy="438120"/>
          </a:xfrm>
          <a:prstGeom prst="roundRect">
            <a:avLst>
              <a:gd name="adj" fmla="val 13333"/>
            </a:avLst>
          </a:prstGeom>
          <a:solidFill>
            <a:srgbClr val="16344b"/>
          </a:solidFill>
          <a:ln w="12700">
            <a:solidFill>
              <a:srgbClr val="5c7c96"/>
            </a:solidFill>
            <a:prstDash val="dash"/>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59" name="Text 45"/>
          <p:cNvSpPr/>
          <p:nvPr/>
        </p:nvSpPr>
        <p:spPr>
          <a:xfrm>
            <a:off x="6793920" y="3264480"/>
            <a:ext cx="712440" cy="438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ffffff"/>
                </a:solidFill>
                <a:latin typeface="Calibri"/>
                <a:ea typeface="Calibri"/>
              </a:rPr>
              <a:t>13:00</a:t>
            </a:r>
            <a:endParaRPr b="0" lang="en-US" sz="1100" spc="-1" strike="noStrike">
              <a:solidFill>
                <a:srgbClr val="ffffff"/>
              </a:solidFill>
              <a:latin typeface="Arial"/>
            </a:endParaRPr>
          </a:p>
        </p:txBody>
      </p:sp>
      <p:sp>
        <p:nvSpPr>
          <p:cNvPr id="460" name="Shape 46"/>
          <p:cNvSpPr/>
          <p:nvPr/>
        </p:nvSpPr>
        <p:spPr>
          <a:xfrm>
            <a:off x="7589520" y="3264480"/>
            <a:ext cx="273600" cy="438120"/>
          </a:xfrm>
          <a:prstGeom prst="roundRect">
            <a:avLst>
              <a:gd name="adj" fmla="val 13333"/>
            </a:avLst>
          </a:prstGeom>
          <a:solidFill>
            <a:srgbClr val="12283c"/>
          </a:solidFill>
          <a:ln w="12700">
            <a:solidFill>
              <a:srgbClr val="27516e"/>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61" name="Shape 47"/>
          <p:cNvSpPr/>
          <p:nvPr/>
        </p:nvSpPr>
        <p:spPr>
          <a:xfrm>
            <a:off x="7904880" y="3264480"/>
            <a:ext cx="273600" cy="438120"/>
          </a:xfrm>
          <a:prstGeom prst="roundRect">
            <a:avLst>
              <a:gd name="adj" fmla="val 13333"/>
            </a:avLst>
          </a:prstGeom>
          <a:solidFill>
            <a:srgbClr val="f4a623"/>
          </a:solidFill>
          <a:ln w="12700">
            <a:solidFill>
              <a:srgbClr val="f4a623"/>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462" name="Shape 48"/>
          <p:cNvSpPr/>
          <p:nvPr/>
        </p:nvSpPr>
        <p:spPr>
          <a:xfrm>
            <a:off x="8220600" y="3264480"/>
            <a:ext cx="273600" cy="438120"/>
          </a:xfrm>
          <a:prstGeom prst="roundRect">
            <a:avLst>
              <a:gd name="adj" fmla="val 13333"/>
            </a:avLst>
          </a:prstGeom>
          <a:solidFill>
            <a:srgbClr val="16344b"/>
          </a:solidFill>
          <a:ln w="12700">
            <a:solidFill>
              <a:srgbClr val="5c7c96"/>
            </a:solidFill>
            <a:prstDash val="dash"/>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63" name="Shape 49"/>
          <p:cNvSpPr/>
          <p:nvPr/>
        </p:nvSpPr>
        <p:spPr>
          <a:xfrm>
            <a:off x="8535960" y="3264480"/>
            <a:ext cx="273600" cy="438120"/>
          </a:xfrm>
          <a:prstGeom prst="roundRect">
            <a:avLst>
              <a:gd name="adj" fmla="val 13333"/>
            </a:avLst>
          </a:prstGeom>
          <a:solidFill>
            <a:srgbClr val="16344b"/>
          </a:solidFill>
          <a:ln w="12700">
            <a:solidFill>
              <a:srgbClr val="5c7c96"/>
            </a:solidFill>
            <a:prstDash val="dash"/>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64" name="Shape 50"/>
          <p:cNvSpPr/>
          <p:nvPr/>
        </p:nvSpPr>
        <p:spPr>
          <a:xfrm>
            <a:off x="8851320" y="3264480"/>
            <a:ext cx="273600" cy="438120"/>
          </a:xfrm>
          <a:prstGeom prst="roundRect">
            <a:avLst>
              <a:gd name="adj" fmla="val 13333"/>
            </a:avLst>
          </a:prstGeom>
          <a:solidFill>
            <a:srgbClr val="16344b"/>
          </a:solidFill>
          <a:ln w="12700">
            <a:solidFill>
              <a:srgbClr val="5c7c96"/>
            </a:solidFill>
            <a:prstDash val="dash"/>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65" name="Shape 51"/>
          <p:cNvSpPr/>
          <p:nvPr/>
        </p:nvSpPr>
        <p:spPr>
          <a:xfrm>
            <a:off x="9167040" y="3264480"/>
            <a:ext cx="273600" cy="438120"/>
          </a:xfrm>
          <a:prstGeom prst="roundRect">
            <a:avLst>
              <a:gd name="adj" fmla="val 13333"/>
            </a:avLst>
          </a:prstGeom>
          <a:solidFill>
            <a:srgbClr val="16344b"/>
          </a:solidFill>
          <a:ln w="12700">
            <a:solidFill>
              <a:srgbClr val="5c7c96"/>
            </a:solidFill>
            <a:prstDash val="dash"/>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66" name="Shape 52"/>
          <p:cNvSpPr/>
          <p:nvPr/>
        </p:nvSpPr>
        <p:spPr>
          <a:xfrm>
            <a:off x="9482400" y="3264480"/>
            <a:ext cx="273600" cy="438120"/>
          </a:xfrm>
          <a:prstGeom prst="roundRect">
            <a:avLst>
              <a:gd name="adj" fmla="val 13333"/>
            </a:avLst>
          </a:prstGeom>
          <a:solidFill>
            <a:srgbClr val="16344b"/>
          </a:solidFill>
          <a:ln w="12700">
            <a:solidFill>
              <a:srgbClr val="5c7c96"/>
            </a:solidFill>
            <a:prstDash val="dash"/>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67" name="Shape 53"/>
          <p:cNvSpPr/>
          <p:nvPr/>
        </p:nvSpPr>
        <p:spPr>
          <a:xfrm>
            <a:off x="9797760" y="3264480"/>
            <a:ext cx="273600" cy="438120"/>
          </a:xfrm>
          <a:prstGeom prst="roundRect">
            <a:avLst>
              <a:gd name="adj" fmla="val 13333"/>
            </a:avLst>
          </a:prstGeom>
          <a:solidFill>
            <a:srgbClr val="16344b"/>
          </a:solidFill>
          <a:ln w="12700">
            <a:solidFill>
              <a:srgbClr val="5c7c96"/>
            </a:solidFill>
            <a:prstDash val="dash"/>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68" name="Shape 54"/>
          <p:cNvSpPr/>
          <p:nvPr/>
        </p:nvSpPr>
        <p:spPr>
          <a:xfrm>
            <a:off x="10113120" y="3264480"/>
            <a:ext cx="273600" cy="438120"/>
          </a:xfrm>
          <a:prstGeom prst="roundRect">
            <a:avLst>
              <a:gd name="adj" fmla="val 13333"/>
            </a:avLst>
          </a:prstGeom>
          <a:solidFill>
            <a:srgbClr val="16344b"/>
          </a:solidFill>
          <a:ln w="12700">
            <a:solidFill>
              <a:srgbClr val="5c7c96"/>
            </a:solidFill>
            <a:prstDash val="dash"/>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69" name="Shape 55"/>
          <p:cNvSpPr/>
          <p:nvPr/>
        </p:nvSpPr>
        <p:spPr>
          <a:xfrm>
            <a:off x="10428840" y="3264480"/>
            <a:ext cx="273600" cy="438120"/>
          </a:xfrm>
          <a:prstGeom prst="roundRect">
            <a:avLst>
              <a:gd name="adj" fmla="val 13333"/>
            </a:avLst>
          </a:prstGeom>
          <a:solidFill>
            <a:srgbClr val="16344b"/>
          </a:solidFill>
          <a:ln w="12700">
            <a:solidFill>
              <a:srgbClr val="5c7c96"/>
            </a:solidFill>
            <a:prstDash val="dash"/>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70" name="Shape 56"/>
          <p:cNvSpPr/>
          <p:nvPr/>
        </p:nvSpPr>
        <p:spPr>
          <a:xfrm>
            <a:off x="10744200" y="3264480"/>
            <a:ext cx="273600" cy="438120"/>
          </a:xfrm>
          <a:prstGeom prst="roundRect">
            <a:avLst>
              <a:gd name="adj" fmla="val 13333"/>
            </a:avLst>
          </a:prstGeom>
          <a:solidFill>
            <a:srgbClr val="16344b"/>
          </a:solidFill>
          <a:ln w="12700">
            <a:solidFill>
              <a:srgbClr val="5c7c96"/>
            </a:solidFill>
            <a:prstDash val="dash"/>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71" name="Shape 57"/>
          <p:cNvSpPr/>
          <p:nvPr/>
        </p:nvSpPr>
        <p:spPr>
          <a:xfrm>
            <a:off x="11059560" y="3264480"/>
            <a:ext cx="273600" cy="438120"/>
          </a:xfrm>
          <a:prstGeom prst="roundRect">
            <a:avLst>
              <a:gd name="adj" fmla="val 13333"/>
            </a:avLst>
          </a:prstGeom>
          <a:solidFill>
            <a:srgbClr val="16344b"/>
          </a:solidFill>
          <a:ln w="12700">
            <a:solidFill>
              <a:srgbClr val="5c7c96"/>
            </a:solidFill>
            <a:prstDash val="dash"/>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72" name="Text 58"/>
          <p:cNvSpPr/>
          <p:nvPr/>
        </p:nvSpPr>
        <p:spPr>
          <a:xfrm>
            <a:off x="6793920" y="3922920"/>
            <a:ext cx="712440" cy="438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ffffff"/>
                </a:solidFill>
                <a:latin typeface="Calibri"/>
                <a:ea typeface="Calibri"/>
              </a:rPr>
              <a:t>14:00</a:t>
            </a:r>
            <a:endParaRPr b="0" lang="en-US" sz="1100" spc="-1" strike="noStrike">
              <a:solidFill>
                <a:srgbClr val="ffffff"/>
              </a:solidFill>
              <a:latin typeface="Arial"/>
            </a:endParaRPr>
          </a:p>
        </p:txBody>
      </p:sp>
      <p:sp>
        <p:nvSpPr>
          <p:cNvPr id="473" name="Shape 59"/>
          <p:cNvSpPr/>
          <p:nvPr/>
        </p:nvSpPr>
        <p:spPr>
          <a:xfrm>
            <a:off x="7589520" y="3922920"/>
            <a:ext cx="273600" cy="438120"/>
          </a:xfrm>
          <a:prstGeom prst="roundRect">
            <a:avLst>
              <a:gd name="adj" fmla="val 13333"/>
            </a:avLst>
          </a:prstGeom>
          <a:solidFill>
            <a:srgbClr val="12283c"/>
          </a:solidFill>
          <a:ln w="12700">
            <a:solidFill>
              <a:srgbClr val="27516e"/>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74" name="Shape 60"/>
          <p:cNvSpPr/>
          <p:nvPr/>
        </p:nvSpPr>
        <p:spPr>
          <a:xfrm>
            <a:off x="7904880" y="3922920"/>
            <a:ext cx="273600" cy="438120"/>
          </a:xfrm>
          <a:prstGeom prst="roundRect">
            <a:avLst>
              <a:gd name="adj" fmla="val 13333"/>
            </a:avLst>
          </a:prstGeom>
          <a:solidFill>
            <a:srgbClr val="12283c"/>
          </a:solidFill>
          <a:ln w="12700">
            <a:solidFill>
              <a:srgbClr val="27516e"/>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75" name="Shape 61"/>
          <p:cNvSpPr/>
          <p:nvPr/>
        </p:nvSpPr>
        <p:spPr>
          <a:xfrm>
            <a:off x="8220600" y="3922920"/>
            <a:ext cx="273600" cy="438120"/>
          </a:xfrm>
          <a:prstGeom prst="roundRect">
            <a:avLst>
              <a:gd name="adj" fmla="val 13333"/>
            </a:avLst>
          </a:prstGeom>
          <a:solidFill>
            <a:srgbClr val="f4a623"/>
          </a:solidFill>
          <a:ln w="12700">
            <a:solidFill>
              <a:srgbClr val="f4a623"/>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476" name="Shape 62"/>
          <p:cNvSpPr/>
          <p:nvPr/>
        </p:nvSpPr>
        <p:spPr>
          <a:xfrm>
            <a:off x="8535960" y="3922920"/>
            <a:ext cx="273600" cy="438120"/>
          </a:xfrm>
          <a:prstGeom prst="roundRect">
            <a:avLst>
              <a:gd name="adj" fmla="val 13333"/>
            </a:avLst>
          </a:prstGeom>
          <a:solidFill>
            <a:srgbClr val="16344b"/>
          </a:solidFill>
          <a:ln w="12700">
            <a:solidFill>
              <a:srgbClr val="5c7c96"/>
            </a:solidFill>
            <a:prstDash val="dash"/>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77" name="Shape 63"/>
          <p:cNvSpPr/>
          <p:nvPr/>
        </p:nvSpPr>
        <p:spPr>
          <a:xfrm>
            <a:off x="8851320" y="3922920"/>
            <a:ext cx="273600" cy="438120"/>
          </a:xfrm>
          <a:prstGeom prst="roundRect">
            <a:avLst>
              <a:gd name="adj" fmla="val 13333"/>
            </a:avLst>
          </a:prstGeom>
          <a:solidFill>
            <a:srgbClr val="16344b"/>
          </a:solidFill>
          <a:ln w="12700">
            <a:solidFill>
              <a:srgbClr val="5c7c96"/>
            </a:solidFill>
            <a:prstDash val="dash"/>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78" name="Shape 64"/>
          <p:cNvSpPr/>
          <p:nvPr/>
        </p:nvSpPr>
        <p:spPr>
          <a:xfrm>
            <a:off x="9167040" y="3922920"/>
            <a:ext cx="273600" cy="438120"/>
          </a:xfrm>
          <a:prstGeom prst="roundRect">
            <a:avLst>
              <a:gd name="adj" fmla="val 13333"/>
            </a:avLst>
          </a:prstGeom>
          <a:solidFill>
            <a:srgbClr val="16344b"/>
          </a:solidFill>
          <a:ln w="12700">
            <a:solidFill>
              <a:srgbClr val="5c7c96"/>
            </a:solidFill>
            <a:prstDash val="dash"/>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79" name="Shape 65"/>
          <p:cNvSpPr/>
          <p:nvPr/>
        </p:nvSpPr>
        <p:spPr>
          <a:xfrm>
            <a:off x="9482400" y="3922920"/>
            <a:ext cx="273600" cy="438120"/>
          </a:xfrm>
          <a:prstGeom prst="roundRect">
            <a:avLst>
              <a:gd name="adj" fmla="val 13333"/>
            </a:avLst>
          </a:prstGeom>
          <a:solidFill>
            <a:srgbClr val="16344b"/>
          </a:solidFill>
          <a:ln w="12700">
            <a:solidFill>
              <a:srgbClr val="5c7c96"/>
            </a:solidFill>
            <a:prstDash val="dash"/>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80" name="Shape 66"/>
          <p:cNvSpPr/>
          <p:nvPr/>
        </p:nvSpPr>
        <p:spPr>
          <a:xfrm>
            <a:off x="9797760" y="3922920"/>
            <a:ext cx="273600" cy="438120"/>
          </a:xfrm>
          <a:prstGeom prst="roundRect">
            <a:avLst>
              <a:gd name="adj" fmla="val 13333"/>
            </a:avLst>
          </a:prstGeom>
          <a:solidFill>
            <a:srgbClr val="16344b"/>
          </a:solidFill>
          <a:ln w="12700">
            <a:solidFill>
              <a:srgbClr val="5c7c96"/>
            </a:solidFill>
            <a:prstDash val="dash"/>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81" name="Shape 67"/>
          <p:cNvSpPr/>
          <p:nvPr/>
        </p:nvSpPr>
        <p:spPr>
          <a:xfrm>
            <a:off x="10113120" y="3922920"/>
            <a:ext cx="273600" cy="438120"/>
          </a:xfrm>
          <a:prstGeom prst="roundRect">
            <a:avLst>
              <a:gd name="adj" fmla="val 13333"/>
            </a:avLst>
          </a:prstGeom>
          <a:solidFill>
            <a:srgbClr val="16344b"/>
          </a:solidFill>
          <a:ln w="12700">
            <a:solidFill>
              <a:srgbClr val="5c7c96"/>
            </a:solidFill>
            <a:prstDash val="dash"/>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82" name="Shape 68"/>
          <p:cNvSpPr/>
          <p:nvPr/>
        </p:nvSpPr>
        <p:spPr>
          <a:xfrm>
            <a:off x="10428840" y="3922920"/>
            <a:ext cx="273600" cy="438120"/>
          </a:xfrm>
          <a:prstGeom prst="roundRect">
            <a:avLst>
              <a:gd name="adj" fmla="val 13333"/>
            </a:avLst>
          </a:prstGeom>
          <a:solidFill>
            <a:srgbClr val="16344b"/>
          </a:solidFill>
          <a:ln w="12700">
            <a:solidFill>
              <a:srgbClr val="5c7c96"/>
            </a:solidFill>
            <a:prstDash val="dash"/>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83" name="Shape 69"/>
          <p:cNvSpPr/>
          <p:nvPr/>
        </p:nvSpPr>
        <p:spPr>
          <a:xfrm>
            <a:off x="10744200" y="3922920"/>
            <a:ext cx="273600" cy="438120"/>
          </a:xfrm>
          <a:prstGeom prst="roundRect">
            <a:avLst>
              <a:gd name="adj" fmla="val 13333"/>
            </a:avLst>
          </a:prstGeom>
          <a:solidFill>
            <a:srgbClr val="16344b"/>
          </a:solidFill>
          <a:ln w="12700">
            <a:solidFill>
              <a:srgbClr val="5c7c96"/>
            </a:solidFill>
            <a:prstDash val="dash"/>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84" name="Shape 70"/>
          <p:cNvSpPr/>
          <p:nvPr/>
        </p:nvSpPr>
        <p:spPr>
          <a:xfrm>
            <a:off x="11059560" y="3922920"/>
            <a:ext cx="273600" cy="438120"/>
          </a:xfrm>
          <a:prstGeom prst="roundRect">
            <a:avLst>
              <a:gd name="adj" fmla="val 13333"/>
            </a:avLst>
          </a:prstGeom>
          <a:solidFill>
            <a:srgbClr val="16344b"/>
          </a:solidFill>
          <a:ln w="12700">
            <a:solidFill>
              <a:srgbClr val="5c7c96"/>
            </a:solidFill>
            <a:prstDash val="dash"/>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85" name="Shape 71"/>
          <p:cNvSpPr/>
          <p:nvPr/>
        </p:nvSpPr>
        <p:spPr>
          <a:xfrm>
            <a:off x="6812280" y="4590360"/>
            <a:ext cx="200520" cy="200520"/>
          </a:xfrm>
          <a:prstGeom prst="roundRect">
            <a:avLst>
              <a:gd name="adj" fmla="val 13636"/>
            </a:avLst>
          </a:prstGeom>
          <a:solidFill>
            <a:srgbClr val="f4a62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486" name="Text 72"/>
          <p:cNvSpPr/>
          <p:nvPr/>
        </p:nvSpPr>
        <p:spPr>
          <a:xfrm>
            <a:off x="7059240" y="4553640"/>
            <a:ext cx="95940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pc="-1" strike="noStrike">
                <a:solidFill>
                  <a:srgbClr val="aec2d4"/>
                </a:solidFill>
                <a:latin typeface="Calibri"/>
                <a:ea typeface="Calibri"/>
              </a:rPr>
              <a:t>committed</a:t>
            </a:r>
            <a:endParaRPr b="0" lang="en-US" sz="1000" spc="-1" strike="noStrike">
              <a:solidFill>
                <a:srgbClr val="ffffff"/>
              </a:solidFill>
              <a:latin typeface="Arial"/>
            </a:endParaRPr>
          </a:p>
        </p:txBody>
      </p:sp>
      <p:sp>
        <p:nvSpPr>
          <p:cNvPr id="487" name="Shape 73"/>
          <p:cNvSpPr/>
          <p:nvPr/>
        </p:nvSpPr>
        <p:spPr>
          <a:xfrm>
            <a:off x="8092440" y="4590360"/>
            <a:ext cx="200520" cy="200520"/>
          </a:xfrm>
          <a:prstGeom prst="roundRect">
            <a:avLst>
              <a:gd name="adj" fmla="val 13636"/>
            </a:avLst>
          </a:prstGeom>
          <a:solidFill>
            <a:srgbClr val="16344b"/>
          </a:solidFill>
          <a:ln w="12700">
            <a:solidFill>
              <a:srgbClr val="5c7c96"/>
            </a:solidFill>
            <a:prstDash val="dash"/>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88" name="Text 74"/>
          <p:cNvSpPr/>
          <p:nvPr/>
        </p:nvSpPr>
        <p:spPr>
          <a:xfrm>
            <a:off x="8339400" y="4553640"/>
            <a:ext cx="22852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pc="-1" strike="noStrike">
                <a:solidFill>
                  <a:srgbClr val="aec2d4"/>
                </a:solidFill>
                <a:latin typeface="Calibri"/>
                <a:ea typeface="Calibri"/>
              </a:rPr>
              <a:t>planned — replaced next hour</a:t>
            </a:r>
            <a:endParaRPr b="0" lang="en-US" sz="1000" spc="-1" strike="noStrike">
              <a:solidFill>
                <a:srgbClr val="ffffff"/>
              </a:solidFill>
              <a:latin typeface="Arial"/>
            </a:endParaRPr>
          </a:p>
        </p:txBody>
      </p:sp>
      <p:sp>
        <p:nvSpPr>
          <p:cNvPr id="489" name="Shape 75"/>
          <p:cNvSpPr/>
          <p:nvPr/>
        </p:nvSpPr>
        <p:spPr>
          <a:xfrm>
            <a:off x="10680120" y="4590360"/>
            <a:ext cx="200520" cy="200520"/>
          </a:xfrm>
          <a:prstGeom prst="roundRect">
            <a:avLst>
              <a:gd name="adj" fmla="val 13636"/>
            </a:avLst>
          </a:prstGeom>
          <a:solidFill>
            <a:srgbClr val="12283c"/>
          </a:solidFill>
          <a:ln w="12700">
            <a:solidFill>
              <a:srgbClr val="27516e"/>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90" name="Text 76"/>
          <p:cNvSpPr/>
          <p:nvPr/>
        </p:nvSpPr>
        <p:spPr>
          <a:xfrm>
            <a:off x="10927080" y="4553640"/>
            <a:ext cx="5662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pc="-1" strike="noStrike">
                <a:solidFill>
                  <a:srgbClr val="aec2d4"/>
                </a:solidFill>
                <a:latin typeface="Calibri"/>
                <a:ea typeface="Calibri"/>
              </a:rPr>
              <a:t>done</a:t>
            </a:r>
            <a:endParaRPr b="0" lang="en-US" sz="1000" spc="-1" strike="noStrike">
              <a:solidFill>
                <a:srgbClr val="ffffff"/>
              </a:solidFill>
              <a:latin typeface="Arial"/>
            </a:endParaRPr>
          </a:p>
        </p:txBody>
      </p:sp>
      <p:sp>
        <p:nvSpPr>
          <p:cNvPr id="491" name="Text 77"/>
          <p:cNvSpPr/>
          <p:nvPr/>
        </p:nvSpPr>
        <p:spPr>
          <a:xfrm>
            <a:off x="6793920" y="4956120"/>
            <a:ext cx="470844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050" spc="-1" strike="noStrike">
                <a:solidFill>
                  <a:srgbClr val="8ea6bc"/>
                </a:solidFill>
                <a:latin typeface="Calibri"/>
                <a:ea typeface="Calibri"/>
              </a:rPr>
              <a:t>Only the first hour is ever executed; the tail is a plan, refreshed as the real sky arrives.</a:t>
            </a:r>
            <a:endParaRPr b="0" lang="en-US" sz="1050" spc="-1" strike="noStrike">
              <a:solidFill>
                <a:srgbClr val="ffffff"/>
              </a:solidFill>
              <a:latin typeface="Arial"/>
            </a:endParaRPr>
          </a:p>
        </p:txBody>
      </p:sp>
      <p:sp>
        <p:nvSpPr>
          <p:cNvPr id="492" name="Shape 78"/>
          <p:cNvSpPr/>
          <p:nvPr/>
        </p:nvSpPr>
        <p:spPr>
          <a:xfrm>
            <a:off x="548640" y="5650920"/>
            <a:ext cx="11090880" cy="566280"/>
          </a:xfrm>
          <a:prstGeom prst="roundRect">
            <a:avLst>
              <a:gd name="adj" fmla="val 14516"/>
            </a:avLst>
          </a:prstGeom>
          <a:solidFill>
            <a:srgbClr val="12283c"/>
          </a:solidFill>
          <a:ln w="12700">
            <a:solidFill>
              <a:srgbClr val="f4a623"/>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93" name="Text 79"/>
          <p:cNvSpPr/>
          <p:nvPr/>
        </p:nvSpPr>
        <p:spPr>
          <a:xfrm>
            <a:off x="822960" y="5650920"/>
            <a:ext cx="10606320" cy="566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f4a623"/>
                </a:solidFill>
                <a:latin typeface="Calibri"/>
                <a:ea typeface="Calibri"/>
              </a:rPr>
              <a:t>Supervisory, not low-level:  </a:t>
            </a:r>
            <a:r>
              <a:rPr b="0" lang="en-US" sz="1250" spc="-1" strike="noStrike">
                <a:solidFill>
                  <a:srgbClr val="d6e3ef"/>
                </a:solidFill>
                <a:latin typeface="Calibri"/>
                <a:ea typeface="Calibri"/>
              </a:rPr>
              <a:t>the MPC sends one setpoint per hour; the electrolyzer's own fast controllers track it underneath — we command the plant, we don't micro-manage it.</a:t>
            </a:r>
            <a:endParaRPr b="0" lang="en-US" sz="12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e2233"/>
        </a:solidFill>
      </p:bgPr>
    </p:bg>
    <p:spTree>
      <p:nvGrpSpPr>
        <p:cNvPr id="1" name=""/>
        <p:cNvGrpSpPr/>
        <p:nvPr/>
      </p:nvGrpSpPr>
      <p:grpSpPr>
        <a:xfrm>
          <a:off x="0" y="0"/>
          <a:ext cx="0" cy="0"/>
          <a:chOff x="0" y="0"/>
          <a:chExt cx="0" cy="0"/>
        </a:xfrm>
      </p:grpSpPr>
      <p:sp>
        <p:nvSpPr>
          <p:cNvPr id="494" name="Text 0"/>
          <p:cNvSpPr/>
          <p:nvPr/>
        </p:nvSpPr>
        <p:spPr>
          <a:xfrm>
            <a:off x="11338560" y="6400800"/>
            <a:ext cx="456480" cy="291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050" spc="-1" strike="noStrike">
                <a:solidFill>
                  <a:srgbClr val="8ea6bc"/>
                </a:solidFill>
                <a:latin typeface="Calibri"/>
                <a:ea typeface="Calibri"/>
              </a:rPr>
              <a:t>18</a:t>
            </a:r>
            <a:endParaRPr b="0" lang="en-US" sz="1050" spc="-1" strike="noStrike">
              <a:solidFill>
                <a:srgbClr val="ffffff"/>
              </a:solidFill>
              <a:latin typeface="Arial"/>
            </a:endParaRPr>
          </a:p>
        </p:txBody>
      </p:sp>
      <p:sp>
        <p:nvSpPr>
          <p:cNvPr id="495" name="Text 1"/>
          <p:cNvSpPr/>
          <p:nvPr/>
        </p:nvSpPr>
        <p:spPr>
          <a:xfrm>
            <a:off x="548640" y="457200"/>
            <a:ext cx="109720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296" strike="noStrike">
                <a:solidFill>
                  <a:srgbClr val="f4a623"/>
                </a:solidFill>
                <a:latin typeface="Calibri"/>
                <a:ea typeface="Calibri"/>
              </a:rPr>
              <a:t>THE CONTROL CORE — ③ THE LOOP, HOUR BY HOUR</a:t>
            </a:r>
            <a:endParaRPr b="0" lang="en-US" sz="1200" spc="-1" strike="noStrike">
              <a:solidFill>
                <a:srgbClr val="ffffff"/>
              </a:solidFill>
              <a:latin typeface="Arial"/>
            </a:endParaRPr>
          </a:p>
        </p:txBody>
      </p:sp>
      <p:sp>
        <p:nvSpPr>
          <p:cNvPr id="496" name="Text 2"/>
          <p:cNvSpPr/>
          <p:nvPr/>
        </p:nvSpPr>
        <p:spPr>
          <a:xfrm>
            <a:off x="548640" y="777240"/>
            <a:ext cx="11063520" cy="77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900" spc="-1" strike="noStrike">
                <a:solidFill>
                  <a:srgbClr val="ffffff"/>
                </a:solidFill>
                <a:latin typeface="Cambria"/>
                <a:ea typeface="Cambria"/>
              </a:rPr>
              <a:t>Receding-horizon MPC: plan, act, re-plan</a:t>
            </a:r>
            <a:endParaRPr b="0" lang="en-US" sz="2900" spc="-1" strike="noStrike">
              <a:solidFill>
                <a:srgbClr val="ffffff"/>
              </a:solidFill>
              <a:latin typeface="Arial"/>
            </a:endParaRPr>
          </a:p>
        </p:txBody>
      </p:sp>
      <p:sp>
        <p:nvSpPr>
          <p:cNvPr id="497" name="Shape 3"/>
          <p:cNvSpPr/>
          <p:nvPr/>
        </p:nvSpPr>
        <p:spPr>
          <a:xfrm>
            <a:off x="548640" y="2103120"/>
            <a:ext cx="2084040" cy="2102400"/>
          </a:xfrm>
          <a:prstGeom prst="roundRect">
            <a:avLst>
              <a:gd name="adj" fmla="val 4386"/>
            </a:avLst>
          </a:prstGeom>
          <a:solidFill>
            <a:srgbClr val="16344b"/>
          </a:solidFill>
          <a:ln w="12700">
            <a:solidFill>
              <a:srgbClr val="27516e"/>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98" name="Shape 4"/>
          <p:cNvSpPr/>
          <p:nvPr/>
        </p:nvSpPr>
        <p:spPr>
          <a:xfrm>
            <a:off x="1371600" y="1874520"/>
            <a:ext cx="456480" cy="456480"/>
          </a:xfrm>
          <a:prstGeom prst="ellipse">
            <a:avLst/>
          </a:prstGeom>
          <a:solidFill>
            <a:srgbClr val="f4a62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499" name="Text 5"/>
          <p:cNvSpPr/>
          <p:nvPr/>
        </p:nvSpPr>
        <p:spPr>
          <a:xfrm>
            <a:off x="1371600" y="1874520"/>
            <a:ext cx="456480" cy="4564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0e2233"/>
                </a:solidFill>
                <a:latin typeface="Cambria"/>
                <a:ea typeface="Cambria"/>
              </a:rPr>
              <a:t>1</a:t>
            </a:r>
            <a:endParaRPr b="0" lang="en-US" sz="1800" spc="-1" strike="noStrike">
              <a:solidFill>
                <a:srgbClr val="ffffff"/>
              </a:solidFill>
              <a:latin typeface="Arial"/>
            </a:endParaRPr>
          </a:p>
        </p:txBody>
      </p:sp>
      <p:sp>
        <p:nvSpPr>
          <p:cNvPr id="500" name="Text 6"/>
          <p:cNvSpPr/>
          <p:nvPr/>
        </p:nvSpPr>
        <p:spPr>
          <a:xfrm>
            <a:off x="640080" y="2541960"/>
            <a:ext cx="1901160" cy="365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Calibri"/>
                <a:ea typeface="Calibri"/>
              </a:rPr>
              <a:t>Measure</a:t>
            </a:r>
            <a:endParaRPr b="0" lang="en-US" sz="1500" spc="-1" strike="noStrike">
              <a:solidFill>
                <a:srgbClr val="ffffff"/>
              </a:solidFill>
              <a:latin typeface="Arial"/>
            </a:endParaRPr>
          </a:p>
        </p:txBody>
      </p:sp>
      <p:sp>
        <p:nvSpPr>
          <p:cNvPr id="501" name="Text 7"/>
          <p:cNvSpPr/>
          <p:nvPr/>
        </p:nvSpPr>
        <p:spPr>
          <a:xfrm>
            <a:off x="713160" y="2926080"/>
            <a:ext cx="1755000" cy="1188000"/>
          </a:xfrm>
          <a:prstGeom prst="rect">
            <a:avLst/>
          </a:prstGeom>
          <a:noFill/>
          <a:ln w="0">
            <a:noFill/>
          </a:ln>
        </p:spPr>
        <p:style>
          <a:lnRef idx="0"/>
          <a:fillRef idx="0"/>
          <a:effectRef idx="0"/>
          <a:fontRef idx="minor"/>
        </p:style>
        <p:txBody>
          <a:bodyPr lIns="0" rIns="0" tIns="0" bIns="0" anchor="t">
            <a:noAutofit/>
          </a:bodyPr>
          <a:p>
            <a:pPr algn="ctr" defTabSz="914400">
              <a:lnSpc>
                <a:spcPct val="106000"/>
              </a:lnSpc>
              <a:tabLst>
                <a:tab algn="l" pos="0"/>
              </a:tabLst>
            </a:pPr>
            <a:r>
              <a:rPr b="0" lang="en-US" sz="1150" spc="-1" strike="noStrike">
                <a:solidFill>
                  <a:srgbClr val="aec2d4"/>
                </a:solidFill>
                <a:latin typeface="Calibri"/>
                <a:ea typeface="Calibri"/>
              </a:rPr>
              <a:t>realised solar &amp; H₂ made so far today</a:t>
            </a:r>
            <a:endParaRPr b="0" lang="en-US" sz="1150" spc="-1" strike="noStrike">
              <a:solidFill>
                <a:srgbClr val="ffffff"/>
              </a:solidFill>
              <a:latin typeface="Arial"/>
            </a:endParaRPr>
          </a:p>
        </p:txBody>
      </p:sp>
      <p:sp>
        <p:nvSpPr>
          <p:cNvPr id="502" name="Shape 8"/>
          <p:cNvSpPr/>
          <p:nvPr/>
        </p:nvSpPr>
        <p:spPr>
          <a:xfrm>
            <a:off x="2633400" y="3154680"/>
            <a:ext cx="182880" cy="360"/>
          </a:xfrm>
          <a:prstGeom prst="line">
            <a:avLst/>
          </a:prstGeom>
          <a:ln w="25400">
            <a:solidFill>
              <a:srgbClr val="f4a623"/>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503" name="Shape 9"/>
          <p:cNvSpPr/>
          <p:nvPr/>
        </p:nvSpPr>
        <p:spPr>
          <a:xfrm>
            <a:off x="2816280" y="2103120"/>
            <a:ext cx="2084040" cy="2102400"/>
          </a:xfrm>
          <a:prstGeom prst="roundRect">
            <a:avLst>
              <a:gd name="adj" fmla="val 4386"/>
            </a:avLst>
          </a:prstGeom>
          <a:solidFill>
            <a:srgbClr val="16344b"/>
          </a:solidFill>
          <a:ln w="12700">
            <a:solidFill>
              <a:srgbClr val="27516e"/>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04" name="Shape 10"/>
          <p:cNvSpPr/>
          <p:nvPr/>
        </p:nvSpPr>
        <p:spPr>
          <a:xfrm>
            <a:off x="3639240" y="1874520"/>
            <a:ext cx="456480" cy="456480"/>
          </a:xfrm>
          <a:prstGeom prst="ellipse">
            <a:avLst/>
          </a:prstGeom>
          <a:solidFill>
            <a:srgbClr val="f4a62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505" name="Text 11"/>
          <p:cNvSpPr/>
          <p:nvPr/>
        </p:nvSpPr>
        <p:spPr>
          <a:xfrm>
            <a:off x="3639240" y="1874520"/>
            <a:ext cx="456480" cy="4564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0e2233"/>
                </a:solidFill>
                <a:latin typeface="Cambria"/>
                <a:ea typeface="Cambria"/>
              </a:rPr>
              <a:t>2</a:t>
            </a:r>
            <a:endParaRPr b="0" lang="en-US" sz="1800" spc="-1" strike="noStrike">
              <a:solidFill>
                <a:srgbClr val="ffffff"/>
              </a:solidFill>
              <a:latin typeface="Arial"/>
            </a:endParaRPr>
          </a:p>
        </p:txBody>
      </p:sp>
      <p:sp>
        <p:nvSpPr>
          <p:cNvPr id="506" name="Text 12"/>
          <p:cNvSpPr/>
          <p:nvPr/>
        </p:nvSpPr>
        <p:spPr>
          <a:xfrm>
            <a:off x="2907720" y="2541960"/>
            <a:ext cx="1901160" cy="365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Calibri"/>
                <a:ea typeface="Calibri"/>
              </a:rPr>
              <a:t>Forecast</a:t>
            </a:r>
            <a:endParaRPr b="0" lang="en-US" sz="1500" spc="-1" strike="noStrike">
              <a:solidFill>
                <a:srgbClr val="ffffff"/>
              </a:solidFill>
              <a:latin typeface="Arial"/>
            </a:endParaRPr>
          </a:p>
        </p:txBody>
      </p:sp>
      <p:sp>
        <p:nvSpPr>
          <p:cNvPr id="507" name="Text 13"/>
          <p:cNvSpPr/>
          <p:nvPr/>
        </p:nvSpPr>
        <p:spPr>
          <a:xfrm>
            <a:off x="2980800" y="2926080"/>
            <a:ext cx="1755000" cy="1188000"/>
          </a:xfrm>
          <a:prstGeom prst="rect">
            <a:avLst/>
          </a:prstGeom>
          <a:noFill/>
          <a:ln w="0">
            <a:noFill/>
          </a:ln>
        </p:spPr>
        <p:style>
          <a:lnRef idx="0"/>
          <a:fillRef idx="0"/>
          <a:effectRef idx="0"/>
          <a:fontRef idx="minor"/>
        </p:style>
        <p:txBody>
          <a:bodyPr lIns="0" rIns="0" tIns="0" bIns="0" anchor="t">
            <a:noAutofit/>
          </a:bodyPr>
          <a:p>
            <a:pPr algn="ctr" defTabSz="914400">
              <a:lnSpc>
                <a:spcPct val="106000"/>
              </a:lnSpc>
              <a:tabLst>
                <a:tab algn="l" pos="0"/>
              </a:tabLst>
            </a:pPr>
            <a:r>
              <a:rPr b="0" lang="en-US" sz="1150" spc="-1" strike="noStrike">
                <a:solidFill>
                  <a:srgbClr val="aec2d4"/>
                </a:solidFill>
                <a:latin typeface="Calibri"/>
                <a:ea typeface="Calibri"/>
              </a:rPr>
              <a:t>rest of day from yesterday + intraday correction</a:t>
            </a:r>
            <a:endParaRPr b="0" lang="en-US" sz="1150" spc="-1" strike="noStrike">
              <a:solidFill>
                <a:srgbClr val="ffffff"/>
              </a:solidFill>
              <a:latin typeface="Arial"/>
            </a:endParaRPr>
          </a:p>
        </p:txBody>
      </p:sp>
      <p:sp>
        <p:nvSpPr>
          <p:cNvPr id="508" name="Shape 14"/>
          <p:cNvSpPr/>
          <p:nvPr/>
        </p:nvSpPr>
        <p:spPr>
          <a:xfrm>
            <a:off x="4901040" y="3154680"/>
            <a:ext cx="182880" cy="360"/>
          </a:xfrm>
          <a:prstGeom prst="line">
            <a:avLst/>
          </a:prstGeom>
          <a:ln w="25400">
            <a:solidFill>
              <a:srgbClr val="f4a623"/>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509" name="Shape 15"/>
          <p:cNvSpPr/>
          <p:nvPr/>
        </p:nvSpPr>
        <p:spPr>
          <a:xfrm>
            <a:off x="5083920" y="2103120"/>
            <a:ext cx="2084040" cy="2102400"/>
          </a:xfrm>
          <a:prstGeom prst="roundRect">
            <a:avLst>
              <a:gd name="adj" fmla="val 4386"/>
            </a:avLst>
          </a:prstGeom>
          <a:solidFill>
            <a:srgbClr val="16344b"/>
          </a:solidFill>
          <a:ln w="12700">
            <a:solidFill>
              <a:srgbClr val="27516e"/>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10" name="Shape 16"/>
          <p:cNvSpPr/>
          <p:nvPr/>
        </p:nvSpPr>
        <p:spPr>
          <a:xfrm>
            <a:off x="5906880" y="1874520"/>
            <a:ext cx="456480" cy="456480"/>
          </a:xfrm>
          <a:prstGeom prst="ellipse">
            <a:avLst/>
          </a:prstGeom>
          <a:solidFill>
            <a:srgbClr val="f4a62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511" name="Text 17"/>
          <p:cNvSpPr/>
          <p:nvPr/>
        </p:nvSpPr>
        <p:spPr>
          <a:xfrm>
            <a:off x="5906880" y="1874520"/>
            <a:ext cx="456480" cy="4564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0e2233"/>
                </a:solidFill>
                <a:latin typeface="Cambria"/>
                <a:ea typeface="Cambria"/>
              </a:rPr>
              <a:t>3</a:t>
            </a:r>
            <a:endParaRPr b="0" lang="en-US" sz="1800" spc="-1" strike="noStrike">
              <a:solidFill>
                <a:srgbClr val="ffffff"/>
              </a:solidFill>
              <a:latin typeface="Arial"/>
            </a:endParaRPr>
          </a:p>
        </p:txBody>
      </p:sp>
      <p:sp>
        <p:nvSpPr>
          <p:cNvPr id="512" name="Text 18"/>
          <p:cNvSpPr/>
          <p:nvPr/>
        </p:nvSpPr>
        <p:spPr>
          <a:xfrm>
            <a:off x="5175360" y="2541960"/>
            <a:ext cx="1901160" cy="365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Calibri"/>
                <a:ea typeface="Calibri"/>
              </a:rPr>
              <a:t>Optimise</a:t>
            </a:r>
            <a:endParaRPr b="0" lang="en-US" sz="1500" spc="-1" strike="noStrike">
              <a:solidFill>
                <a:srgbClr val="ffffff"/>
              </a:solidFill>
              <a:latin typeface="Arial"/>
            </a:endParaRPr>
          </a:p>
        </p:txBody>
      </p:sp>
      <p:sp>
        <p:nvSpPr>
          <p:cNvPr id="513" name="Text 19"/>
          <p:cNvSpPr/>
          <p:nvPr/>
        </p:nvSpPr>
        <p:spPr>
          <a:xfrm>
            <a:off x="5248800" y="2926080"/>
            <a:ext cx="1755000" cy="1188000"/>
          </a:xfrm>
          <a:prstGeom prst="rect">
            <a:avLst/>
          </a:prstGeom>
          <a:noFill/>
          <a:ln w="0">
            <a:noFill/>
          </a:ln>
        </p:spPr>
        <p:style>
          <a:lnRef idx="0"/>
          <a:fillRef idx="0"/>
          <a:effectRef idx="0"/>
          <a:fontRef idx="minor"/>
        </p:style>
        <p:txBody>
          <a:bodyPr lIns="0" rIns="0" tIns="0" bIns="0" anchor="t">
            <a:noAutofit/>
          </a:bodyPr>
          <a:p>
            <a:pPr algn="ctr" defTabSz="914400">
              <a:lnSpc>
                <a:spcPct val="106000"/>
              </a:lnSpc>
              <a:tabLst>
                <a:tab algn="l" pos="0"/>
              </a:tabLst>
            </a:pPr>
            <a:r>
              <a:rPr b="0" lang="en-US" sz="1150" spc="-1" strike="noStrike">
                <a:solidFill>
                  <a:srgbClr val="aec2d4"/>
                </a:solidFill>
                <a:latin typeface="Calibri"/>
                <a:ea typeface="Calibri"/>
              </a:rPr>
              <a:t>PSO over remaining hours to meet remaining demand</a:t>
            </a:r>
            <a:endParaRPr b="0" lang="en-US" sz="1150" spc="-1" strike="noStrike">
              <a:solidFill>
                <a:srgbClr val="ffffff"/>
              </a:solidFill>
              <a:latin typeface="Arial"/>
            </a:endParaRPr>
          </a:p>
        </p:txBody>
      </p:sp>
      <p:sp>
        <p:nvSpPr>
          <p:cNvPr id="514" name="Shape 20"/>
          <p:cNvSpPr/>
          <p:nvPr/>
        </p:nvSpPr>
        <p:spPr>
          <a:xfrm>
            <a:off x="7168680" y="3154680"/>
            <a:ext cx="182880" cy="360"/>
          </a:xfrm>
          <a:prstGeom prst="line">
            <a:avLst/>
          </a:prstGeom>
          <a:ln w="25400">
            <a:solidFill>
              <a:srgbClr val="f4a623"/>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515" name="Shape 21"/>
          <p:cNvSpPr/>
          <p:nvPr/>
        </p:nvSpPr>
        <p:spPr>
          <a:xfrm>
            <a:off x="7351920" y="2103120"/>
            <a:ext cx="2084040" cy="2102400"/>
          </a:xfrm>
          <a:prstGeom prst="roundRect">
            <a:avLst>
              <a:gd name="adj" fmla="val 4386"/>
            </a:avLst>
          </a:prstGeom>
          <a:solidFill>
            <a:srgbClr val="16344b"/>
          </a:solidFill>
          <a:ln w="12700">
            <a:solidFill>
              <a:srgbClr val="27516e"/>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16" name="Shape 22"/>
          <p:cNvSpPr/>
          <p:nvPr/>
        </p:nvSpPr>
        <p:spPr>
          <a:xfrm>
            <a:off x="8174880" y="1874520"/>
            <a:ext cx="456480" cy="456480"/>
          </a:xfrm>
          <a:prstGeom prst="ellipse">
            <a:avLst/>
          </a:prstGeom>
          <a:solidFill>
            <a:srgbClr val="f4a62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517" name="Text 23"/>
          <p:cNvSpPr/>
          <p:nvPr/>
        </p:nvSpPr>
        <p:spPr>
          <a:xfrm>
            <a:off x="8174880" y="1874520"/>
            <a:ext cx="456480" cy="4564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0e2233"/>
                </a:solidFill>
                <a:latin typeface="Cambria"/>
                <a:ea typeface="Cambria"/>
              </a:rPr>
              <a:t>4</a:t>
            </a:r>
            <a:endParaRPr b="0" lang="en-US" sz="1800" spc="-1" strike="noStrike">
              <a:solidFill>
                <a:srgbClr val="ffffff"/>
              </a:solidFill>
              <a:latin typeface="Arial"/>
            </a:endParaRPr>
          </a:p>
        </p:txBody>
      </p:sp>
      <p:sp>
        <p:nvSpPr>
          <p:cNvPr id="518" name="Text 24"/>
          <p:cNvSpPr/>
          <p:nvPr/>
        </p:nvSpPr>
        <p:spPr>
          <a:xfrm>
            <a:off x="7443360" y="2541960"/>
            <a:ext cx="1901160" cy="365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Calibri"/>
                <a:ea typeface="Calibri"/>
              </a:rPr>
              <a:t>Apply first</a:t>
            </a:r>
            <a:endParaRPr b="0" lang="en-US" sz="1500" spc="-1" strike="noStrike">
              <a:solidFill>
                <a:srgbClr val="ffffff"/>
              </a:solidFill>
              <a:latin typeface="Arial"/>
            </a:endParaRPr>
          </a:p>
        </p:txBody>
      </p:sp>
      <p:sp>
        <p:nvSpPr>
          <p:cNvPr id="519" name="Text 25"/>
          <p:cNvSpPr/>
          <p:nvPr/>
        </p:nvSpPr>
        <p:spPr>
          <a:xfrm>
            <a:off x="7516440" y="2926080"/>
            <a:ext cx="1755000" cy="1188000"/>
          </a:xfrm>
          <a:prstGeom prst="rect">
            <a:avLst/>
          </a:prstGeom>
          <a:noFill/>
          <a:ln w="0">
            <a:noFill/>
          </a:ln>
        </p:spPr>
        <p:style>
          <a:lnRef idx="0"/>
          <a:fillRef idx="0"/>
          <a:effectRef idx="0"/>
          <a:fontRef idx="minor"/>
        </p:style>
        <p:txBody>
          <a:bodyPr lIns="0" rIns="0" tIns="0" bIns="0" anchor="t">
            <a:noAutofit/>
          </a:bodyPr>
          <a:p>
            <a:pPr algn="ctr" defTabSz="914400">
              <a:lnSpc>
                <a:spcPct val="106000"/>
              </a:lnSpc>
              <a:tabLst>
                <a:tab algn="l" pos="0"/>
              </a:tabLst>
            </a:pPr>
            <a:r>
              <a:rPr b="0" lang="en-US" sz="1150" spc="-1" strike="noStrike">
                <a:solidFill>
                  <a:srgbClr val="aec2d4"/>
                </a:solidFill>
                <a:latin typeface="Calibri"/>
                <a:ea typeface="Calibri"/>
              </a:rPr>
              <a:t>commit only the next hour's setpoint</a:t>
            </a:r>
            <a:endParaRPr b="0" lang="en-US" sz="1150" spc="-1" strike="noStrike">
              <a:solidFill>
                <a:srgbClr val="ffffff"/>
              </a:solidFill>
              <a:latin typeface="Arial"/>
            </a:endParaRPr>
          </a:p>
        </p:txBody>
      </p:sp>
      <p:sp>
        <p:nvSpPr>
          <p:cNvPr id="520" name="Shape 26"/>
          <p:cNvSpPr/>
          <p:nvPr/>
        </p:nvSpPr>
        <p:spPr>
          <a:xfrm>
            <a:off x="9436320" y="3154680"/>
            <a:ext cx="182880" cy="360"/>
          </a:xfrm>
          <a:prstGeom prst="line">
            <a:avLst/>
          </a:prstGeom>
          <a:ln w="25400">
            <a:solidFill>
              <a:srgbClr val="f4a623"/>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521" name="Shape 27"/>
          <p:cNvSpPr/>
          <p:nvPr/>
        </p:nvSpPr>
        <p:spPr>
          <a:xfrm>
            <a:off x="9619560" y="2103120"/>
            <a:ext cx="2084040" cy="2102400"/>
          </a:xfrm>
          <a:prstGeom prst="roundRect">
            <a:avLst>
              <a:gd name="adj" fmla="val 4386"/>
            </a:avLst>
          </a:prstGeom>
          <a:solidFill>
            <a:srgbClr val="16344b"/>
          </a:solidFill>
          <a:ln w="22225">
            <a:solidFill>
              <a:srgbClr val="f4a623"/>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22" name="Shape 28"/>
          <p:cNvSpPr/>
          <p:nvPr/>
        </p:nvSpPr>
        <p:spPr>
          <a:xfrm>
            <a:off x="10442520" y="1874520"/>
            <a:ext cx="456480" cy="456480"/>
          </a:xfrm>
          <a:prstGeom prst="ellipse">
            <a:avLst/>
          </a:prstGeom>
          <a:solidFill>
            <a:srgbClr val="f4a62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523" name="Text 29"/>
          <p:cNvSpPr/>
          <p:nvPr/>
        </p:nvSpPr>
        <p:spPr>
          <a:xfrm>
            <a:off x="10442520" y="1874520"/>
            <a:ext cx="456480" cy="4564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0e2233"/>
                </a:solidFill>
                <a:latin typeface="Cambria"/>
                <a:ea typeface="Cambria"/>
              </a:rPr>
              <a:t>5</a:t>
            </a:r>
            <a:endParaRPr b="0" lang="en-US" sz="1800" spc="-1" strike="noStrike">
              <a:solidFill>
                <a:srgbClr val="ffffff"/>
              </a:solidFill>
              <a:latin typeface="Arial"/>
            </a:endParaRPr>
          </a:p>
        </p:txBody>
      </p:sp>
      <p:sp>
        <p:nvSpPr>
          <p:cNvPr id="524" name="Text 30"/>
          <p:cNvSpPr/>
          <p:nvPr/>
        </p:nvSpPr>
        <p:spPr>
          <a:xfrm>
            <a:off x="9711000" y="2541960"/>
            <a:ext cx="1901160" cy="365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Calibri"/>
                <a:ea typeface="Calibri"/>
              </a:rPr>
              <a:t>Re-plan</a:t>
            </a:r>
            <a:endParaRPr b="0" lang="en-US" sz="1500" spc="-1" strike="noStrike">
              <a:solidFill>
                <a:srgbClr val="ffffff"/>
              </a:solidFill>
              <a:latin typeface="Arial"/>
            </a:endParaRPr>
          </a:p>
        </p:txBody>
      </p:sp>
      <p:sp>
        <p:nvSpPr>
          <p:cNvPr id="525" name="Text 31"/>
          <p:cNvSpPr/>
          <p:nvPr/>
        </p:nvSpPr>
        <p:spPr>
          <a:xfrm>
            <a:off x="9784080" y="2926080"/>
            <a:ext cx="1755000" cy="1188000"/>
          </a:xfrm>
          <a:prstGeom prst="rect">
            <a:avLst/>
          </a:prstGeom>
          <a:noFill/>
          <a:ln w="0">
            <a:noFill/>
          </a:ln>
        </p:spPr>
        <p:style>
          <a:lnRef idx="0"/>
          <a:fillRef idx="0"/>
          <a:effectRef idx="0"/>
          <a:fontRef idx="minor"/>
        </p:style>
        <p:txBody>
          <a:bodyPr lIns="0" rIns="0" tIns="0" bIns="0" anchor="t">
            <a:noAutofit/>
          </a:bodyPr>
          <a:p>
            <a:pPr algn="ctr" defTabSz="914400">
              <a:lnSpc>
                <a:spcPct val="106000"/>
              </a:lnSpc>
              <a:tabLst>
                <a:tab algn="l" pos="0"/>
              </a:tabLst>
            </a:pPr>
            <a:r>
              <a:rPr b="0" lang="en-US" sz="1150" spc="-1" strike="noStrike">
                <a:solidFill>
                  <a:srgbClr val="aec2d4"/>
                </a:solidFill>
                <a:latin typeface="Calibri"/>
                <a:ea typeface="Calibri"/>
              </a:rPr>
              <a:t>real weather arrives → back to step 1</a:t>
            </a:r>
            <a:endParaRPr b="0" lang="en-US" sz="1150" spc="-1" strike="noStrike">
              <a:solidFill>
                <a:srgbClr val="ffffff"/>
              </a:solidFill>
              <a:latin typeface="Arial"/>
            </a:endParaRPr>
          </a:p>
        </p:txBody>
      </p:sp>
      <p:sp>
        <p:nvSpPr>
          <p:cNvPr id="526" name="Shape 32"/>
          <p:cNvSpPr/>
          <p:nvPr/>
        </p:nvSpPr>
        <p:spPr>
          <a:xfrm flipH="1">
            <a:off x="548640" y="4434840"/>
            <a:ext cx="9930240" cy="360"/>
          </a:xfrm>
          <a:prstGeom prst="line">
            <a:avLst/>
          </a:prstGeom>
          <a:ln w="19050">
            <a:solidFill>
              <a:srgbClr val="f4a623"/>
            </a:solidFill>
            <a:prstDash val="dash"/>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527" name="Text 33"/>
          <p:cNvSpPr/>
          <p:nvPr/>
        </p:nvSpPr>
        <p:spPr>
          <a:xfrm>
            <a:off x="548640" y="4480560"/>
            <a:ext cx="10057680" cy="365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en-US" sz="1250" spc="-1" strike="noStrike">
                <a:solidFill>
                  <a:srgbClr val="f4a623"/>
                </a:solidFill>
                <a:latin typeface="Calibri"/>
                <a:ea typeface="Calibri"/>
              </a:rPr>
              <a:t>receding horizon — repeats every hour</a:t>
            </a:r>
            <a:endParaRPr b="0" lang="en-US" sz="1250" spc="-1" strike="noStrike">
              <a:solidFill>
                <a:srgbClr val="ffffff"/>
              </a:solidFill>
              <a:latin typeface="Arial"/>
            </a:endParaRPr>
          </a:p>
        </p:txBody>
      </p:sp>
      <p:sp>
        <p:nvSpPr>
          <p:cNvPr id="528" name="Shape 34"/>
          <p:cNvSpPr/>
          <p:nvPr/>
        </p:nvSpPr>
        <p:spPr>
          <a:xfrm>
            <a:off x="548640" y="4919400"/>
            <a:ext cx="11090880" cy="895320"/>
          </a:xfrm>
          <a:prstGeom prst="roundRect">
            <a:avLst>
              <a:gd name="adj" fmla="val 9184"/>
            </a:avLst>
          </a:prstGeom>
          <a:solidFill>
            <a:srgbClr val="16344b"/>
          </a:solidFill>
          <a:ln w="12700">
            <a:solidFill>
              <a:srgbClr val="f4a623"/>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29" name="Text 35"/>
          <p:cNvSpPr/>
          <p:nvPr/>
        </p:nvSpPr>
        <p:spPr>
          <a:xfrm>
            <a:off x="822960" y="5010840"/>
            <a:ext cx="854892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Consolas"/>
                <a:ea typeface="Consolas"/>
              </a:rPr>
              <a:t>u*(k) = arg min  Σ p(j)·[u(j) − d(j|k)]⁺·T  +  λ·[D − x(k) − Σ g(u(j))·T]⁺</a:t>
            </a:r>
            <a:endParaRPr b="0" lang="en-US" sz="1300" spc="-1" strike="noStrike">
              <a:solidFill>
                <a:srgbClr val="ffffff"/>
              </a:solidFill>
              <a:latin typeface="Arial"/>
            </a:endParaRPr>
          </a:p>
        </p:txBody>
      </p:sp>
      <p:sp>
        <p:nvSpPr>
          <p:cNvPr id="530" name="Text 36"/>
          <p:cNvSpPr/>
          <p:nvPr/>
        </p:nvSpPr>
        <p:spPr>
          <a:xfrm>
            <a:off x="822960" y="5413320"/>
            <a:ext cx="8548920" cy="291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050" spc="-1" strike="noStrike">
                <a:solidFill>
                  <a:srgbClr val="aec2d4"/>
                </a:solidFill>
                <a:latin typeface="Calibri"/>
                <a:ea typeface="Calibri"/>
              </a:rPr>
              <a:t>over u(k) … u(23) — the horizon shrinks · d(j|k) = α(k)·d_yesterday(j), α = today's realised clearness · apply only u*(k)</a:t>
            </a:r>
            <a:endParaRPr b="0" lang="en-US" sz="1050" spc="-1" strike="noStrike">
              <a:solidFill>
                <a:srgbClr val="ffffff"/>
              </a:solidFill>
              <a:latin typeface="Arial"/>
            </a:endParaRPr>
          </a:p>
        </p:txBody>
      </p:sp>
      <p:sp>
        <p:nvSpPr>
          <p:cNvPr id="531" name="Text 37"/>
          <p:cNvSpPr/>
          <p:nvPr/>
        </p:nvSpPr>
        <p:spPr>
          <a:xfrm>
            <a:off x="9418320" y="4919400"/>
            <a:ext cx="2102400" cy="895320"/>
          </a:xfrm>
          <a:prstGeom prst="rect">
            <a:avLst/>
          </a:prstGeom>
          <a:noFill/>
          <a:ln w="0">
            <a:noFill/>
          </a:ln>
        </p:spPr>
        <p:style>
          <a:lnRef idx="0"/>
          <a:fillRef idx="0"/>
          <a:effectRef idx="0"/>
          <a:fontRef idx="minor"/>
        </p:style>
        <p:txBody>
          <a:bodyPr lIns="0" rIns="0" tIns="0" bIns="0" anchor="ctr">
            <a:noAutofit/>
          </a:bodyPr>
          <a:p>
            <a:pPr algn="ctr" defTabSz="914400">
              <a:lnSpc>
                <a:spcPct val="105000"/>
              </a:lnSpc>
              <a:tabLst>
                <a:tab algn="l" pos="0"/>
              </a:tabLst>
            </a:pPr>
            <a:r>
              <a:rPr b="1" i="1" lang="en-US" sz="1100" spc="-1" strike="noStrike">
                <a:solidFill>
                  <a:srgbClr val="f4a623"/>
                </a:solidFill>
                <a:latin typeface="Calibri"/>
                <a:ea typeface="Calibri"/>
              </a:rPr>
              <a:t>u(k) = κ(x(k), α(k))</a:t>
            </a:r>
            <a:endParaRPr b="0" lang="en-US" sz="1100" spc="-1" strike="noStrike">
              <a:solidFill>
                <a:srgbClr val="ffffff"/>
              </a:solidFill>
              <a:latin typeface="Arial"/>
            </a:endParaRPr>
          </a:p>
          <a:p>
            <a:pPr algn="ctr" defTabSz="914400">
              <a:lnSpc>
                <a:spcPct val="105000"/>
              </a:lnSpc>
              <a:tabLst>
                <a:tab algn="l" pos="0"/>
              </a:tabLst>
            </a:pPr>
            <a:r>
              <a:rPr b="1" i="1" lang="en-US" sz="1100" spc="-1" strike="noStrike">
                <a:solidFill>
                  <a:srgbClr val="f4a623"/>
                </a:solidFill>
                <a:latin typeface="Calibri"/>
                <a:ea typeface="Calibri"/>
              </a:rPr>
              <a:t>an implicit feedback law</a:t>
            </a:r>
            <a:endParaRPr b="0" lang="en-US" sz="1100" spc="-1" strike="noStrike">
              <a:solidFill>
                <a:srgbClr val="ffffff"/>
              </a:solidFill>
              <a:latin typeface="Arial"/>
            </a:endParaRPr>
          </a:p>
        </p:txBody>
      </p:sp>
      <p:sp>
        <p:nvSpPr>
          <p:cNvPr id="532" name="Text 38"/>
          <p:cNvSpPr/>
          <p:nvPr/>
        </p:nvSpPr>
        <p:spPr>
          <a:xfrm>
            <a:off x="548640" y="5989320"/>
            <a:ext cx="11063520" cy="365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00" spc="-1" strike="noStrike">
                <a:solidFill>
                  <a:srgbClr val="d6e3ef"/>
                </a:solidFill>
                <a:latin typeface="Calibri"/>
                <a:ea typeface="Calibri"/>
              </a:rPr>
              <a:t>Benchmarks:  perfect-foresight (unreachable lower bound)   ·   reactive rule-based (time-blind constant rate)</a:t>
            </a:r>
            <a:endParaRPr b="0" lang="en-US" sz="12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e2233"/>
        </a:solidFill>
      </p:bgPr>
    </p:bg>
    <p:spTree>
      <p:nvGrpSpPr>
        <p:cNvPr id="1" name=""/>
        <p:cNvGrpSpPr/>
        <p:nvPr/>
      </p:nvGrpSpPr>
      <p:grpSpPr>
        <a:xfrm>
          <a:off x="0" y="0"/>
          <a:ext cx="0" cy="0"/>
          <a:chOff x="0" y="0"/>
          <a:chExt cx="0" cy="0"/>
        </a:xfrm>
      </p:grpSpPr>
      <p:sp>
        <p:nvSpPr>
          <p:cNvPr id="533" name="Text 0"/>
          <p:cNvSpPr/>
          <p:nvPr/>
        </p:nvSpPr>
        <p:spPr>
          <a:xfrm>
            <a:off x="11338560" y="6400800"/>
            <a:ext cx="456480" cy="291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050" spc="-1" strike="noStrike">
                <a:solidFill>
                  <a:srgbClr val="8ea6bc"/>
                </a:solidFill>
                <a:latin typeface="Calibri"/>
                <a:ea typeface="Calibri"/>
              </a:rPr>
              <a:t>19</a:t>
            </a:r>
            <a:endParaRPr b="0" lang="en-US" sz="1050" spc="-1" strike="noStrike">
              <a:solidFill>
                <a:srgbClr val="ffffff"/>
              </a:solidFill>
              <a:latin typeface="Arial"/>
            </a:endParaRPr>
          </a:p>
        </p:txBody>
      </p:sp>
      <p:sp>
        <p:nvSpPr>
          <p:cNvPr id="534" name="Shape 1"/>
          <p:cNvSpPr/>
          <p:nvPr/>
        </p:nvSpPr>
        <p:spPr>
          <a:xfrm>
            <a:off x="9509760" y="-2194560"/>
            <a:ext cx="5485680" cy="5485680"/>
          </a:xfrm>
          <a:prstGeom prst="ellipse">
            <a:avLst/>
          </a:prstGeom>
          <a:solidFill>
            <a:srgbClr val="16344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35" name="Shape 2"/>
          <p:cNvSpPr/>
          <p:nvPr/>
        </p:nvSpPr>
        <p:spPr>
          <a:xfrm>
            <a:off x="10607040" y="4023360"/>
            <a:ext cx="4022640" cy="4022640"/>
          </a:xfrm>
          <a:prstGeom prst="ellipse">
            <a:avLst/>
          </a:prstGeom>
          <a:solidFill>
            <a:srgbClr val="12283c"/>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36" name="Text 3"/>
          <p:cNvSpPr/>
          <p:nvPr/>
        </p:nvSpPr>
        <p:spPr>
          <a:xfrm>
            <a:off x="640080" y="1554480"/>
            <a:ext cx="2742480" cy="146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800" spc="-1" strike="noStrike">
                <a:solidFill>
                  <a:srgbClr val="27516e"/>
                </a:solidFill>
                <a:latin typeface="Cambria"/>
                <a:ea typeface="Cambria"/>
              </a:rPr>
              <a:t>III</a:t>
            </a:r>
            <a:endParaRPr b="0" lang="en-US" sz="8800" spc="-1" strike="noStrike">
              <a:solidFill>
                <a:srgbClr val="ffffff"/>
              </a:solidFill>
              <a:latin typeface="Arial"/>
            </a:endParaRPr>
          </a:p>
        </p:txBody>
      </p:sp>
      <p:sp>
        <p:nvSpPr>
          <p:cNvPr id="537" name="Shape 4"/>
          <p:cNvSpPr/>
          <p:nvPr/>
        </p:nvSpPr>
        <p:spPr>
          <a:xfrm>
            <a:off x="713160" y="3063240"/>
            <a:ext cx="639360" cy="63360"/>
          </a:xfrm>
          <a:prstGeom prst="rect">
            <a:avLst/>
          </a:prstGeom>
          <a:solidFill>
            <a:srgbClr val="f4a623"/>
          </a:solidFill>
          <a:ln w="0">
            <a:noFill/>
          </a:ln>
        </p:spPr>
        <p:style>
          <a:lnRef idx="0"/>
          <a:fillRef idx="0"/>
          <a:effectRef idx="0"/>
          <a:fontRef idx="minor"/>
        </p:style>
        <p:txBody>
          <a:bodyPr lIns="90000" rIns="90000" tIns="19080" bIns="19080" anchor="t">
            <a:noAutofit/>
          </a:bodyPr>
          <a:p>
            <a:pPr>
              <a:lnSpc>
                <a:spcPct val="100000"/>
              </a:lnSpc>
            </a:pPr>
            <a:endParaRPr b="0" lang="en-US" sz="1800" spc="-1" strike="noStrike">
              <a:solidFill>
                <a:srgbClr val="000000"/>
              </a:solidFill>
              <a:latin typeface="Arial"/>
            </a:endParaRPr>
          </a:p>
        </p:txBody>
      </p:sp>
      <p:sp>
        <p:nvSpPr>
          <p:cNvPr id="538" name="Text 5"/>
          <p:cNvSpPr/>
          <p:nvPr/>
        </p:nvSpPr>
        <p:spPr>
          <a:xfrm>
            <a:off x="640080" y="3246120"/>
            <a:ext cx="10514880" cy="913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600" spc="-1" strike="noStrike">
                <a:solidFill>
                  <a:srgbClr val="ffffff"/>
                </a:solidFill>
                <a:latin typeface="Cambria"/>
                <a:ea typeface="Cambria"/>
              </a:rPr>
              <a:t>Results</a:t>
            </a:r>
            <a:endParaRPr b="0" lang="en-US" sz="3600" spc="-1" strike="noStrike">
              <a:solidFill>
                <a:srgbClr val="ffffff"/>
              </a:solidFill>
              <a:latin typeface="Arial"/>
            </a:endParaRPr>
          </a:p>
        </p:txBody>
      </p:sp>
      <p:sp>
        <p:nvSpPr>
          <p:cNvPr id="539" name="Text 6"/>
          <p:cNvSpPr/>
          <p:nvPr/>
        </p:nvSpPr>
        <p:spPr>
          <a:xfrm>
            <a:off x="658440" y="4251960"/>
            <a:ext cx="9600480" cy="82224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lang="en-US" sz="1600" spc="-1" strike="noStrike">
                <a:solidFill>
                  <a:srgbClr val="aec2d4"/>
                </a:solidFill>
                <a:latin typeface="Calibri"/>
                <a:ea typeface="Calibri"/>
              </a:rPr>
              <a:t>What the controller does, and what it is worth — on real 2023 data.</a:t>
            </a:r>
            <a:endParaRPr b="0" lang="en-US" sz="1600" spc="-1" strike="noStrike">
              <a:solidFill>
                <a:srgbClr val="ffffff"/>
              </a:solidFill>
              <a:latin typeface="Arial"/>
            </a:endParaRPr>
          </a:p>
        </p:txBody>
      </p:sp>
      <p:sp>
        <p:nvSpPr>
          <p:cNvPr id="540" name="Text 7"/>
          <p:cNvSpPr/>
          <p:nvPr/>
        </p:nvSpPr>
        <p:spPr>
          <a:xfrm>
            <a:off x="658440" y="5212080"/>
            <a:ext cx="914328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i="1" lang="en-US" sz="1300" spc="-1" strike="noStrike">
                <a:solidFill>
                  <a:srgbClr val="f4a623"/>
                </a:solidFill>
                <a:latin typeface="Calibri"/>
                <a:ea typeface="Calibri"/>
              </a:rPr>
              <a:t>Presented by BOUDJADJA Mohamed Akrem</a:t>
            </a:r>
            <a:endParaRPr b="0" lang="en-US" sz="1300" spc="-1" strike="noStrike">
              <a:solidFill>
                <a:srgbClr val="ffffff"/>
              </a:solidFill>
              <a:latin typeface="Arial"/>
            </a:endParaRPr>
          </a:p>
        </p:txBody>
      </p:sp>
      <p:sp>
        <p:nvSpPr>
          <p:cNvPr id="541" name="Text 8"/>
          <p:cNvSpPr/>
          <p:nvPr/>
        </p:nvSpPr>
        <p:spPr>
          <a:xfrm>
            <a:off x="11338560" y="6400800"/>
            <a:ext cx="456480" cy="291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050" spc="-1" strike="noStrike">
                <a:solidFill>
                  <a:srgbClr val="8ea6bc"/>
                </a:solidFill>
                <a:latin typeface="Calibri"/>
                <a:ea typeface="Calibri"/>
              </a:rPr>
              <a:t>19</a:t>
            </a:r>
            <a:endParaRPr b="0" lang="en-US" sz="10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42" name="Text 0"/>
          <p:cNvSpPr/>
          <p:nvPr/>
        </p:nvSpPr>
        <p:spPr>
          <a:xfrm>
            <a:off x="11338560" y="6400800"/>
            <a:ext cx="456480" cy="291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050" spc="-1" strike="noStrike">
                <a:solidFill>
                  <a:srgbClr val="6b7c8f"/>
                </a:solidFill>
                <a:latin typeface="Calibri"/>
                <a:ea typeface="Calibri"/>
              </a:rPr>
              <a:t>20</a:t>
            </a:r>
            <a:endParaRPr b="0" lang="en-US" sz="1050" spc="-1" strike="noStrike">
              <a:solidFill>
                <a:srgbClr val="000000"/>
              </a:solidFill>
              <a:latin typeface="Arial"/>
            </a:endParaRPr>
          </a:p>
        </p:txBody>
      </p:sp>
      <p:sp>
        <p:nvSpPr>
          <p:cNvPr id="543" name="Text 1"/>
          <p:cNvSpPr/>
          <p:nvPr/>
        </p:nvSpPr>
        <p:spPr>
          <a:xfrm>
            <a:off x="548640" y="384120"/>
            <a:ext cx="109720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296" strike="noStrike">
                <a:solidFill>
                  <a:srgbClr val="1c7293"/>
                </a:solidFill>
                <a:latin typeface="Calibri"/>
                <a:ea typeface="Calibri"/>
              </a:rPr>
              <a:t>RESULT — WHAT THE CONTROLLER DOES</a:t>
            </a:r>
            <a:endParaRPr b="0" lang="en-US" sz="1200" spc="-1" strike="noStrike">
              <a:solidFill>
                <a:srgbClr val="000000"/>
              </a:solidFill>
              <a:latin typeface="Arial"/>
            </a:endParaRPr>
          </a:p>
        </p:txBody>
      </p:sp>
      <p:sp>
        <p:nvSpPr>
          <p:cNvPr id="544" name="Text 2"/>
          <p:cNvSpPr/>
          <p:nvPr/>
        </p:nvSpPr>
        <p:spPr>
          <a:xfrm>
            <a:off x="548640" y="658440"/>
            <a:ext cx="11063520" cy="77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900" spc="-1" strike="noStrike">
                <a:solidFill>
                  <a:srgbClr val="0e2233"/>
                </a:solidFill>
                <a:latin typeface="Cambria"/>
                <a:ea typeface="Cambria"/>
              </a:rPr>
              <a:t>It rides free solar and dodges the evening peak</a:t>
            </a:r>
            <a:endParaRPr b="0" lang="en-US" sz="2900" spc="-1" strike="noStrike">
              <a:solidFill>
                <a:srgbClr val="000000"/>
              </a:solidFill>
              <a:latin typeface="Arial"/>
            </a:endParaRPr>
          </a:p>
        </p:txBody>
      </p:sp>
      <p:pic>
        <p:nvPicPr>
          <p:cNvPr id="545" name="Image 0" descr="/home/youc/hydrogen-dispatch/results/figures/day_schedule_ghardaia.png"/>
          <p:cNvPicPr/>
          <p:nvPr/>
        </p:nvPicPr>
        <p:blipFill>
          <a:blip r:embed="rId1"/>
          <a:stretch/>
        </p:blipFill>
        <p:spPr>
          <a:xfrm>
            <a:off x="411480" y="1463040"/>
            <a:ext cx="7771680" cy="5028480"/>
          </a:xfrm>
          <a:prstGeom prst="rect">
            <a:avLst/>
          </a:prstGeom>
          <a:ln w="0">
            <a:noFill/>
          </a:ln>
        </p:spPr>
      </p:pic>
      <p:sp>
        <p:nvSpPr>
          <p:cNvPr id="546" name="Shape 3"/>
          <p:cNvSpPr/>
          <p:nvPr/>
        </p:nvSpPr>
        <p:spPr>
          <a:xfrm>
            <a:off x="8549640" y="1691640"/>
            <a:ext cx="3108240" cy="1279440"/>
          </a:xfrm>
          <a:prstGeom prst="roundRect">
            <a:avLst>
              <a:gd name="adj" fmla="val 5714"/>
            </a:avLst>
          </a:prstGeom>
          <a:solidFill>
            <a:srgbClr val="ffffff"/>
          </a:solidFill>
          <a:ln w="12700">
            <a:solidFill>
              <a:srgbClr val="dce5ec"/>
            </a:solidFill>
            <a:round/>
          </a:ln>
          <a:effectLst>
            <a:outerShdw algn="bl" blurRad="114480" dir="5400000" dist="38160" kx="0" ky="0" rotWithShape="0" sx="100000" sy="100000">
              <a:srgbClr val="0e2233">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547" name="Text 4"/>
          <p:cNvSpPr/>
          <p:nvPr/>
        </p:nvSpPr>
        <p:spPr>
          <a:xfrm>
            <a:off x="8641080" y="1837800"/>
            <a:ext cx="2925360" cy="6026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700" spc="-1" strike="noStrike">
                <a:solidFill>
                  <a:srgbClr val="1c7293"/>
                </a:solidFill>
                <a:latin typeface="Cambria"/>
                <a:ea typeface="Cambria"/>
              </a:rPr>
              <a:t>≈ </a:t>
            </a:r>
            <a:r>
              <a:rPr b="1" lang="en-US" sz="2700" spc="-1" strike="noStrike">
                <a:solidFill>
                  <a:srgbClr val="1c7293"/>
                </a:solidFill>
                <a:latin typeface="Cambria"/>
                <a:ea typeface="Cambria"/>
              </a:rPr>
              <a:t>27.8</a:t>
            </a:r>
            <a:endParaRPr b="0" lang="en-US" sz="2700" spc="-1" strike="noStrike">
              <a:solidFill>
                <a:srgbClr val="000000"/>
              </a:solidFill>
              <a:latin typeface="Arial"/>
            </a:endParaRPr>
          </a:p>
        </p:txBody>
      </p:sp>
      <p:sp>
        <p:nvSpPr>
          <p:cNvPr id="548" name="Text 5"/>
          <p:cNvSpPr/>
          <p:nvPr/>
        </p:nvSpPr>
        <p:spPr>
          <a:xfrm>
            <a:off x="8659440" y="2477880"/>
            <a:ext cx="2888640" cy="419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pc="-1" strike="noStrike">
                <a:solidFill>
                  <a:srgbClr val="6b7c8f"/>
                </a:solidFill>
                <a:latin typeface="Calibri"/>
                <a:ea typeface="Calibri"/>
              </a:rPr>
              <a:t>DA/kg — clear summer, 200 kg/day</a:t>
            </a:r>
            <a:endParaRPr b="0" lang="en-US" sz="1100" spc="-1" strike="noStrike">
              <a:solidFill>
                <a:srgbClr val="000000"/>
              </a:solidFill>
              <a:latin typeface="Arial"/>
            </a:endParaRPr>
          </a:p>
        </p:txBody>
      </p:sp>
      <p:sp>
        <p:nvSpPr>
          <p:cNvPr id="549" name="Text 6"/>
          <p:cNvSpPr/>
          <p:nvPr/>
        </p:nvSpPr>
        <p:spPr>
          <a:xfrm>
            <a:off x="8549640" y="3154680"/>
            <a:ext cx="3199680" cy="3108240"/>
          </a:xfrm>
          <a:prstGeom prst="rect">
            <a:avLst/>
          </a:prstGeom>
          <a:noFill/>
          <a:ln w="0">
            <a:noFill/>
          </a:ln>
        </p:spPr>
        <p:style>
          <a:lnRef idx="0"/>
          <a:fillRef idx="0"/>
          <a:effectRef idx="0"/>
          <a:fontRef idx="minor"/>
        </p:style>
        <p:txBody>
          <a:bodyPr lIns="0" rIns="0" tIns="0" bIns="0" anchor="t">
            <a:noAutofit/>
          </a:bodyPr>
          <a:p>
            <a:pPr marL="177840" indent="-177840" defTabSz="914400">
              <a:lnSpc>
                <a:spcPct val="104000"/>
              </a:lnSpc>
              <a:spcAft>
                <a:spcPts val="799"/>
              </a:spcAft>
              <a:buClr>
                <a:srgbClr val="1a2733"/>
              </a:buClr>
              <a:buFont typeface="Symbol" charset="2"/>
              <a:buChar char=""/>
            </a:pPr>
            <a:r>
              <a:rPr b="0" lang="en-US" sz="1350" spc="-1" strike="noStrike">
                <a:solidFill>
                  <a:srgbClr val="1a2733"/>
                </a:solidFill>
                <a:latin typeface="Calibri"/>
                <a:ea typeface="Calibri"/>
              </a:rPr>
              <a:t>Full power on cheap night grid (1.21 DA).</a:t>
            </a:r>
            <a:endParaRPr b="0" lang="en-US" sz="135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350" spc="-1" strike="noStrike">
                <a:solidFill>
                  <a:srgbClr val="1a2733"/>
                </a:solidFill>
                <a:latin typeface="Calibri"/>
                <a:ea typeface="Calibri"/>
              </a:rPr>
              <a:t>Setpoint tracks the PV mid-day → near-zero grid import.</a:t>
            </a:r>
            <a:endParaRPr b="0" lang="en-US" sz="135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350" spc="-1" strike="noStrike">
                <a:solidFill>
                  <a:srgbClr val="1a2733"/>
                </a:solidFill>
                <a:latin typeface="Calibri"/>
                <a:ea typeface="Calibri"/>
              </a:rPr>
              <a:t>Backs off / shuts down through the 8.11 DA peak.</a:t>
            </a:r>
            <a:endParaRPr b="0" lang="en-US" sz="135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350" spc="-1" strike="noStrike">
                <a:solidFill>
                  <a:srgbClr val="1a2733"/>
                </a:solidFill>
                <a:latin typeface="Calibri"/>
                <a:ea typeface="Calibri"/>
              </a:rPr>
              <a:t>Cloudy day shows real 15-min cloud transients — the optimiser still finds the cheap windows.</a:t>
            </a:r>
            <a:endParaRPr b="0" lang="en-US" sz="1350" spc="-1" strike="noStrike">
              <a:solidFill>
                <a:srgbClr val="000000"/>
              </a:solidFill>
              <a:latin typeface="Arial"/>
            </a:endParaRPr>
          </a:p>
        </p:txBody>
      </p:sp>
      <p:sp>
        <p:nvSpPr>
          <p:cNvPr id="550" name="Text 7"/>
          <p:cNvSpPr/>
          <p:nvPr/>
        </p:nvSpPr>
        <p:spPr>
          <a:xfrm>
            <a:off x="548640" y="6437520"/>
            <a:ext cx="82288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900" spc="-1" strike="noStrike">
                <a:solidFill>
                  <a:srgbClr val="6b7c8f"/>
                </a:solidFill>
                <a:latin typeface="Calibri"/>
                <a:ea typeface="Calibri"/>
              </a:rPr>
              <a:t>Supervisory Dispatch Control · Solar–Grid–Electrolyzer H₂ Plant</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1" name="Text 0"/>
          <p:cNvSpPr/>
          <p:nvPr/>
        </p:nvSpPr>
        <p:spPr>
          <a:xfrm>
            <a:off x="11338560" y="6400800"/>
            <a:ext cx="456480" cy="291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050" spc="-1" strike="noStrike">
                <a:solidFill>
                  <a:srgbClr val="6b7c8f"/>
                </a:solidFill>
                <a:latin typeface="Calibri"/>
                <a:ea typeface="Calibri"/>
              </a:rPr>
              <a:t>21</a:t>
            </a:r>
            <a:endParaRPr b="0" lang="en-US" sz="1050" spc="-1" strike="noStrike">
              <a:solidFill>
                <a:srgbClr val="000000"/>
              </a:solidFill>
              <a:latin typeface="Arial"/>
            </a:endParaRPr>
          </a:p>
        </p:txBody>
      </p:sp>
      <p:sp>
        <p:nvSpPr>
          <p:cNvPr id="552" name="Text 1"/>
          <p:cNvSpPr/>
          <p:nvPr/>
        </p:nvSpPr>
        <p:spPr>
          <a:xfrm>
            <a:off x="548640" y="384120"/>
            <a:ext cx="109720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296" strike="noStrike">
                <a:solidFill>
                  <a:srgbClr val="1c7293"/>
                </a:solidFill>
                <a:latin typeface="Calibri"/>
                <a:ea typeface="Calibri"/>
              </a:rPr>
              <a:t>RESULT — VALUE VS TRADITIONAL OPERATION</a:t>
            </a:r>
            <a:endParaRPr b="0" lang="en-US" sz="1200" spc="-1" strike="noStrike">
              <a:solidFill>
                <a:srgbClr val="000000"/>
              </a:solidFill>
              <a:latin typeface="Arial"/>
            </a:endParaRPr>
          </a:p>
        </p:txBody>
      </p:sp>
      <p:sp>
        <p:nvSpPr>
          <p:cNvPr id="553" name="Text 2"/>
          <p:cNvSpPr/>
          <p:nvPr/>
        </p:nvSpPr>
        <p:spPr>
          <a:xfrm>
            <a:off x="548640" y="658440"/>
            <a:ext cx="11063520" cy="77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900" spc="-1" strike="noStrike">
                <a:solidFill>
                  <a:srgbClr val="0e2233"/>
                </a:solidFill>
                <a:latin typeface="Cambria"/>
                <a:ea typeface="Cambria"/>
              </a:rPr>
              <a:t>50–59 % cheaper than time-blind operation</a:t>
            </a:r>
            <a:endParaRPr b="0" lang="en-US" sz="2900" spc="-1" strike="noStrike">
              <a:solidFill>
                <a:srgbClr val="000000"/>
              </a:solidFill>
              <a:latin typeface="Arial"/>
            </a:endParaRPr>
          </a:p>
        </p:txBody>
      </p:sp>
      <p:pic>
        <p:nvPicPr>
          <p:cNvPr id="554" name="Image 0" descr="/home/youc/hydrogen-dispatch/results/figures/baseline_comparison_ghardaia.png"/>
          <p:cNvPicPr/>
          <p:nvPr/>
        </p:nvPicPr>
        <p:blipFill>
          <a:blip r:embed="rId1"/>
          <a:stretch/>
        </p:blipFill>
        <p:spPr>
          <a:xfrm>
            <a:off x="411480" y="1508760"/>
            <a:ext cx="7314480" cy="4571280"/>
          </a:xfrm>
          <a:prstGeom prst="rect">
            <a:avLst/>
          </a:prstGeom>
          <a:ln w="0">
            <a:noFill/>
          </a:ln>
        </p:spPr>
      </p:pic>
      <p:sp>
        <p:nvSpPr>
          <p:cNvPr id="555" name="Shape 3"/>
          <p:cNvSpPr/>
          <p:nvPr/>
        </p:nvSpPr>
        <p:spPr>
          <a:xfrm>
            <a:off x="8229600" y="1737360"/>
            <a:ext cx="1690920" cy="1279440"/>
          </a:xfrm>
          <a:prstGeom prst="roundRect">
            <a:avLst>
              <a:gd name="adj" fmla="val 5714"/>
            </a:avLst>
          </a:prstGeom>
          <a:solidFill>
            <a:srgbClr val="ffffff"/>
          </a:solidFill>
          <a:ln w="12700">
            <a:solidFill>
              <a:srgbClr val="dce5ec"/>
            </a:solidFill>
            <a:round/>
          </a:ln>
          <a:effectLst>
            <a:outerShdw algn="bl" blurRad="114480" dir="5400000" dist="38160" kx="0" ky="0" rotWithShape="0" sx="100000" sy="100000">
              <a:srgbClr val="0e2233">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556" name="Text 4"/>
          <p:cNvSpPr/>
          <p:nvPr/>
        </p:nvSpPr>
        <p:spPr>
          <a:xfrm>
            <a:off x="8321040" y="1883520"/>
            <a:ext cx="1508040" cy="6026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700" spc="-1" strike="noStrike">
                <a:solidFill>
                  <a:srgbClr val="f4a623"/>
                </a:solidFill>
                <a:latin typeface="Cambria"/>
                <a:ea typeface="Cambria"/>
              </a:rPr>
              <a:t>−</a:t>
            </a:r>
            <a:r>
              <a:rPr b="1" lang="en-US" sz="2700" spc="-1" strike="noStrike">
                <a:solidFill>
                  <a:srgbClr val="f4a623"/>
                </a:solidFill>
                <a:latin typeface="Cambria"/>
                <a:ea typeface="Cambria"/>
              </a:rPr>
              <a:t>59%</a:t>
            </a:r>
            <a:endParaRPr b="0" lang="en-US" sz="2700" spc="-1" strike="noStrike">
              <a:solidFill>
                <a:srgbClr val="000000"/>
              </a:solidFill>
              <a:latin typeface="Arial"/>
            </a:endParaRPr>
          </a:p>
        </p:txBody>
      </p:sp>
      <p:sp>
        <p:nvSpPr>
          <p:cNvPr id="557" name="Text 5"/>
          <p:cNvSpPr/>
          <p:nvPr/>
        </p:nvSpPr>
        <p:spPr>
          <a:xfrm>
            <a:off x="8339400" y="2523600"/>
            <a:ext cx="1471320" cy="419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pc="-1" strike="noStrike">
                <a:solidFill>
                  <a:srgbClr val="6b7c8f"/>
                </a:solidFill>
                <a:latin typeface="Calibri"/>
                <a:ea typeface="Calibri"/>
              </a:rPr>
              <a:t>vs constant baseload</a:t>
            </a:r>
            <a:endParaRPr b="0" lang="en-US" sz="1100" spc="-1" strike="noStrike">
              <a:solidFill>
                <a:srgbClr val="000000"/>
              </a:solidFill>
              <a:latin typeface="Arial"/>
            </a:endParaRPr>
          </a:p>
        </p:txBody>
      </p:sp>
      <p:sp>
        <p:nvSpPr>
          <p:cNvPr id="558" name="Shape 6"/>
          <p:cNvSpPr/>
          <p:nvPr/>
        </p:nvSpPr>
        <p:spPr>
          <a:xfrm>
            <a:off x="10012680" y="1737360"/>
            <a:ext cx="1690920" cy="1279440"/>
          </a:xfrm>
          <a:prstGeom prst="roundRect">
            <a:avLst>
              <a:gd name="adj" fmla="val 5714"/>
            </a:avLst>
          </a:prstGeom>
          <a:solidFill>
            <a:srgbClr val="ffffff"/>
          </a:solidFill>
          <a:ln w="12700">
            <a:solidFill>
              <a:srgbClr val="dce5ec"/>
            </a:solidFill>
            <a:round/>
          </a:ln>
          <a:effectLst>
            <a:outerShdw algn="bl" blurRad="114480" dir="5400000" dist="38160" kx="0" ky="0" rotWithShape="0" sx="100000" sy="100000">
              <a:srgbClr val="0e2233">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559" name="Text 7"/>
          <p:cNvSpPr/>
          <p:nvPr/>
        </p:nvSpPr>
        <p:spPr>
          <a:xfrm>
            <a:off x="10104120" y="1883520"/>
            <a:ext cx="1508040" cy="6026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700" spc="-1" strike="noStrike">
                <a:solidFill>
                  <a:srgbClr val="f4a623"/>
                </a:solidFill>
                <a:latin typeface="Cambria"/>
                <a:ea typeface="Cambria"/>
              </a:rPr>
              <a:t>−</a:t>
            </a:r>
            <a:r>
              <a:rPr b="1" lang="en-US" sz="2700" spc="-1" strike="noStrike">
                <a:solidFill>
                  <a:srgbClr val="f4a623"/>
                </a:solidFill>
                <a:latin typeface="Cambria"/>
                <a:ea typeface="Cambria"/>
              </a:rPr>
              <a:t>51%</a:t>
            </a:r>
            <a:endParaRPr b="0" lang="en-US" sz="2700" spc="-1" strike="noStrike">
              <a:solidFill>
                <a:srgbClr val="000000"/>
              </a:solidFill>
              <a:latin typeface="Arial"/>
            </a:endParaRPr>
          </a:p>
        </p:txBody>
      </p:sp>
      <p:sp>
        <p:nvSpPr>
          <p:cNvPr id="560" name="Text 8"/>
          <p:cNvSpPr/>
          <p:nvPr/>
        </p:nvSpPr>
        <p:spPr>
          <a:xfrm>
            <a:off x="10122480" y="2523600"/>
            <a:ext cx="1471320" cy="419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pc="-1" strike="noStrike">
                <a:solidFill>
                  <a:srgbClr val="6b7c8f"/>
                </a:solidFill>
                <a:latin typeface="Calibri"/>
                <a:ea typeface="Calibri"/>
              </a:rPr>
              <a:t>vs greedy ASAP</a:t>
            </a:r>
            <a:endParaRPr b="0" lang="en-US" sz="1100" spc="-1" strike="noStrike">
              <a:solidFill>
                <a:srgbClr val="000000"/>
              </a:solidFill>
              <a:latin typeface="Arial"/>
            </a:endParaRPr>
          </a:p>
        </p:txBody>
      </p:sp>
      <p:sp>
        <p:nvSpPr>
          <p:cNvPr id="561" name="Text 9"/>
          <p:cNvSpPr/>
          <p:nvPr/>
        </p:nvSpPr>
        <p:spPr>
          <a:xfrm>
            <a:off x="8229600" y="3246120"/>
            <a:ext cx="3519720" cy="2742480"/>
          </a:xfrm>
          <a:prstGeom prst="rect">
            <a:avLst/>
          </a:prstGeom>
          <a:noFill/>
          <a:ln w="0">
            <a:noFill/>
          </a:ln>
        </p:spPr>
        <p:style>
          <a:lnRef idx="0"/>
          <a:fillRef idx="0"/>
          <a:effectRef idx="0"/>
          <a:fontRef idx="minor"/>
        </p:style>
        <p:txBody>
          <a:bodyPr lIns="0" rIns="0" tIns="0" bIns="0" anchor="t">
            <a:noAutofit/>
          </a:bodyPr>
          <a:p>
            <a:pPr marL="177840" indent="-177840" defTabSz="914400">
              <a:lnSpc>
                <a:spcPct val="104000"/>
              </a:lnSpc>
              <a:spcAft>
                <a:spcPts val="799"/>
              </a:spcAft>
              <a:buClr>
                <a:srgbClr val="1a2733"/>
              </a:buClr>
              <a:buFont typeface="Symbol" charset="2"/>
              <a:buChar char=""/>
            </a:pPr>
            <a:r>
              <a:rPr b="0" lang="en-US" sz="1350" spc="-1" strike="noStrike">
                <a:solidFill>
                  <a:srgbClr val="1a2733"/>
                </a:solidFill>
                <a:latin typeface="Calibri"/>
                <a:ea typeface="Calibri"/>
              </a:rPr>
              <a:t>Same hydrogen, same plant, same tariff — only the dispatch timing differs.</a:t>
            </a:r>
            <a:endParaRPr b="0" lang="en-US" sz="135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350" spc="-1" strike="noStrike">
                <a:solidFill>
                  <a:srgbClr val="1a2733"/>
                </a:solidFill>
                <a:latin typeface="Calibri"/>
                <a:ea typeface="Calibri"/>
              </a:rPr>
              <a:t>Up to 100 % cheaper at low demand fully covered by solar.</a:t>
            </a:r>
            <a:endParaRPr b="0" lang="en-US" sz="135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350" spc="-1" strike="noStrike">
                <a:solidFill>
                  <a:srgbClr val="1a2733"/>
                </a:solidFill>
                <a:latin typeface="Calibri"/>
                <a:ea typeface="Calibri"/>
              </a:rPr>
              <a:t>Naive rules degrade as demand rises; the optimiser stays cheapest across the whole range.</a:t>
            </a:r>
            <a:endParaRPr b="0" lang="en-US" sz="1350" spc="-1" strike="noStrike">
              <a:solidFill>
                <a:srgbClr val="000000"/>
              </a:solidFill>
              <a:latin typeface="Arial"/>
            </a:endParaRPr>
          </a:p>
        </p:txBody>
      </p:sp>
      <p:sp>
        <p:nvSpPr>
          <p:cNvPr id="562" name="Text 10"/>
          <p:cNvSpPr/>
          <p:nvPr/>
        </p:nvSpPr>
        <p:spPr>
          <a:xfrm>
            <a:off x="548640" y="6437520"/>
            <a:ext cx="82288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900" spc="-1" strike="noStrike">
                <a:solidFill>
                  <a:srgbClr val="6b7c8f"/>
                </a:solidFill>
                <a:latin typeface="Calibri"/>
                <a:ea typeface="Calibri"/>
              </a:rPr>
              <a:t>Supervisory Dispatch Control · Solar–Grid–Electrolyzer H₂ Plant</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63" name="Text 0"/>
          <p:cNvSpPr/>
          <p:nvPr/>
        </p:nvSpPr>
        <p:spPr>
          <a:xfrm>
            <a:off x="11338560" y="6400800"/>
            <a:ext cx="456480" cy="291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050" spc="-1" strike="noStrike">
                <a:solidFill>
                  <a:srgbClr val="6b7c8f"/>
                </a:solidFill>
                <a:latin typeface="Calibri"/>
                <a:ea typeface="Calibri"/>
              </a:rPr>
              <a:t>22</a:t>
            </a:r>
            <a:endParaRPr b="0" lang="en-US" sz="1050" spc="-1" strike="noStrike">
              <a:solidFill>
                <a:srgbClr val="000000"/>
              </a:solidFill>
              <a:latin typeface="Arial"/>
            </a:endParaRPr>
          </a:p>
        </p:txBody>
      </p:sp>
      <p:sp>
        <p:nvSpPr>
          <p:cNvPr id="564" name="Text 1"/>
          <p:cNvSpPr/>
          <p:nvPr/>
        </p:nvSpPr>
        <p:spPr>
          <a:xfrm>
            <a:off x="548640" y="384120"/>
            <a:ext cx="109720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296" strike="noStrike">
                <a:solidFill>
                  <a:srgbClr val="1c7293"/>
                </a:solidFill>
                <a:latin typeface="Calibri"/>
                <a:ea typeface="Calibri"/>
              </a:rPr>
              <a:t>RESULT — CONTROL-STRATEGY COMPARISON (HEADLINE)</a:t>
            </a:r>
            <a:endParaRPr b="0" lang="en-US" sz="1200" spc="-1" strike="noStrike">
              <a:solidFill>
                <a:srgbClr val="000000"/>
              </a:solidFill>
              <a:latin typeface="Arial"/>
            </a:endParaRPr>
          </a:p>
        </p:txBody>
      </p:sp>
      <p:sp>
        <p:nvSpPr>
          <p:cNvPr id="565" name="Text 2"/>
          <p:cNvSpPr/>
          <p:nvPr/>
        </p:nvSpPr>
        <p:spPr>
          <a:xfrm>
            <a:off x="548640" y="658440"/>
            <a:ext cx="11063520" cy="77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900" spc="-1" strike="noStrike">
                <a:solidFill>
                  <a:srgbClr val="0e2233"/>
                </a:solidFill>
                <a:latin typeface="Cambria"/>
                <a:ea typeface="Cambria"/>
              </a:rPr>
              <a:t>MPC nearly matches the optimum, beats reactive control</a:t>
            </a:r>
            <a:endParaRPr b="0" lang="en-US" sz="2900" spc="-1" strike="noStrike">
              <a:solidFill>
                <a:srgbClr val="000000"/>
              </a:solidFill>
              <a:latin typeface="Arial"/>
            </a:endParaRPr>
          </a:p>
        </p:txBody>
      </p:sp>
      <p:pic>
        <p:nvPicPr>
          <p:cNvPr id="566" name="Image 0" descr="/home/youc/hydrogen-dispatch/results/figures/mpc_comparison.png"/>
          <p:cNvPicPr/>
          <p:nvPr/>
        </p:nvPicPr>
        <p:blipFill>
          <a:blip r:embed="rId1"/>
          <a:stretch/>
        </p:blipFill>
        <p:spPr>
          <a:xfrm>
            <a:off x="411480" y="1554480"/>
            <a:ext cx="7817400" cy="4479840"/>
          </a:xfrm>
          <a:prstGeom prst="rect">
            <a:avLst/>
          </a:prstGeom>
          <a:ln w="0">
            <a:noFill/>
          </a:ln>
        </p:spPr>
      </p:pic>
      <p:sp>
        <p:nvSpPr>
          <p:cNvPr id="567" name="Shape 3"/>
          <p:cNvSpPr/>
          <p:nvPr/>
        </p:nvSpPr>
        <p:spPr>
          <a:xfrm>
            <a:off x="8686800" y="1783080"/>
            <a:ext cx="3016800" cy="1279440"/>
          </a:xfrm>
          <a:prstGeom prst="roundRect">
            <a:avLst>
              <a:gd name="adj" fmla="val 5714"/>
            </a:avLst>
          </a:prstGeom>
          <a:solidFill>
            <a:srgbClr val="ffffff"/>
          </a:solidFill>
          <a:ln w="12700">
            <a:solidFill>
              <a:srgbClr val="dce5ec"/>
            </a:solidFill>
            <a:round/>
          </a:ln>
          <a:effectLst>
            <a:outerShdw algn="bl" blurRad="114480" dir="5400000" dist="38160" kx="0" ky="0" rotWithShape="0" sx="100000" sy="100000">
              <a:srgbClr val="0e2233">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568" name="Text 4"/>
          <p:cNvSpPr/>
          <p:nvPr/>
        </p:nvSpPr>
        <p:spPr>
          <a:xfrm>
            <a:off x="8778240" y="1929240"/>
            <a:ext cx="2833920" cy="6026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700" spc="-1" strike="noStrike">
                <a:solidFill>
                  <a:srgbClr val="2a9d8f"/>
                </a:solidFill>
                <a:latin typeface="Cambria"/>
                <a:ea typeface="Cambria"/>
              </a:rPr>
              <a:t>+2.4%</a:t>
            </a:r>
            <a:endParaRPr b="0" lang="en-US" sz="2700" spc="-1" strike="noStrike">
              <a:solidFill>
                <a:srgbClr val="000000"/>
              </a:solidFill>
              <a:latin typeface="Arial"/>
            </a:endParaRPr>
          </a:p>
        </p:txBody>
      </p:sp>
      <p:sp>
        <p:nvSpPr>
          <p:cNvPr id="569" name="Text 5"/>
          <p:cNvSpPr/>
          <p:nvPr/>
        </p:nvSpPr>
        <p:spPr>
          <a:xfrm>
            <a:off x="8796600" y="2569320"/>
            <a:ext cx="2797200" cy="419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pc="-1" strike="noStrike">
                <a:solidFill>
                  <a:srgbClr val="6b7c8f"/>
                </a:solidFill>
                <a:latin typeface="Calibri"/>
                <a:ea typeface="Calibri"/>
              </a:rPr>
              <a:t>MPC gap to perfect-foresight</a:t>
            </a:r>
            <a:endParaRPr b="0" lang="en-US" sz="1100" spc="-1" strike="noStrike">
              <a:solidFill>
                <a:srgbClr val="000000"/>
              </a:solidFill>
              <a:latin typeface="Arial"/>
            </a:endParaRPr>
          </a:p>
        </p:txBody>
      </p:sp>
      <p:sp>
        <p:nvSpPr>
          <p:cNvPr id="570" name="Shape 6"/>
          <p:cNvSpPr/>
          <p:nvPr/>
        </p:nvSpPr>
        <p:spPr>
          <a:xfrm>
            <a:off x="8686800" y="3246120"/>
            <a:ext cx="3016800" cy="1279440"/>
          </a:xfrm>
          <a:prstGeom prst="roundRect">
            <a:avLst>
              <a:gd name="adj" fmla="val 5714"/>
            </a:avLst>
          </a:prstGeom>
          <a:solidFill>
            <a:srgbClr val="ffffff"/>
          </a:solidFill>
          <a:ln w="12700">
            <a:solidFill>
              <a:srgbClr val="dce5ec"/>
            </a:solidFill>
            <a:round/>
          </a:ln>
          <a:effectLst>
            <a:outerShdw algn="bl" blurRad="114480" dir="5400000" dist="38160" kx="0" ky="0" rotWithShape="0" sx="100000" sy="100000">
              <a:srgbClr val="0e2233">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571" name="Text 7"/>
          <p:cNvSpPr/>
          <p:nvPr/>
        </p:nvSpPr>
        <p:spPr>
          <a:xfrm>
            <a:off x="8778240" y="3392280"/>
            <a:ext cx="2833920" cy="6026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700" spc="-1" strike="noStrike">
                <a:solidFill>
                  <a:srgbClr val="1c7293"/>
                </a:solidFill>
                <a:latin typeface="Cambria"/>
                <a:ea typeface="Cambria"/>
              </a:rPr>
              <a:t>−</a:t>
            </a:r>
            <a:r>
              <a:rPr b="1" lang="en-US" sz="2700" spc="-1" strike="noStrike">
                <a:solidFill>
                  <a:srgbClr val="1c7293"/>
                </a:solidFill>
                <a:latin typeface="Cambria"/>
                <a:ea typeface="Cambria"/>
              </a:rPr>
              <a:t>51%</a:t>
            </a:r>
            <a:endParaRPr b="0" lang="en-US" sz="2700" spc="-1" strike="noStrike">
              <a:solidFill>
                <a:srgbClr val="000000"/>
              </a:solidFill>
              <a:latin typeface="Arial"/>
            </a:endParaRPr>
          </a:p>
        </p:txBody>
      </p:sp>
      <p:sp>
        <p:nvSpPr>
          <p:cNvPr id="572" name="Text 8"/>
          <p:cNvSpPr/>
          <p:nvPr/>
        </p:nvSpPr>
        <p:spPr>
          <a:xfrm>
            <a:off x="8796600" y="4032360"/>
            <a:ext cx="2797200" cy="419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pc="-1" strike="noStrike">
                <a:solidFill>
                  <a:srgbClr val="6b7c8f"/>
                </a:solidFill>
                <a:latin typeface="Calibri"/>
                <a:ea typeface="Calibri"/>
              </a:rPr>
              <a:t>MPC vs reactive rule</a:t>
            </a:r>
            <a:endParaRPr b="0" lang="en-US" sz="1100" spc="-1" strike="noStrike">
              <a:solidFill>
                <a:srgbClr val="000000"/>
              </a:solidFill>
              <a:latin typeface="Arial"/>
            </a:endParaRPr>
          </a:p>
        </p:txBody>
      </p:sp>
      <p:sp>
        <p:nvSpPr>
          <p:cNvPr id="573" name="Text 9"/>
          <p:cNvSpPr/>
          <p:nvPr/>
        </p:nvSpPr>
        <p:spPr>
          <a:xfrm>
            <a:off x="8686800" y="4800600"/>
            <a:ext cx="3016800" cy="137088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300" spc="-1" strike="noStrike">
                <a:solidFill>
                  <a:srgbClr val="6b7c8f"/>
                </a:solidFill>
                <a:latin typeface="Calibri"/>
                <a:ea typeface="Calibri"/>
              </a:rPr>
              <a:t>Closed-loop MPC recovers ≈ 98 % of an unreachable optimum and roughly halves the cost of reactive control — across the year, with imperfect forecasts.</a:t>
            </a:r>
            <a:endParaRPr b="0" lang="en-US" sz="1300" spc="-1" strike="noStrike">
              <a:solidFill>
                <a:srgbClr val="000000"/>
              </a:solidFill>
              <a:latin typeface="Arial"/>
            </a:endParaRPr>
          </a:p>
        </p:txBody>
      </p:sp>
      <p:sp>
        <p:nvSpPr>
          <p:cNvPr id="574" name="Text 10"/>
          <p:cNvSpPr/>
          <p:nvPr/>
        </p:nvSpPr>
        <p:spPr>
          <a:xfrm>
            <a:off x="548640" y="6437520"/>
            <a:ext cx="82288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900" spc="-1" strike="noStrike">
                <a:solidFill>
                  <a:srgbClr val="6b7c8f"/>
                </a:solidFill>
                <a:latin typeface="Calibri"/>
                <a:ea typeface="Calibri"/>
              </a:rPr>
              <a:t>Supervisory Dispatch Control · Solar–Grid–Electrolyzer H₂ Plant</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75" name="Text 0"/>
          <p:cNvSpPr/>
          <p:nvPr/>
        </p:nvSpPr>
        <p:spPr>
          <a:xfrm>
            <a:off x="11338560" y="6400800"/>
            <a:ext cx="456480" cy="291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050" spc="-1" strike="noStrike">
                <a:solidFill>
                  <a:srgbClr val="6b7c8f"/>
                </a:solidFill>
                <a:latin typeface="Calibri"/>
                <a:ea typeface="Calibri"/>
              </a:rPr>
              <a:t>23</a:t>
            </a:r>
            <a:endParaRPr b="0" lang="en-US" sz="1050" spc="-1" strike="noStrike">
              <a:solidFill>
                <a:srgbClr val="000000"/>
              </a:solidFill>
              <a:latin typeface="Arial"/>
            </a:endParaRPr>
          </a:p>
        </p:txBody>
      </p:sp>
      <p:sp>
        <p:nvSpPr>
          <p:cNvPr id="576" name="Text 1"/>
          <p:cNvSpPr/>
          <p:nvPr/>
        </p:nvSpPr>
        <p:spPr>
          <a:xfrm>
            <a:off x="548640" y="384120"/>
            <a:ext cx="109720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296" strike="noStrike">
                <a:solidFill>
                  <a:srgbClr val="1c7293"/>
                </a:solidFill>
                <a:latin typeface="Calibri"/>
                <a:ea typeface="Calibri"/>
              </a:rPr>
              <a:t>RESULT — BEHAVIOUR TO DISTURBANCES</a:t>
            </a:r>
            <a:endParaRPr b="0" lang="en-US" sz="1200" spc="-1" strike="noStrike">
              <a:solidFill>
                <a:srgbClr val="000000"/>
              </a:solidFill>
              <a:latin typeface="Arial"/>
            </a:endParaRPr>
          </a:p>
        </p:txBody>
      </p:sp>
      <p:sp>
        <p:nvSpPr>
          <p:cNvPr id="577" name="Text 2"/>
          <p:cNvSpPr/>
          <p:nvPr/>
        </p:nvSpPr>
        <p:spPr>
          <a:xfrm>
            <a:off x="548640" y="658440"/>
            <a:ext cx="11063520" cy="77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900" spc="-1" strike="noStrike">
                <a:solidFill>
                  <a:srgbClr val="0e2233"/>
                </a:solidFill>
                <a:latin typeface="Cambria"/>
                <a:ea typeface="Cambria"/>
              </a:rPr>
              <a:t>What a passing cloud actually does</a:t>
            </a:r>
            <a:endParaRPr b="0" lang="en-US" sz="2900" spc="-1" strike="noStrike">
              <a:solidFill>
                <a:srgbClr val="000000"/>
              </a:solidFill>
              <a:latin typeface="Arial"/>
            </a:endParaRPr>
          </a:p>
        </p:txBody>
      </p:sp>
      <p:pic>
        <p:nvPicPr>
          <p:cNvPr id="578" name="Image 0" descr="/home/youc/hydrogen-dispatch/results/figures/mpc_cloud_anatomy.png"/>
          <p:cNvPicPr/>
          <p:nvPr/>
        </p:nvPicPr>
        <p:blipFill>
          <a:blip r:embed="rId1"/>
          <a:stretch/>
        </p:blipFill>
        <p:spPr>
          <a:xfrm>
            <a:off x="411480" y="1371600"/>
            <a:ext cx="11337840" cy="3400920"/>
          </a:xfrm>
          <a:prstGeom prst="rect">
            <a:avLst/>
          </a:prstGeom>
          <a:ln w="0">
            <a:noFill/>
          </a:ln>
        </p:spPr>
      </p:pic>
      <p:sp>
        <p:nvSpPr>
          <p:cNvPr id="579" name="Shape 3"/>
          <p:cNvSpPr/>
          <p:nvPr/>
        </p:nvSpPr>
        <p:spPr>
          <a:xfrm>
            <a:off x="548640" y="4956120"/>
            <a:ext cx="3611160" cy="1261080"/>
          </a:xfrm>
          <a:prstGeom prst="roundRect">
            <a:avLst>
              <a:gd name="adj" fmla="val 5797"/>
            </a:avLst>
          </a:prstGeom>
          <a:solidFill>
            <a:srgbClr val="eef3f7"/>
          </a:solidFill>
          <a:ln w="12700">
            <a:solidFill>
              <a:srgbClr val="dce5ec"/>
            </a:solidFill>
            <a:round/>
          </a:ln>
          <a:effectLst>
            <a:outerShdw algn="bl" blurRad="114480" dir="5400000" dist="38160" kx="0" ky="0" rotWithShape="0" sx="100000" sy="100000">
              <a:srgbClr val="0e2233">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580" name="Shape 4"/>
          <p:cNvSpPr/>
          <p:nvPr/>
        </p:nvSpPr>
        <p:spPr>
          <a:xfrm>
            <a:off x="548640" y="4956120"/>
            <a:ext cx="3611160" cy="72360"/>
          </a:xfrm>
          <a:prstGeom prst="rect">
            <a:avLst/>
          </a:prstGeom>
          <a:solidFill>
            <a:srgbClr val="e2643b"/>
          </a:solidFill>
          <a:ln w="0">
            <a:noFill/>
          </a:ln>
        </p:spPr>
        <p:style>
          <a:lnRef idx="0"/>
          <a:fillRef idx="0"/>
          <a:effectRef idx="0"/>
          <a:fontRef idx="minor"/>
        </p:style>
        <p:txBody>
          <a:bodyPr lIns="90000" rIns="90000" tIns="28080" bIns="28080" anchor="t">
            <a:noAutofit/>
          </a:bodyPr>
          <a:p>
            <a:pPr>
              <a:lnSpc>
                <a:spcPct val="100000"/>
              </a:lnSpc>
            </a:pPr>
            <a:endParaRPr b="0" lang="en-US" sz="1800" spc="-1" strike="noStrike">
              <a:solidFill>
                <a:srgbClr val="ffffff"/>
              </a:solidFill>
              <a:latin typeface="Arial"/>
            </a:endParaRPr>
          </a:p>
        </p:txBody>
      </p:sp>
      <p:sp>
        <p:nvSpPr>
          <p:cNvPr id="581" name="Text 5"/>
          <p:cNvSpPr/>
          <p:nvPr/>
        </p:nvSpPr>
        <p:spPr>
          <a:xfrm>
            <a:off x="749880" y="5083920"/>
            <a:ext cx="324540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pc="94" strike="noStrike">
                <a:solidFill>
                  <a:srgbClr val="e2643b"/>
                </a:solidFill>
                <a:latin typeface="Calibri"/>
                <a:ea typeface="Calibri"/>
              </a:rPr>
              <a:t>WITHIN THE HOUR — PHYSICS</a:t>
            </a:r>
            <a:endParaRPr b="0" lang="en-US" sz="1050" spc="-1" strike="noStrike">
              <a:solidFill>
                <a:srgbClr val="000000"/>
              </a:solidFill>
              <a:latin typeface="Arial"/>
            </a:endParaRPr>
          </a:p>
        </p:txBody>
      </p:sp>
      <p:sp>
        <p:nvSpPr>
          <p:cNvPr id="582" name="Text 6"/>
          <p:cNvSpPr/>
          <p:nvPr/>
        </p:nvSpPr>
        <p:spPr>
          <a:xfrm>
            <a:off x="749880" y="5340240"/>
            <a:ext cx="3245400" cy="822240"/>
          </a:xfrm>
          <a:prstGeom prst="rect">
            <a:avLst/>
          </a:prstGeom>
          <a:noFill/>
          <a:ln w="0">
            <a:noFill/>
          </a:ln>
        </p:spPr>
        <p:style>
          <a:lnRef idx="0"/>
          <a:fillRef idx="0"/>
          <a:effectRef idx="0"/>
          <a:fontRef idx="minor"/>
        </p:style>
        <p:txBody>
          <a:bodyPr lIns="0" rIns="0" tIns="0" bIns="0" anchor="t">
            <a:noAutofit/>
          </a:bodyPr>
          <a:p>
            <a:pPr defTabSz="914400">
              <a:lnSpc>
                <a:spcPct val="103000"/>
              </a:lnSpc>
              <a:tabLst>
                <a:tab algn="l" pos="0"/>
              </a:tabLst>
            </a:pPr>
            <a:r>
              <a:rPr b="0" lang="en-US" sz="980" spc="-1" strike="noStrike">
                <a:solidFill>
                  <a:srgbClr val="1a2733"/>
                </a:solidFill>
                <a:latin typeface="Calibri"/>
                <a:ea typeface="Calibri"/>
              </a:rPr>
              <a:t>u(k) is held; the grid absorbs every dip instantly: q = [u − d]⁺. A cloud costs money, never hydrogen — g(u) does not see the weather.</a:t>
            </a:r>
            <a:endParaRPr b="0" lang="en-US" sz="980" spc="-1" strike="noStrike">
              <a:solidFill>
                <a:srgbClr val="000000"/>
              </a:solidFill>
              <a:latin typeface="Arial"/>
            </a:endParaRPr>
          </a:p>
        </p:txBody>
      </p:sp>
      <p:sp>
        <p:nvSpPr>
          <p:cNvPr id="583" name="Shape 7"/>
          <p:cNvSpPr/>
          <p:nvPr/>
        </p:nvSpPr>
        <p:spPr>
          <a:xfrm>
            <a:off x="4380120" y="4956120"/>
            <a:ext cx="3611160" cy="1261080"/>
          </a:xfrm>
          <a:prstGeom prst="roundRect">
            <a:avLst>
              <a:gd name="adj" fmla="val 5797"/>
            </a:avLst>
          </a:prstGeom>
          <a:solidFill>
            <a:srgbClr val="eef3f7"/>
          </a:solidFill>
          <a:ln w="12700">
            <a:solidFill>
              <a:srgbClr val="dce5ec"/>
            </a:solidFill>
            <a:round/>
          </a:ln>
          <a:effectLst>
            <a:outerShdw algn="bl" blurRad="114480" dir="5400000" dist="38160" kx="0" ky="0" rotWithShape="0" sx="100000" sy="100000">
              <a:srgbClr val="0e2233">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584" name="Shape 8"/>
          <p:cNvSpPr/>
          <p:nvPr/>
        </p:nvSpPr>
        <p:spPr>
          <a:xfrm>
            <a:off x="4380120" y="4956120"/>
            <a:ext cx="3611160" cy="72360"/>
          </a:xfrm>
          <a:prstGeom prst="rect">
            <a:avLst/>
          </a:prstGeom>
          <a:solidFill>
            <a:srgbClr val="2a9d8f"/>
          </a:solidFill>
          <a:ln w="0">
            <a:noFill/>
          </a:ln>
        </p:spPr>
        <p:style>
          <a:lnRef idx="0"/>
          <a:fillRef idx="0"/>
          <a:effectRef idx="0"/>
          <a:fontRef idx="minor"/>
        </p:style>
        <p:txBody>
          <a:bodyPr lIns="90000" rIns="90000" tIns="28080" bIns="28080" anchor="t">
            <a:noAutofit/>
          </a:bodyPr>
          <a:p>
            <a:pPr>
              <a:lnSpc>
                <a:spcPct val="100000"/>
              </a:lnSpc>
            </a:pPr>
            <a:endParaRPr b="0" lang="en-US" sz="1800" spc="-1" strike="noStrike">
              <a:solidFill>
                <a:srgbClr val="ffffff"/>
              </a:solidFill>
              <a:latin typeface="Arial"/>
            </a:endParaRPr>
          </a:p>
        </p:txBody>
      </p:sp>
      <p:sp>
        <p:nvSpPr>
          <p:cNvPr id="585" name="Text 9"/>
          <p:cNvSpPr/>
          <p:nvPr/>
        </p:nvSpPr>
        <p:spPr>
          <a:xfrm>
            <a:off x="4581000" y="5083920"/>
            <a:ext cx="324540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pc="94" strike="noStrike">
                <a:solidFill>
                  <a:srgbClr val="2a9d8f"/>
                </a:solidFill>
                <a:latin typeface="Calibri"/>
                <a:ea typeface="Calibri"/>
              </a:rPr>
              <a:t>AT THE HOUR — FEEDBACK</a:t>
            </a:r>
            <a:endParaRPr b="0" lang="en-US" sz="1050" spc="-1" strike="noStrike">
              <a:solidFill>
                <a:srgbClr val="000000"/>
              </a:solidFill>
              <a:latin typeface="Arial"/>
            </a:endParaRPr>
          </a:p>
        </p:txBody>
      </p:sp>
      <p:sp>
        <p:nvSpPr>
          <p:cNvPr id="586" name="Text 10"/>
          <p:cNvSpPr/>
          <p:nvPr/>
        </p:nvSpPr>
        <p:spPr>
          <a:xfrm>
            <a:off x="4581000" y="5340240"/>
            <a:ext cx="3245400" cy="822240"/>
          </a:xfrm>
          <a:prstGeom prst="rect">
            <a:avLst/>
          </a:prstGeom>
          <a:noFill/>
          <a:ln w="0">
            <a:noFill/>
          </a:ln>
        </p:spPr>
        <p:style>
          <a:lnRef idx="0"/>
          <a:fillRef idx="0"/>
          <a:effectRef idx="0"/>
          <a:fontRef idx="minor"/>
        </p:style>
        <p:txBody>
          <a:bodyPr lIns="0" rIns="0" tIns="0" bIns="0" anchor="t">
            <a:noAutofit/>
          </a:bodyPr>
          <a:p>
            <a:pPr defTabSz="914400">
              <a:lnSpc>
                <a:spcPct val="103000"/>
              </a:lnSpc>
              <a:tabLst>
                <a:tab algn="l" pos="0"/>
              </a:tabLst>
            </a:pPr>
            <a:r>
              <a:rPr b="0" lang="en-US" sz="980" spc="-1" strike="noStrike">
                <a:solidFill>
                  <a:srgbClr val="1a2733"/>
                </a:solidFill>
                <a:latin typeface="Calibri"/>
                <a:ea typeface="Calibri"/>
              </a:rPr>
              <a:t>Realised energy updates the clearness α(k), and the rest of the day is re-optimised. α integrates energy: fast transients are filtered out; a persistent overcast shifts the whole plan.</a:t>
            </a:r>
            <a:endParaRPr b="0" lang="en-US" sz="980" spc="-1" strike="noStrike">
              <a:solidFill>
                <a:srgbClr val="000000"/>
              </a:solidFill>
              <a:latin typeface="Arial"/>
            </a:endParaRPr>
          </a:p>
        </p:txBody>
      </p:sp>
      <p:sp>
        <p:nvSpPr>
          <p:cNvPr id="587" name="Shape 11"/>
          <p:cNvSpPr/>
          <p:nvPr/>
        </p:nvSpPr>
        <p:spPr>
          <a:xfrm>
            <a:off x="8211240" y="4956120"/>
            <a:ext cx="3611160" cy="1261080"/>
          </a:xfrm>
          <a:prstGeom prst="roundRect">
            <a:avLst>
              <a:gd name="adj" fmla="val 5797"/>
            </a:avLst>
          </a:prstGeom>
          <a:solidFill>
            <a:srgbClr val="eef3f7"/>
          </a:solidFill>
          <a:ln w="12700">
            <a:solidFill>
              <a:srgbClr val="dce5ec"/>
            </a:solidFill>
            <a:round/>
          </a:ln>
          <a:effectLst>
            <a:outerShdw algn="bl" blurRad="114480" dir="5400000" dist="38160" kx="0" ky="0" rotWithShape="0" sx="100000" sy="100000">
              <a:srgbClr val="0e2233">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588" name="Shape 12"/>
          <p:cNvSpPr/>
          <p:nvPr/>
        </p:nvSpPr>
        <p:spPr>
          <a:xfrm>
            <a:off x="8211240" y="4956120"/>
            <a:ext cx="3611160" cy="72360"/>
          </a:xfrm>
          <a:prstGeom prst="rect">
            <a:avLst/>
          </a:prstGeom>
          <a:solidFill>
            <a:srgbClr val="1c7293"/>
          </a:solidFill>
          <a:ln w="0">
            <a:noFill/>
          </a:ln>
        </p:spPr>
        <p:style>
          <a:lnRef idx="0"/>
          <a:fillRef idx="0"/>
          <a:effectRef idx="0"/>
          <a:fontRef idx="minor"/>
        </p:style>
        <p:txBody>
          <a:bodyPr lIns="90000" rIns="90000" tIns="28080" bIns="28080" anchor="t">
            <a:noAutofit/>
          </a:bodyPr>
          <a:p>
            <a:pPr>
              <a:lnSpc>
                <a:spcPct val="100000"/>
              </a:lnSpc>
            </a:pPr>
            <a:endParaRPr b="0" lang="en-US" sz="1800" spc="-1" strike="noStrike">
              <a:solidFill>
                <a:srgbClr val="ffffff"/>
              </a:solidFill>
              <a:latin typeface="Arial"/>
            </a:endParaRPr>
          </a:p>
        </p:txBody>
      </p:sp>
      <p:sp>
        <p:nvSpPr>
          <p:cNvPr id="589" name="Text 13"/>
          <p:cNvSpPr/>
          <p:nvPr/>
        </p:nvSpPr>
        <p:spPr>
          <a:xfrm>
            <a:off x="8412480" y="5083920"/>
            <a:ext cx="324540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pc="94" strike="noStrike">
                <a:solidFill>
                  <a:srgbClr val="1c7293"/>
                </a:solidFill>
                <a:latin typeface="Calibri"/>
                <a:ea typeface="Calibri"/>
              </a:rPr>
              <a:t>THE PRICE — SMALL</a:t>
            </a:r>
            <a:endParaRPr b="0" lang="en-US" sz="1050" spc="-1" strike="noStrike">
              <a:solidFill>
                <a:srgbClr val="000000"/>
              </a:solidFill>
              <a:latin typeface="Arial"/>
            </a:endParaRPr>
          </a:p>
        </p:txBody>
      </p:sp>
      <p:sp>
        <p:nvSpPr>
          <p:cNvPr id="590" name="Text 14"/>
          <p:cNvSpPr/>
          <p:nvPr/>
        </p:nvSpPr>
        <p:spPr>
          <a:xfrm>
            <a:off x="8412480" y="5340240"/>
            <a:ext cx="3245400" cy="822240"/>
          </a:xfrm>
          <a:prstGeom prst="rect">
            <a:avLst/>
          </a:prstGeom>
          <a:noFill/>
          <a:ln w="0">
            <a:noFill/>
          </a:ln>
        </p:spPr>
        <p:style>
          <a:lnRef idx="0"/>
          <a:fillRef idx="0"/>
          <a:effectRef idx="0"/>
          <a:fontRef idx="minor"/>
        </p:style>
        <p:txBody>
          <a:bodyPr lIns="0" rIns="0" tIns="0" bIns="0" anchor="t">
            <a:noAutofit/>
          </a:bodyPr>
          <a:p>
            <a:pPr defTabSz="914400">
              <a:lnSpc>
                <a:spcPct val="103000"/>
              </a:lnSpc>
              <a:tabLst>
                <a:tab algn="l" pos="0"/>
              </a:tabLst>
            </a:pPr>
            <a:r>
              <a:rPr b="0" lang="en-US" sz="980" spc="-1" strike="noStrike">
                <a:solidFill>
                  <a:srgbClr val="1a2733"/>
                </a:solidFill>
                <a:latin typeface="Calibri"/>
                <a:ea typeface="Calibri"/>
              </a:rPr>
              <a:t>This real cloudy day: 200 kg delivered, 55.6 vs 54.4 DA/kg — only +2.1 % above perfect foresight. Year average +2.4 %; worst day ≈ +10 %.</a:t>
            </a:r>
            <a:endParaRPr b="0" lang="en-US" sz="980" spc="-1" strike="noStrike">
              <a:solidFill>
                <a:srgbClr val="000000"/>
              </a:solidFill>
              <a:latin typeface="Arial"/>
            </a:endParaRPr>
          </a:p>
        </p:txBody>
      </p:sp>
      <p:sp>
        <p:nvSpPr>
          <p:cNvPr id="591" name="Text 15"/>
          <p:cNvSpPr/>
          <p:nvPr/>
        </p:nvSpPr>
        <p:spPr>
          <a:xfrm>
            <a:off x="548640" y="6437520"/>
            <a:ext cx="82288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900" spc="-1" strike="noStrike">
                <a:solidFill>
                  <a:srgbClr val="6b7c8f"/>
                </a:solidFill>
                <a:latin typeface="Calibri"/>
                <a:ea typeface="Calibri"/>
              </a:rPr>
              <a:t>Supervisory Dispatch Control · Solar–Grid–Electrolyzer H₂ Plant</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92" name="Text 0"/>
          <p:cNvSpPr/>
          <p:nvPr/>
        </p:nvSpPr>
        <p:spPr>
          <a:xfrm>
            <a:off x="11338560" y="6400800"/>
            <a:ext cx="456480" cy="291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050" spc="-1" strike="noStrike">
                <a:solidFill>
                  <a:srgbClr val="6b7c8f"/>
                </a:solidFill>
                <a:latin typeface="Calibri"/>
                <a:ea typeface="Calibri"/>
              </a:rPr>
              <a:t>24</a:t>
            </a:r>
            <a:endParaRPr b="0" lang="en-US" sz="1050" spc="-1" strike="noStrike">
              <a:solidFill>
                <a:srgbClr val="000000"/>
              </a:solidFill>
              <a:latin typeface="Arial"/>
            </a:endParaRPr>
          </a:p>
        </p:txBody>
      </p:sp>
      <p:sp>
        <p:nvSpPr>
          <p:cNvPr id="593" name="Text 1"/>
          <p:cNvSpPr/>
          <p:nvPr/>
        </p:nvSpPr>
        <p:spPr>
          <a:xfrm>
            <a:off x="548640" y="384120"/>
            <a:ext cx="109720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296" strike="noStrike">
                <a:solidFill>
                  <a:srgbClr val="1c7293"/>
                </a:solidFill>
                <a:latin typeface="Calibri"/>
                <a:ea typeface="Calibri"/>
              </a:rPr>
              <a:t>RESULT — FULL-YEAR 2023 PERFORMANCE</a:t>
            </a:r>
            <a:endParaRPr b="0" lang="en-US" sz="1200" spc="-1" strike="noStrike">
              <a:solidFill>
                <a:srgbClr val="000000"/>
              </a:solidFill>
              <a:latin typeface="Arial"/>
            </a:endParaRPr>
          </a:p>
        </p:txBody>
      </p:sp>
      <p:sp>
        <p:nvSpPr>
          <p:cNvPr id="594" name="Text 2"/>
          <p:cNvSpPr/>
          <p:nvPr/>
        </p:nvSpPr>
        <p:spPr>
          <a:xfrm>
            <a:off x="548640" y="658440"/>
            <a:ext cx="11063520" cy="77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900" spc="-1" strike="noStrike">
                <a:solidFill>
                  <a:srgbClr val="0e2233"/>
                </a:solidFill>
                <a:latin typeface="Cambria"/>
                <a:ea typeface="Cambria"/>
              </a:rPr>
              <a:t>A whole year: cheap green summers, dear winters</a:t>
            </a:r>
            <a:endParaRPr b="0" lang="en-US" sz="2900" spc="-1" strike="noStrike">
              <a:solidFill>
                <a:srgbClr val="000000"/>
              </a:solidFill>
              <a:latin typeface="Arial"/>
            </a:endParaRPr>
          </a:p>
        </p:txBody>
      </p:sp>
      <p:pic>
        <p:nvPicPr>
          <p:cNvPr id="595" name="Image 0" descr="/home/youc/hydrogen-dispatch/results/figures/annual_calendar.png"/>
          <p:cNvPicPr/>
          <p:nvPr/>
        </p:nvPicPr>
        <p:blipFill>
          <a:blip r:embed="rId1"/>
          <a:stretch/>
        </p:blipFill>
        <p:spPr>
          <a:xfrm>
            <a:off x="411480" y="1508760"/>
            <a:ext cx="7040160" cy="2696760"/>
          </a:xfrm>
          <a:prstGeom prst="rect">
            <a:avLst/>
          </a:prstGeom>
          <a:ln w="0">
            <a:noFill/>
          </a:ln>
        </p:spPr>
      </p:pic>
      <p:pic>
        <p:nvPicPr>
          <p:cNvPr id="596" name="Image 1" descr="/home/youc/hydrogen-dispatch/results/figures/annual_monthly.png"/>
          <p:cNvPicPr/>
          <p:nvPr/>
        </p:nvPicPr>
        <p:blipFill>
          <a:blip r:embed="rId2"/>
          <a:stretch/>
        </p:blipFill>
        <p:spPr>
          <a:xfrm>
            <a:off x="502920" y="4160520"/>
            <a:ext cx="6857280" cy="2331000"/>
          </a:xfrm>
          <a:prstGeom prst="rect">
            <a:avLst/>
          </a:prstGeom>
          <a:ln w="0">
            <a:noFill/>
          </a:ln>
        </p:spPr>
      </p:pic>
      <p:sp>
        <p:nvSpPr>
          <p:cNvPr id="597" name="Shape 3"/>
          <p:cNvSpPr/>
          <p:nvPr/>
        </p:nvSpPr>
        <p:spPr>
          <a:xfrm>
            <a:off x="7726680" y="1691640"/>
            <a:ext cx="1965240" cy="1279440"/>
          </a:xfrm>
          <a:prstGeom prst="roundRect">
            <a:avLst>
              <a:gd name="adj" fmla="val 5714"/>
            </a:avLst>
          </a:prstGeom>
          <a:solidFill>
            <a:srgbClr val="ffffff"/>
          </a:solidFill>
          <a:ln w="12700">
            <a:solidFill>
              <a:srgbClr val="dce5ec"/>
            </a:solidFill>
            <a:round/>
          </a:ln>
          <a:effectLst>
            <a:outerShdw algn="bl" blurRad="114480" dir="5400000" dist="38160" kx="0" ky="0" rotWithShape="0" sx="100000" sy="100000">
              <a:srgbClr val="0e2233">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598" name="Text 4"/>
          <p:cNvSpPr/>
          <p:nvPr/>
        </p:nvSpPr>
        <p:spPr>
          <a:xfrm>
            <a:off x="7818120" y="1837800"/>
            <a:ext cx="1782360" cy="6026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700" spc="-1" strike="noStrike">
                <a:solidFill>
                  <a:srgbClr val="1c7293"/>
                </a:solidFill>
                <a:latin typeface="Cambria"/>
                <a:ea typeface="Cambria"/>
              </a:rPr>
              <a:t>72.8 t</a:t>
            </a:r>
            <a:endParaRPr b="0" lang="en-US" sz="2700" spc="-1" strike="noStrike">
              <a:solidFill>
                <a:srgbClr val="000000"/>
              </a:solidFill>
              <a:latin typeface="Arial"/>
            </a:endParaRPr>
          </a:p>
        </p:txBody>
      </p:sp>
      <p:sp>
        <p:nvSpPr>
          <p:cNvPr id="599" name="Text 5"/>
          <p:cNvSpPr/>
          <p:nvPr/>
        </p:nvSpPr>
        <p:spPr>
          <a:xfrm>
            <a:off x="7836480" y="2477880"/>
            <a:ext cx="1745640" cy="419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pc="-1" strike="noStrike">
                <a:solidFill>
                  <a:srgbClr val="6b7c8f"/>
                </a:solidFill>
                <a:latin typeface="Calibri"/>
                <a:ea typeface="Calibri"/>
              </a:rPr>
              <a:t>H₂ / year</a:t>
            </a:r>
            <a:endParaRPr b="0" lang="en-US" sz="1100" spc="-1" strike="noStrike">
              <a:solidFill>
                <a:srgbClr val="000000"/>
              </a:solidFill>
              <a:latin typeface="Arial"/>
            </a:endParaRPr>
          </a:p>
        </p:txBody>
      </p:sp>
      <p:sp>
        <p:nvSpPr>
          <p:cNvPr id="600" name="Shape 6"/>
          <p:cNvSpPr/>
          <p:nvPr/>
        </p:nvSpPr>
        <p:spPr>
          <a:xfrm>
            <a:off x="9738360" y="1691640"/>
            <a:ext cx="1919520" cy="1279440"/>
          </a:xfrm>
          <a:prstGeom prst="roundRect">
            <a:avLst>
              <a:gd name="adj" fmla="val 5714"/>
            </a:avLst>
          </a:prstGeom>
          <a:solidFill>
            <a:srgbClr val="ffffff"/>
          </a:solidFill>
          <a:ln w="12700">
            <a:solidFill>
              <a:srgbClr val="dce5ec"/>
            </a:solidFill>
            <a:round/>
          </a:ln>
          <a:effectLst>
            <a:outerShdw algn="bl" blurRad="114480" dir="5400000" dist="38160" kx="0" ky="0" rotWithShape="0" sx="100000" sy="100000">
              <a:srgbClr val="0e2233">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601" name="Text 7"/>
          <p:cNvSpPr/>
          <p:nvPr/>
        </p:nvSpPr>
        <p:spPr>
          <a:xfrm>
            <a:off x="9829800" y="1837800"/>
            <a:ext cx="1736640" cy="6026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700" spc="-1" strike="noStrike">
                <a:solidFill>
                  <a:srgbClr val="2a9d8f"/>
                </a:solidFill>
                <a:latin typeface="Cambria"/>
                <a:ea typeface="Cambria"/>
              </a:rPr>
              <a:t>364/364</a:t>
            </a:r>
            <a:endParaRPr b="0" lang="en-US" sz="2700" spc="-1" strike="noStrike">
              <a:solidFill>
                <a:srgbClr val="000000"/>
              </a:solidFill>
              <a:latin typeface="Arial"/>
            </a:endParaRPr>
          </a:p>
        </p:txBody>
      </p:sp>
      <p:sp>
        <p:nvSpPr>
          <p:cNvPr id="602" name="Text 8"/>
          <p:cNvSpPr/>
          <p:nvPr/>
        </p:nvSpPr>
        <p:spPr>
          <a:xfrm>
            <a:off x="9848160" y="2477880"/>
            <a:ext cx="1699920" cy="419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pc="-1" strike="noStrike">
                <a:solidFill>
                  <a:srgbClr val="6b7c8f"/>
                </a:solidFill>
                <a:latin typeface="Calibri"/>
                <a:ea typeface="Calibri"/>
              </a:rPr>
              <a:t>days demand met</a:t>
            </a:r>
            <a:endParaRPr b="0" lang="en-US" sz="1100" spc="-1" strike="noStrike">
              <a:solidFill>
                <a:srgbClr val="000000"/>
              </a:solidFill>
              <a:latin typeface="Arial"/>
            </a:endParaRPr>
          </a:p>
        </p:txBody>
      </p:sp>
      <p:sp>
        <p:nvSpPr>
          <p:cNvPr id="603" name="Shape 9"/>
          <p:cNvSpPr/>
          <p:nvPr/>
        </p:nvSpPr>
        <p:spPr>
          <a:xfrm>
            <a:off x="7726680" y="3154680"/>
            <a:ext cx="1965240" cy="1279440"/>
          </a:xfrm>
          <a:prstGeom prst="roundRect">
            <a:avLst>
              <a:gd name="adj" fmla="val 5714"/>
            </a:avLst>
          </a:prstGeom>
          <a:solidFill>
            <a:srgbClr val="ffffff"/>
          </a:solidFill>
          <a:ln w="12700">
            <a:solidFill>
              <a:srgbClr val="dce5ec"/>
            </a:solidFill>
            <a:round/>
          </a:ln>
          <a:effectLst>
            <a:outerShdw algn="bl" blurRad="114480" dir="5400000" dist="38160" kx="0" ky="0" rotWithShape="0" sx="100000" sy="100000">
              <a:srgbClr val="0e2233">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604" name="Text 10"/>
          <p:cNvSpPr/>
          <p:nvPr/>
        </p:nvSpPr>
        <p:spPr>
          <a:xfrm>
            <a:off x="7818120" y="3300840"/>
            <a:ext cx="1782360" cy="6026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700" spc="-1" strike="noStrike">
                <a:solidFill>
                  <a:srgbClr val="1c7293"/>
                </a:solidFill>
                <a:latin typeface="Cambria"/>
                <a:ea typeface="Cambria"/>
              </a:rPr>
              <a:t>45.8</a:t>
            </a:r>
            <a:endParaRPr b="0" lang="en-US" sz="2700" spc="-1" strike="noStrike">
              <a:solidFill>
                <a:srgbClr val="000000"/>
              </a:solidFill>
              <a:latin typeface="Arial"/>
            </a:endParaRPr>
          </a:p>
        </p:txBody>
      </p:sp>
      <p:sp>
        <p:nvSpPr>
          <p:cNvPr id="605" name="Text 11"/>
          <p:cNvSpPr/>
          <p:nvPr/>
        </p:nvSpPr>
        <p:spPr>
          <a:xfrm>
            <a:off x="7836480" y="3940920"/>
            <a:ext cx="1745640" cy="419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pc="-1" strike="noStrike">
                <a:solidFill>
                  <a:srgbClr val="6b7c8f"/>
                </a:solidFill>
                <a:latin typeface="Calibri"/>
                <a:ea typeface="Calibri"/>
              </a:rPr>
              <a:t>DA/kg avg (28–82)</a:t>
            </a:r>
            <a:endParaRPr b="0" lang="en-US" sz="1100" spc="-1" strike="noStrike">
              <a:solidFill>
                <a:srgbClr val="000000"/>
              </a:solidFill>
              <a:latin typeface="Arial"/>
            </a:endParaRPr>
          </a:p>
        </p:txBody>
      </p:sp>
      <p:sp>
        <p:nvSpPr>
          <p:cNvPr id="606" name="Shape 12"/>
          <p:cNvSpPr/>
          <p:nvPr/>
        </p:nvSpPr>
        <p:spPr>
          <a:xfrm>
            <a:off x="9738360" y="3154680"/>
            <a:ext cx="1919520" cy="1279440"/>
          </a:xfrm>
          <a:prstGeom prst="roundRect">
            <a:avLst>
              <a:gd name="adj" fmla="val 5714"/>
            </a:avLst>
          </a:prstGeom>
          <a:solidFill>
            <a:srgbClr val="ffffff"/>
          </a:solidFill>
          <a:ln w="12700">
            <a:solidFill>
              <a:srgbClr val="dce5ec"/>
            </a:solidFill>
            <a:round/>
          </a:ln>
          <a:effectLst>
            <a:outerShdw algn="bl" blurRad="114480" dir="5400000" dist="38160" kx="0" ky="0" rotWithShape="0" sx="100000" sy="100000">
              <a:srgbClr val="0e2233">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607" name="Text 13"/>
          <p:cNvSpPr/>
          <p:nvPr/>
        </p:nvSpPr>
        <p:spPr>
          <a:xfrm>
            <a:off x="9829800" y="3300840"/>
            <a:ext cx="1736640" cy="6026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700" spc="-1" strike="noStrike">
                <a:solidFill>
                  <a:srgbClr val="2a9d8f"/>
                </a:solidFill>
                <a:latin typeface="Cambria"/>
                <a:ea typeface="Cambria"/>
              </a:rPr>
              <a:t>37 %</a:t>
            </a:r>
            <a:endParaRPr b="0" lang="en-US" sz="2700" spc="-1" strike="noStrike">
              <a:solidFill>
                <a:srgbClr val="000000"/>
              </a:solidFill>
              <a:latin typeface="Arial"/>
            </a:endParaRPr>
          </a:p>
        </p:txBody>
      </p:sp>
      <p:sp>
        <p:nvSpPr>
          <p:cNvPr id="608" name="Text 14"/>
          <p:cNvSpPr/>
          <p:nvPr/>
        </p:nvSpPr>
        <p:spPr>
          <a:xfrm>
            <a:off x="9848160" y="3940920"/>
            <a:ext cx="1699920" cy="419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pc="-1" strike="noStrike">
                <a:solidFill>
                  <a:srgbClr val="6b7c8f"/>
                </a:solidFill>
                <a:latin typeface="Calibri"/>
                <a:ea typeface="Calibri"/>
              </a:rPr>
              <a:t>solar-powered</a:t>
            </a:r>
            <a:endParaRPr b="0" lang="en-US" sz="1100" spc="-1" strike="noStrike">
              <a:solidFill>
                <a:srgbClr val="000000"/>
              </a:solidFill>
              <a:latin typeface="Arial"/>
            </a:endParaRPr>
          </a:p>
        </p:txBody>
      </p:sp>
      <p:sp>
        <p:nvSpPr>
          <p:cNvPr id="609" name="Text 15"/>
          <p:cNvSpPr/>
          <p:nvPr/>
        </p:nvSpPr>
        <p:spPr>
          <a:xfrm>
            <a:off x="7726680" y="4617720"/>
            <a:ext cx="3976920" cy="1828080"/>
          </a:xfrm>
          <a:prstGeom prst="rect">
            <a:avLst/>
          </a:prstGeom>
          <a:noFill/>
          <a:ln w="0">
            <a:noFill/>
          </a:ln>
        </p:spPr>
        <p:style>
          <a:lnRef idx="0"/>
          <a:fillRef idx="0"/>
          <a:effectRef idx="0"/>
          <a:fontRef idx="minor"/>
        </p:style>
        <p:txBody>
          <a:bodyPr lIns="0" rIns="0" tIns="0" bIns="0" anchor="t">
            <a:noAutofit/>
          </a:bodyPr>
          <a:p>
            <a:pPr marL="177840" indent="-177840" defTabSz="914400">
              <a:lnSpc>
                <a:spcPct val="104000"/>
              </a:lnSpc>
              <a:spcAft>
                <a:spcPts val="799"/>
              </a:spcAft>
              <a:buClr>
                <a:srgbClr val="1a2733"/>
              </a:buClr>
              <a:buFont typeface="Symbol" charset="2"/>
              <a:buChar char=""/>
            </a:pPr>
            <a:r>
              <a:rPr b="0" lang="en-US" sz="1300" spc="-1" strike="noStrike">
                <a:solidFill>
                  <a:srgbClr val="1a2733"/>
                </a:solidFill>
                <a:latin typeface="Calibri"/>
                <a:ea typeface="Calibri"/>
              </a:rPr>
              <a:t>364 days simulated end-to-end on real PV.</a:t>
            </a:r>
            <a:endParaRPr b="0" lang="en-US" sz="130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300" spc="-1" strike="noStrike">
                <a:solidFill>
                  <a:srgbClr val="1a2733"/>
                </a:solidFill>
                <a:latin typeface="Calibri"/>
                <a:ea typeface="Calibri"/>
              </a:rPr>
              <a:t>Total 3.33 M DA/yr; strong seasonal pattern.</a:t>
            </a:r>
            <a:endParaRPr b="0" lang="en-US" sz="130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300" spc="-1" strike="noStrike">
                <a:solidFill>
                  <a:srgbClr val="1a2733"/>
                </a:solidFill>
                <a:latin typeface="Calibri"/>
                <a:ea typeface="Calibri"/>
              </a:rPr>
              <a:t>Summer ≈ 28 DA/kg, winter ≈ 82 DA/kg — the calendar heatmap shows it at a glance.</a:t>
            </a:r>
            <a:endParaRPr b="0" lang="en-US" sz="1300" spc="-1" strike="noStrike">
              <a:solidFill>
                <a:srgbClr val="000000"/>
              </a:solidFill>
              <a:latin typeface="Arial"/>
            </a:endParaRPr>
          </a:p>
        </p:txBody>
      </p:sp>
      <p:sp>
        <p:nvSpPr>
          <p:cNvPr id="610" name="Text 16"/>
          <p:cNvSpPr/>
          <p:nvPr/>
        </p:nvSpPr>
        <p:spPr>
          <a:xfrm>
            <a:off x="548640" y="6437520"/>
            <a:ext cx="82288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900" spc="-1" strike="noStrike">
                <a:solidFill>
                  <a:srgbClr val="6b7c8f"/>
                </a:solidFill>
                <a:latin typeface="Calibri"/>
                <a:ea typeface="Calibri"/>
              </a:rPr>
              <a:t>Supervisory Dispatch Control · Solar–Grid–Electrolyzer H₂ Plant</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1" name="Text 0"/>
          <p:cNvSpPr/>
          <p:nvPr/>
        </p:nvSpPr>
        <p:spPr>
          <a:xfrm>
            <a:off x="11338560" y="6400800"/>
            <a:ext cx="456480" cy="291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050" spc="-1" strike="noStrike">
                <a:solidFill>
                  <a:srgbClr val="6b7c8f"/>
                </a:solidFill>
                <a:latin typeface="Calibri"/>
                <a:ea typeface="Calibri"/>
              </a:rPr>
              <a:t>25</a:t>
            </a:r>
            <a:endParaRPr b="0" lang="en-US" sz="1050" spc="-1" strike="noStrike">
              <a:solidFill>
                <a:srgbClr val="000000"/>
              </a:solidFill>
              <a:latin typeface="Arial"/>
            </a:endParaRPr>
          </a:p>
        </p:txBody>
      </p:sp>
      <p:sp>
        <p:nvSpPr>
          <p:cNvPr id="612" name="Text 1"/>
          <p:cNvSpPr/>
          <p:nvPr/>
        </p:nvSpPr>
        <p:spPr>
          <a:xfrm>
            <a:off x="548640" y="384120"/>
            <a:ext cx="109720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296" strike="noStrike">
                <a:solidFill>
                  <a:srgbClr val="1c7293"/>
                </a:solidFill>
                <a:latin typeface="Calibri"/>
                <a:ea typeface="Calibri"/>
              </a:rPr>
              <a:t>RESULT — STORAGE FEASIBILITY (AN HONEST FINDING)</a:t>
            </a:r>
            <a:endParaRPr b="0" lang="en-US" sz="1200" spc="-1" strike="noStrike">
              <a:solidFill>
                <a:srgbClr val="000000"/>
              </a:solidFill>
              <a:latin typeface="Arial"/>
            </a:endParaRPr>
          </a:p>
        </p:txBody>
      </p:sp>
      <p:sp>
        <p:nvSpPr>
          <p:cNvPr id="613" name="Text 2"/>
          <p:cNvSpPr/>
          <p:nvPr/>
        </p:nvSpPr>
        <p:spPr>
          <a:xfrm>
            <a:off x="548640" y="658440"/>
            <a:ext cx="11063520" cy="77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900" spc="-1" strike="noStrike">
                <a:solidFill>
                  <a:srgbClr val="0e2233"/>
                </a:solidFill>
                <a:latin typeface="Cambria"/>
                <a:ea typeface="Cambria"/>
              </a:rPr>
              <a:t>A battery helps the bill but not the business case</a:t>
            </a:r>
            <a:endParaRPr b="0" lang="en-US" sz="2900" spc="-1" strike="noStrike">
              <a:solidFill>
                <a:srgbClr val="000000"/>
              </a:solidFill>
              <a:latin typeface="Arial"/>
            </a:endParaRPr>
          </a:p>
        </p:txBody>
      </p:sp>
      <p:pic>
        <p:nvPicPr>
          <p:cNvPr id="614" name="Image 0" descr="/home/youc/hydrogen-dispatch/results/figures/battery_day.png"/>
          <p:cNvPicPr/>
          <p:nvPr/>
        </p:nvPicPr>
        <p:blipFill>
          <a:blip r:embed="rId1"/>
          <a:stretch/>
        </p:blipFill>
        <p:spPr>
          <a:xfrm>
            <a:off x="411480" y="1508760"/>
            <a:ext cx="6674400" cy="4845600"/>
          </a:xfrm>
          <a:prstGeom prst="rect">
            <a:avLst/>
          </a:prstGeom>
          <a:ln w="0">
            <a:noFill/>
          </a:ln>
        </p:spPr>
      </p:pic>
      <p:pic>
        <p:nvPicPr>
          <p:cNvPr id="615" name="Image 1" descr="/home/youc/hydrogen-dispatch/results/figures/battery_sizing.png"/>
          <p:cNvPicPr/>
          <p:nvPr/>
        </p:nvPicPr>
        <p:blipFill>
          <a:blip r:embed="rId2"/>
          <a:stretch/>
        </p:blipFill>
        <p:spPr>
          <a:xfrm>
            <a:off x="7269480" y="1600200"/>
            <a:ext cx="4571280" cy="3062520"/>
          </a:xfrm>
          <a:prstGeom prst="rect">
            <a:avLst/>
          </a:prstGeom>
          <a:ln w="0">
            <a:noFill/>
          </a:ln>
        </p:spPr>
      </p:pic>
      <p:sp>
        <p:nvSpPr>
          <p:cNvPr id="616" name="Text 3"/>
          <p:cNvSpPr/>
          <p:nvPr/>
        </p:nvSpPr>
        <p:spPr>
          <a:xfrm>
            <a:off x="7269480" y="4754880"/>
            <a:ext cx="4571280" cy="1736640"/>
          </a:xfrm>
          <a:prstGeom prst="rect">
            <a:avLst/>
          </a:prstGeom>
          <a:noFill/>
          <a:ln w="0">
            <a:noFill/>
          </a:ln>
        </p:spPr>
        <p:style>
          <a:lnRef idx="0"/>
          <a:fillRef idx="0"/>
          <a:effectRef idx="0"/>
          <a:fontRef idx="minor"/>
        </p:style>
        <p:txBody>
          <a:bodyPr lIns="0" rIns="0" tIns="0" bIns="0" anchor="t">
            <a:noAutofit/>
          </a:bodyPr>
          <a:p>
            <a:pPr marL="177840" indent="-177840" defTabSz="914400">
              <a:lnSpc>
                <a:spcPct val="104000"/>
              </a:lnSpc>
              <a:spcAft>
                <a:spcPts val="799"/>
              </a:spcAft>
              <a:buClr>
                <a:srgbClr val="1a2733"/>
              </a:buClr>
              <a:buFont typeface="Symbol" charset="2"/>
              <a:buChar char=""/>
            </a:pPr>
            <a:r>
              <a:rPr b="0" lang="en-US" sz="1250" spc="-1" strike="noStrike">
                <a:solidFill>
                  <a:srgbClr val="1a2733"/>
                </a:solidFill>
                <a:latin typeface="Calibri"/>
                <a:ea typeface="Calibri"/>
              </a:rPr>
              <a:t>With a 4 MWh battery, energy cost falls 53.2 → 39.2 DA/kg (−26 %): it charges on cheap night power + surplus solar and discharges through the peak — real control behaviour.</a:t>
            </a:r>
            <a:endParaRPr b="0" lang="en-US" sz="125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250" spc="-1" strike="noStrike">
                <a:solidFill>
                  <a:srgbClr val="1a2733"/>
                </a:solidFill>
                <a:latin typeface="Calibri"/>
                <a:ea typeface="Calibri"/>
              </a:rPr>
              <a:t>But with amortised CAPEX (250 $/kWh), LCOH is minimised at 0 MWh — storage is not cost-justified under the CREG tariff. Break-even ≈ 20 $/kWh (≈ 12× below today).</a:t>
            </a:r>
            <a:endParaRPr b="0" lang="en-US" sz="1250" spc="-1" strike="noStrike">
              <a:solidFill>
                <a:srgbClr val="000000"/>
              </a:solidFill>
              <a:latin typeface="Arial"/>
            </a:endParaRPr>
          </a:p>
        </p:txBody>
      </p:sp>
      <p:sp>
        <p:nvSpPr>
          <p:cNvPr id="617" name="Text 4"/>
          <p:cNvSpPr/>
          <p:nvPr/>
        </p:nvSpPr>
        <p:spPr>
          <a:xfrm>
            <a:off x="548640" y="6437520"/>
            <a:ext cx="82288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900" spc="-1" strike="noStrike">
                <a:solidFill>
                  <a:srgbClr val="6b7c8f"/>
                </a:solidFill>
                <a:latin typeface="Calibri"/>
                <a:ea typeface="Calibri"/>
              </a:rPr>
              <a:t>Supervisory Dispatch Control · Solar–Grid–Electrolyzer H₂ Plant</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e2233"/>
        </a:solidFill>
      </p:bgPr>
    </p:bg>
    <p:spTree>
      <p:nvGrpSpPr>
        <p:cNvPr id="1" name=""/>
        <p:cNvGrpSpPr/>
        <p:nvPr/>
      </p:nvGrpSpPr>
      <p:grpSpPr>
        <a:xfrm>
          <a:off x="0" y="0"/>
          <a:ext cx="0" cy="0"/>
          <a:chOff x="0" y="0"/>
          <a:chExt cx="0" cy="0"/>
        </a:xfrm>
      </p:grpSpPr>
      <p:sp>
        <p:nvSpPr>
          <p:cNvPr id="618" name="Text 0"/>
          <p:cNvSpPr/>
          <p:nvPr/>
        </p:nvSpPr>
        <p:spPr>
          <a:xfrm>
            <a:off x="11338560" y="6400800"/>
            <a:ext cx="456480" cy="291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050" spc="-1" strike="noStrike">
                <a:solidFill>
                  <a:srgbClr val="8ea6bc"/>
                </a:solidFill>
                <a:latin typeface="Calibri"/>
                <a:ea typeface="Calibri"/>
              </a:rPr>
              <a:t>26</a:t>
            </a:r>
            <a:endParaRPr b="0" lang="en-US" sz="1050" spc="-1" strike="noStrike">
              <a:solidFill>
                <a:srgbClr val="ffffff"/>
              </a:solidFill>
              <a:latin typeface="Arial"/>
            </a:endParaRPr>
          </a:p>
        </p:txBody>
      </p:sp>
      <p:sp>
        <p:nvSpPr>
          <p:cNvPr id="619" name="Shape 1"/>
          <p:cNvSpPr/>
          <p:nvPr/>
        </p:nvSpPr>
        <p:spPr>
          <a:xfrm>
            <a:off x="9509760" y="-2194560"/>
            <a:ext cx="5485680" cy="5485680"/>
          </a:xfrm>
          <a:prstGeom prst="ellipse">
            <a:avLst/>
          </a:prstGeom>
          <a:solidFill>
            <a:srgbClr val="16344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20" name="Shape 2"/>
          <p:cNvSpPr/>
          <p:nvPr/>
        </p:nvSpPr>
        <p:spPr>
          <a:xfrm>
            <a:off x="10607040" y="4023360"/>
            <a:ext cx="4022640" cy="4022640"/>
          </a:xfrm>
          <a:prstGeom prst="ellipse">
            <a:avLst/>
          </a:prstGeom>
          <a:solidFill>
            <a:srgbClr val="12283c"/>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21" name="Text 3"/>
          <p:cNvSpPr/>
          <p:nvPr/>
        </p:nvSpPr>
        <p:spPr>
          <a:xfrm>
            <a:off x="640080" y="1554480"/>
            <a:ext cx="2742480" cy="146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800" spc="-1" strike="noStrike">
                <a:solidFill>
                  <a:srgbClr val="27516e"/>
                </a:solidFill>
                <a:latin typeface="Cambria"/>
                <a:ea typeface="Cambria"/>
              </a:rPr>
              <a:t>IV</a:t>
            </a:r>
            <a:endParaRPr b="0" lang="en-US" sz="8800" spc="-1" strike="noStrike">
              <a:solidFill>
                <a:srgbClr val="ffffff"/>
              </a:solidFill>
              <a:latin typeface="Arial"/>
            </a:endParaRPr>
          </a:p>
        </p:txBody>
      </p:sp>
      <p:sp>
        <p:nvSpPr>
          <p:cNvPr id="622" name="Shape 4"/>
          <p:cNvSpPr/>
          <p:nvPr/>
        </p:nvSpPr>
        <p:spPr>
          <a:xfrm>
            <a:off x="713160" y="3063240"/>
            <a:ext cx="639360" cy="63360"/>
          </a:xfrm>
          <a:prstGeom prst="rect">
            <a:avLst/>
          </a:prstGeom>
          <a:solidFill>
            <a:srgbClr val="f4a623"/>
          </a:solidFill>
          <a:ln w="0">
            <a:noFill/>
          </a:ln>
        </p:spPr>
        <p:style>
          <a:lnRef idx="0"/>
          <a:fillRef idx="0"/>
          <a:effectRef idx="0"/>
          <a:fontRef idx="minor"/>
        </p:style>
        <p:txBody>
          <a:bodyPr lIns="90000" rIns="90000" tIns="19080" bIns="19080" anchor="t">
            <a:noAutofit/>
          </a:bodyPr>
          <a:p>
            <a:pPr>
              <a:lnSpc>
                <a:spcPct val="100000"/>
              </a:lnSpc>
            </a:pPr>
            <a:endParaRPr b="0" lang="en-US" sz="1800" spc="-1" strike="noStrike">
              <a:solidFill>
                <a:srgbClr val="000000"/>
              </a:solidFill>
              <a:latin typeface="Arial"/>
            </a:endParaRPr>
          </a:p>
        </p:txBody>
      </p:sp>
      <p:sp>
        <p:nvSpPr>
          <p:cNvPr id="623" name="Text 5"/>
          <p:cNvSpPr/>
          <p:nvPr/>
        </p:nvSpPr>
        <p:spPr>
          <a:xfrm>
            <a:off x="640080" y="3246120"/>
            <a:ext cx="10514880" cy="913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600" spc="-1" strike="noStrike">
                <a:solidFill>
                  <a:srgbClr val="ffffff"/>
                </a:solidFill>
                <a:latin typeface="Cambria"/>
                <a:ea typeface="Cambria"/>
              </a:rPr>
              <a:t>Deliverables, Demo &amp; Conclusion</a:t>
            </a:r>
            <a:endParaRPr b="0" lang="en-US" sz="3600" spc="-1" strike="noStrike">
              <a:solidFill>
                <a:srgbClr val="ffffff"/>
              </a:solidFill>
              <a:latin typeface="Arial"/>
            </a:endParaRPr>
          </a:p>
        </p:txBody>
      </p:sp>
      <p:sp>
        <p:nvSpPr>
          <p:cNvPr id="624" name="Text 6"/>
          <p:cNvSpPr/>
          <p:nvPr/>
        </p:nvSpPr>
        <p:spPr>
          <a:xfrm>
            <a:off x="658440" y="4251960"/>
            <a:ext cx="9600480" cy="82224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lang="en-US" sz="1600" spc="-1" strike="noStrike">
                <a:solidFill>
                  <a:srgbClr val="aec2d4"/>
                </a:solidFill>
                <a:latin typeface="Calibri"/>
                <a:ea typeface="Calibri"/>
              </a:rPr>
              <a:t>The live dashboard, and what it all adds up to.</a:t>
            </a:r>
            <a:endParaRPr b="0" lang="en-US" sz="1600" spc="-1" strike="noStrike">
              <a:solidFill>
                <a:srgbClr val="ffffff"/>
              </a:solidFill>
              <a:latin typeface="Arial"/>
            </a:endParaRPr>
          </a:p>
        </p:txBody>
      </p:sp>
      <p:sp>
        <p:nvSpPr>
          <p:cNvPr id="625" name="Text 7"/>
          <p:cNvSpPr/>
          <p:nvPr/>
        </p:nvSpPr>
        <p:spPr>
          <a:xfrm>
            <a:off x="658440" y="5212080"/>
            <a:ext cx="914328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i="1" lang="en-US" sz="1300" spc="-1" strike="noStrike">
                <a:solidFill>
                  <a:srgbClr val="f4a623"/>
                </a:solidFill>
                <a:latin typeface="Calibri"/>
                <a:ea typeface="Calibri"/>
              </a:rPr>
              <a:t>Presented by BOUDJADJA Mohamed Akrem</a:t>
            </a:r>
            <a:endParaRPr b="0" lang="en-US" sz="1300" spc="-1" strike="noStrike">
              <a:solidFill>
                <a:srgbClr val="ffffff"/>
              </a:solidFill>
              <a:latin typeface="Arial"/>
            </a:endParaRPr>
          </a:p>
        </p:txBody>
      </p:sp>
      <p:sp>
        <p:nvSpPr>
          <p:cNvPr id="626" name="Text 8"/>
          <p:cNvSpPr/>
          <p:nvPr/>
        </p:nvSpPr>
        <p:spPr>
          <a:xfrm>
            <a:off x="11338560" y="6400800"/>
            <a:ext cx="456480" cy="291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050" spc="-1" strike="noStrike">
                <a:solidFill>
                  <a:srgbClr val="8ea6bc"/>
                </a:solidFill>
                <a:latin typeface="Calibri"/>
                <a:ea typeface="Calibri"/>
              </a:rPr>
              <a:t>26</a:t>
            </a:r>
            <a:endParaRPr b="0" lang="en-US" sz="10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e2233"/>
        </a:solidFill>
      </p:bgPr>
    </p:bg>
    <p:spTree>
      <p:nvGrpSpPr>
        <p:cNvPr id="1" name=""/>
        <p:cNvGrpSpPr/>
        <p:nvPr/>
      </p:nvGrpSpPr>
      <p:grpSpPr>
        <a:xfrm>
          <a:off x="0" y="0"/>
          <a:ext cx="0" cy="0"/>
          <a:chOff x="0" y="0"/>
          <a:chExt cx="0" cy="0"/>
        </a:xfrm>
      </p:grpSpPr>
      <p:sp>
        <p:nvSpPr>
          <p:cNvPr id="627" name="Text 0"/>
          <p:cNvSpPr/>
          <p:nvPr/>
        </p:nvSpPr>
        <p:spPr>
          <a:xfrm>
            <a:off x="11338560" y="6400800"/>
            <a:ext cx="456480" cy="291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050" spc="-1" strike="noStrike">
                <a:solidFill>
                  <a:srgbClr val="8ea6bc"/>
                </a:solidFill>
                <a:latin typeface="Calibri"/>
                <a:ea typeface="Calibri"/>
              </a:rPr>
              <a:t>27</a:t>
            </a:r>
            <a:endParaRPr b="0" lang="en-US" sz="1050" spc="-1" strike="noStrike">
              <a:solidFill>
                <a:srgbClr val="ffffff"/>
              </a:solidFill>
              <a:latin typeface="Arial"/>
            </a:endParaRPr>
          </a:p>
        </p:txBody>
      </p:sp>
      <p:sp>
        <p:nvSpPr>
          <p:cNvPr id="628" name="Text 1"/>
          <p:cNvSpPr/>
          <p:nvPr/>
        </p:nvSpPr>
        <p:spPr>
          <a:xfrm>
            <a:off x="548640" y="457200"/>
            <a:ext cx="109720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296" strike="noStrike">
                <a:solidFill>
                  <a:srgbClr val="f4a623"/>
                </a:solidFill>
                <a:latin typeface="Calibri"/>
                <a:ea typeface="Calibri"/>
              </a:rPr>
              <a:t>DELIVERABLE — INTERACTIVE DASHBOARD</a:t>
            </a:r>
            <a:endParaRPr b="0" lang="en-US" sz="1200" spc="-1" strike="noStrike">
              <a:solidFill>
                <a:srgbClr val="ffffff"/>
              </a:solidFill>
              <a:latin typeface="Arial"/>
            </a:endParaRPr>
          </a:p>
        </p:txBody>
      </p:sp>
      <p:sp>
        <p:nvSpPr>
          <p:cNvPr id="629" name="Text 2"/>
          <p:cNvSpPr/>
          <p:nvPr/>
        </p:nvSpPr>
        <p:spPr>
          <a:xfrm>
            <a:off x="548640" y="777240"/>
            <a:ext cx="11063520" cy="77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900" spc="-1" strike="noStrike">
                <a:solidFill>
                  <a:srgbClr val="ffffff"/>
                </a:solidFill>
                <a:latin typeface="Cambria"/>
                <a:ea typeface="Cambria"/>
              </a:rPr>
              <a:t>The controller, live</a:t>
            </a:r>
            <a:endParaRPr b="0" lang="en-US" sz="2900" spc="-1" strike="noStrike">
              <a:solidFill>
                <a:srgbClr val="ffffff"/>
              </a:solidFill>
              <a:latin typeface="Arial"/>
            </a:endParaRPr>
          </a:p>
        </p:txBody>
      </p:sp>
      <p:sp>
        <p:nvSpPr>
          <p:cNvPr id="630" name="Shape 3"/>
          <p:cNvSpPr/>
          <p:nvPr/>
        </p:nvSpPr>
        <p:spPr>
          <a:xfrm>
            <a:off x="9921240" y="548640"/>
            <a:ext cx="1828080" cy="456480"/>
          </a:xfrm>
          <a:prstGeom prst="roundRect">
            <a:avLst>
              <a:gd name="adj" fmla="val 50000"/>
            </a:avLst>
          </a:prstGeom>
          <a:solidFill>
            <a:srgbClr val="f4a62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631" name="Text 4"/>
          <p:cNvSpPr/>
          <p:nvPr/>
        </p:nvSpPr>
        <p:spPr>
          <a:xfrm>
            <a:off x="9921240" y="548640"/>
            <a:ext cx="1828080" cy="4564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0e2233"/>
                </a:solidFill>
                <a:latin typeface="Calibri"/>
                <a:ea typeface="Calibri"/>
              </a:rPr>
              <a:t>●  </a:t>
            </a:r>
            <a:r>
              <a:rPr b="1" lang="en-US" sz="1300" spc="-1" strike="noStrike">
                <a:solidFill>
                  <a:srgbClr val="0e2233"/>
                </a:solidFill>
                <a:latin typeface="Calibri"/>
                <a:ea typeface="Calibri"/>
              </a:rPr>
              <a:t>LIVE DEMO</a:t>
            </a:r>
            <a:endParaRPr b="0" lang="en-US" sz="1300" spc="-1" strike="noStrike">
              <a:solidFill>
                <a:srgbClr val="ffffff"/>
              </a:solidFill>
              <a:latin typeface="Arial"/>
            </a:endParaRPr>
          </a:p>
        </p:txBody>
      </p:sp>
      <p:sp>
        <p:nvSpPr>
          <p:cNvPr id="632" name="Shape 5"/>
          <p:cNvSpPr/>
          <p:nvPr/>
        </p:nvSpPr>
        <p:spPr>
          <a:xfrm>
            <a:off x="475560" y="1527120"/>
            <a:ext cx="4808880" cy="4763160"/>
          </a:xfrm>
          <a:prstGeom prst="roundRect">
            <a:avLst>
              <a:gd name="adj" fmla="val 1152"/>
            </a:avLst>
          </a:prstGeom>
          <a:solidFill>
            <a:srgbClr val="ffffff"/>
          </a:solidFill>
          <a:ln w="12700">
            <a:solidFill>
              <a:srgbClr val="27516e"/>
            </a:solidFill>
            <a:round/>
          </a:ln>
          <a:effectLst>
            <a:outerShdw algn="bl" blurRad="177840" dir="5400000" dist="63360" kx="0" ky="0" rotWithShape="0" sx="100000" sy="100000">
              <a:srgbClr val="0e2233">
                <a:alpha val="28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pic>
        <p:nvPicPr>
          <p:cNvPr id="633" name="Image 0" descr="/home/youc/hydrogen-dispatch/results/screenshots/dashboard_daily.png"/>
          <p:cNvPicPr/>
          <p:nvPr/>
        </p:nvPicPr>
        <p:blipFill>
          <a:blip r:embed="rId1"/>
          <a:stretch/>
        </p:blipFill>
        <p:spPr>
          <a:xfrm>
            <a:off x="548640" y="1600200"/>
            <a:ext cx="4662720" cy="4617000"/>
          </a:xfrm>
          <a:prstGeom prst="rect">
            <a:avLst/>
          </a:prstGeom>
          <a:ln w="0">
            <a:noFill/>
          </a:ln>
        </p:spPr>
      </p:pic>
      <p:sp>
        <p:nvSpPr>
          <p:cNvPr id="634" name="Text 6"/>
          <p:cNvSpPr/>
          <p:nvPr/>
        </p:nvSpPr>
        <p:spPr>
          <a:xfrm>
            <a:off x="5623560" y="1783080"/>
            <a:ext cx="6034320" cy="3565440"/>
          </a:xfrm>
          <a:prstGeom prst="rect">
            <a:avLst/>
          </a:prstGeom>
          <a:noFill/>
          <a:ln w="0">
            <a:noFill/>
          </a:ln>
        </p:spPr>
        <p:style>
          <a:lnRef idx="0"/>
          <a:fillRef idx="0"/>
          <a:effectRef idx="0"/>
          <a:fontRef idx="minor"/>
        </p:style>
        <p:txBody>
          <a:bodyPr lIns="0" rIns="0" tIns="0" bIns="0" anchor="t">
            <a:noAutofit/>
          </a:bodyPr>
          <a:p>
            <a:pPr marL="177840" indent="-177840" defTabSz="914400">
              <a:lnSpc>
                <a:spcPct val="104000"/>
              </a:lnSpc>
              <a:spcAft>
                <a:spcPts val="799"/>
              </a:spcAft>
              <a:buClr>
                <a:srgbClr val="d6e3ef"/>
              </a:buClr>
              <a:buFont typeface="Symbol" charset="2"/>
              <a:buChar char=""/>
            </a:pPr>
            <a:r>
              <a:rPr b="0" lang="en-US" sz="1450" spc="-1" strike="noStrike">
                <a:solidFill>
                  <a:srgbClr val="d6e3ef"/>
                </a:solidFill>
                <a:latin typeface="Calibri"/>
                <a:ea typeface="Calibri"/>
              </a:rPr>
              <a:t>A Streamlit dashboard with five tabs: daily dispatch, control strategy, annual performance, smart-vs-traditional, and validation.</a:t>
            </a:r>
            <a:endParaRPr b="0" lang="en-US" sz="1450" spc="-1" strike="noStrike">
              <a:solidFill>
                <a:srgbClr val="ffffff"/>
              </a:solidFill>
              <a:latin typeface="Arial"/>
            </a:endParaRPr>
          </a:p>
          <a:p>
            <a:pPr marL="177840" indent="-177840" defTabSz="914400">
              <a:lnSpc>
                <a:spcPct val="104000"/>
              </a:lnSpc>
              <a:spcAft>
                <a:spcPts val="799"/>
              </a:spcAft>
              <a:buClr>
                <a:srgbClr val="d6e3ef"/>
              </a:buClr>
              <a:buFont typeface="Symbol" charset="2"/>
              <a:buChar char=""/>
            </a:pPr>
            <a:r>
              <a:rPr b="0" lang="en-US" sz="1450" spc="-1" strike="noStrike">
                <a:solidFill>
                  <a:srgbClr val="d6e3ef"/>
                </a:solidFill>
                <a:latin typeface="Calibri"/>
                <a:ea typeface="Calibri"/>
              </a:rPr>
              <a:t>Pick any real 2023 day and an H₂ demand; the PSO runs live and returns the least-cost 24-hour schedule.</a:t>
            </a:r>
            <a:endParaRPr b="0" lang="en-US" sz="1450" spc="-1" strike="noStrike">
              <a:solidFill>
                <a:srgbClr val="ffffff"/>
              </a:solidFill>
              <a:latin typeface="Arial"/>
            </a:endParaRPr>
          </a:p>
          <a:p>
            <a:pPr marL="177840" indent="-177840" defTabSz="914400">
              <a:lnSpc>
                <a:spcPct val="104000"/>
              </a:lnSpc>
              <a:spcAft>
                <a:spcPts val="799"/>
              </a:spcAft>
              <a:buClr>
                <a:srgbClr val="d6e3ef"/>
              </a:buClr>
              <a:buFont typeface="Symbol" charset="2"/>
              <a:buChar char=""/>
            </a:pPr>
            <a:r>
              <a:rPr b="0" lang="en-US" sz="1450" spc="-1" strike="noStrike">
                <a:solidFill>
                  <a:srgbClr val="d6e3ef"/>
                </a:solidFill>
                <a:latin typeface="Calibri"/>
                <a:ea typeface="Calibri"/>
              </a:rPr>
              <a:t>Every run is checked on the ETAP-validated network — feasibility is shown alongside the cost.</a:t>
            </a:r>
            <a:endParaRPr b="0" lang="en-US" sz="1450" spc="-1" strike="noStrike">
              <a:solidFill>
                <a:srgbClr val="ffffff"/>
              </a:solidFill>
              <a:latin typeface="Arial"/>
            </a:endParaRPr>
          </a:p>
          <a:p>
            <a:pPr marL="177840" indent="-177840" defTabSz="914400">
              <a:lnSpc>
                <a:spcPct val="104000"/>
              </a:lnSpc>
              <a:spcAft>
                <a:spcPts val="799"/>
              </a:spcAft>
              <a:buClr>
                <a:srgbClr val="d6e3ef"/>
              </a:buClr>
              <a:buFont typeface="Symbol" charset="2"/>
              <a:buChar char=""/>
            </a:pPr>
            <a:r>
              <a:rPr b="0" lang="en-US" sz="1450" spc="-1" strike="noStrike">
                <a:solidFill>
                  <a:srgbClr val="d6e3ef"/>
                </a:solidFill>
                <a:latin typeface="Calibri"/>
                <a:ea typeface="Calibri"/>
              </a:rPr>
              <a:t>An optional battery toggle overlays the LP-optimal storage trajectory.</a:t>
            </a:r>
            <a:endParaRPr b="0" lang="en-US" sz="1450" spc="-1" strike="noStrike">
              <a:solidFill>
                <a:srgbClr val="ffffff"/>
              </a:solidFill>
              <a:latin typeface="Arial"/>
            </a:endParaRPr>
          </a:p>
        </p:txBody>
      </p:sp>
      <p:sp>
        <p:nvSpPr>
          <p:cNvPr id="635" name="Text 7"/>
          <p:cNvSpPr/>
          <p:nvPr/>
        </p:nvSpPr>
        <p:spPr>
          <a:xfrm>
            <a:off x="5623560" y="5486400"/>
            <a:ext cx="6034320" cy="73080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i="1" lang="en-US" sz="1200" spc="-1" strike="noStrike">
                <a:solidFill>
                  <a:srgbClr val="8ea6bc"/>
                </a:solidFill>
                <a:latin typeface="Calibri"/>
                <a:ea typeface="Calibri"/>
              </a:rPr>
              <a:t>Backup if the live demo fails: this screenshot is the Daily-Dispatch tab on the clear-summer day (200 kg/day → ≈ 27.8 DA/kg).</a:t>
            </a:r>
            <a:endParaRPr b="0" lang="en-US" sz="12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e2233"/>
        </a:solidFill>
      </p:bgPr>
    </p:bg>
    <p:spTree>
      <p:nvGrpSpPr>
        <p:cNvPr id="1" name=""/>
        <p:cNvGrpSpPr/>
        <p:nvPr/>
      </p:nvGrpSpPr>
      <p:grpSpPr>
        <a:xfrm>
          <a:off x="0" y="0"/>
          <a:ext cx="0" cy="0"/>
          <a:chOff x="0" y="0"/>
          <a:chExt cx="0" cy="0"/>
        </a:xfrm>
      </p:grpSpPr>
      <p:sp>
        <p:nvSpPr>
          <p:cNvPr id="636" name="Text 0"/>
          <p:cNvSpPr/>
          <p:nvPr/>
        </p:nvSpPr>
        <p:spPr>
          <a:xfrm>
            <a:off x="11338560" y="6400800"/>
            <a:ext cx="456480" cy="291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050" spc="-1" strike="noStrike">
                <a:solidFill>
                  <a:srgbClr val="8ea6bc"/>
                </a:solidFill>
                <a:latin typeface="Calibri"/>
                <a:ea typeface="Calibri"/>
              </a:rPr>
              <a:t>28</a:t>
            </a:r>
            <a:endParaRPr b="0" lang="en-US" sz="1050" spc="-1" strike="noStrike">
              <a:solidFill>
                <a:srgbClr val="ffffff"/>
              </a:solidFill>
              <a:latin typeface="Arial"/>
            </a:endParaRPr>
          </a:p>
        </p:txBody>
      </p:sp>
      <p:sp>
        <p:nvSpPr>
          <p:cNvPr id="637" name="Text 1"/>
          <p:cNvSpPr/>
          <p:nvPr/>
        </p:nvSpPr>
        <p:spPr>
          <a:xfrm>
            <a:off x="548640" y="457200"/>
            <a:ext cx="109720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296" strike="noStrike">
                <a:solidFill>
                  <a:srgbClr val="f4a623"/>
                </a:solidFill>
                <a:latin typeface="Calibri"/>
                <a:ea typeface="Calibri"/>
              </a:rPr>
              <a:t>CONCLUSION</a:t>
            </a:r>
            <a:endParaRPr b="0" lang="en-US" sz="1200" spc="-1" strike="noStrike">
              <a:solidFill>
                <a:srgbClr val="ffffff"/>
              </a:solidFill>
              <a:latin typeface="Arial"/>
            </a:endParaRPr>
          </a:p>
        </p:txBody>
      </p:sp>
      <p:sp>
        <p:nvSpPr>
          <p:cNvPr id="638" name="Text 2"/>
          <p:cNvSpPr/>
          <p:nvPr/>
        </p:nvSpPr>
        <p:spPr>
          <a:xfrm>
            <a:off x="548640" y="777240"/>
            <a:ext cx="11063520" cy="77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900" spc="-1" strike="noStrike">
                <a:solidFill>
                  <a:srgbClr val="ffffff"/>
                </a:solidFill>
                <a:latin typeface="Cambria"/>
                <a:ea typeface="Cambria"/>
              </a:rPr>
              <a:t>What we delivered</a:t>
            </a:r>
            <a:endParaRPr b="0" lang="en-US" sz="2900" spc="-1" strike="noStrike">
              <a:solidFill>
                <a:srgbClr val="ffffff"/>
              </a:solidFill>
              <a:latin typeface="Arial"/>
            </a:endParaRPr>
          </a:p>
        </p:txBody>
      </p:sp>
      <p:sp>
        <p:nvSpPr>
          <p:cNvPr id="639" name="Text 3"/>
          <p:cNvSpPr/>
          <p:nvPr/>
        </p:nvSpPr>
        <p:spPr>
          <a:xfrm>
            <a:off x="640080" y="1874520"/>
            <a:ext cx="456480" cy="547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pc="-1" strike="noStrike">
                <a:solidFill>
                  <a:srgbClr val="2a9d8f"/>
                </a:solidFill>
                <a:latin typeface="Calibri"/>
                <a:ea typeface="Calibri"/>
              </a:rPr>
              <a:t>✓</a:t>
            </a:r>
            <a:endParaRPr b="0" lang="en-US" sz="1800" spc="-1" strike="noStrike">
              <a:solidFill>
                <a:srgbClr val="ffffff"/>
              </a:solidFill>
              <a:latin typeface="Arial"/>
            </a:endParaRPr>
          </a:p>
        </p:txBody>
      </p:sp>
      <p:sp>
        <p:nvSpPr>
          <p:cNvPr id="640" name="Text 4"/>
          <p:cNvSpPr/>
          <p:nvPr/>
        </p:nvSpPr>
        <p:spPr>
          <a:xfrm>
            <a:off x="1143000" y="1874520"/>
            <a:ext cx="10423440" cy="547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550" spc="-1" strike="noStrike">
                <a:solidFill>
                  <a:srgbClr val="d6e3ef"/>
                </a:solidFill>
                <a:latin typeface="Calibri"/>
                <a:ea typeface="Calibri"/>
              </a:rPr>
              <a:t>An ETAP-validated, automatable plant model (24/24 checks).</a:t>
            </a:r>
            <a:endParaRPr b="0" lang="en-US" sz="1550" spc="-1" strike="noStrike">
              <a:solidFill>
                <a:srgbClr val="ffffff"/>
              </a:solidFill>
              <a:latin typeface="Arial"/>
            </a:endParaRPr>
          </a:p>
        </p:txBody>
      </p:sp>
      <p:sp>
        <p:nvSpPr>
          <p:cNvPr id="641" name="Text 5"/>
          <p:cNvSpPr/>
          <p:nvPr/>
        </p:nvSpPr>
        <p:spPr>
          <a:xfrm>
            <a:off x="640080" y="2587680"/>
            <a:ext cx="456480" cy="547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pc="-1" strike="noStrike">
                <a:solidFill>
                  <a:srgbClr val="2a9d8f"/>
                </a:solidFill>
                <a:latin typeface="Calibri"/>
                <a:ea typeface="Calibri"/>
              </a:rPr>
              <a:t>✓</a:t>
            </a:r>
            <a:endParaRPr b="0" lang="en-US" sz="1800" spc="-1" strike="noStrike">
              <a:solidFill>
                <a:srgbClr val="ffffff"/>
              </a:solidFill>
              <a:latin typeface="Arial"/>
            </a:endParaRPr>
          </a:p>
        </p:txBody>
      </p:sp>
      <p:sp>
        <p:nvSpPr>
          <p:cNvPr id="642" name="Text 6"/>
          <p:cNvSpPr/>
          <p:nvPr/>
        </p:nvSpPr>
        <p:spPr>
          <a:xfrm>
            <a:off x="1143000" y="2587680"/>
            <a:ext cx="10423440" cy="547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550" spc="-1" strike="noStrike">
                <a:solidFill>
                  <a:srgbClr val="d6e3ef"/>
                </a:solidFill>
                <a:latin typeface="Calibri"/>
                <a:ea typeface="Calibri"/>
              </a:rPr>
              <a:t>A real-data pipeline: CAMS+ERA5 → PySAM and the real CREG tariff, full 2023.</a:t>
            </a:r>
            <a:endParaRPr b="0" lang="en-US" sz="1550" spc="-1" strike="noStrike">
              <a:solidFill>
                <a:srgbClr val="ffffff"/>
              </a:solidFill>
              <a:latin typeface="Arial"/>
            </a:endParaRPr>
          </a:p>
        </p:txBody>
      </p:sp>
      <p:sp>
        <p:nvSpPr>
          <p:cNvPr id="643" name="Text 7"/>
          <p:cNvSpPr/>
          <p:nvPr/>
        </p:nvSpPr>
        <p:spPr>
          <a:xfrm>
            <a:off x="640080" y="3300840"/>
            <a:ext cx="456480" cy="547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pc="-1" strike="noStrike">
                <a:solidFill>
                  <a:srgbClr val="2a9d8f"/>
                </a:solidFill>
                <a:latin typeface="Calibri"/>
                <a:ea typeface="Calibri"/>
              </a:rPr>
              <a:t>✓</a:t>
            </a:r>
            <a:endParaRPr b="0" lang="en-US" sz="1800" spc="-1" strike="noStrike">
              <a:solidFill>
                <a:srgbClr val="ffffff"/>
              </a:solidFill>
              <a:latin typeface="Arial"/>
            </a:endParaRPr>
          </a:p>
        </p:txBody>
      </p:sp>
      <p:sp>
        <p:nvSpPr>
          <p:cNvPr id="644" name="Text 8"/>
          <p:cNvSpPr/>
          <p:nvPr/>
        </p:nvSpPr>
        <p:spPr>
          <a:xfrm>
            <a:off x="1143000" y="3300840"/>
            <a:ext cx="10423440" cy="547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550" spc="-1" strike="noStrike">
                <a:solidFill>
                  <a:srgbClr val="d6e3ef"/>
                </a:solidFill>
                <a:latin typeface="Calibri"/>
                <a:ea typeface="Calibri"/>
              </a:rPr>
              <a:t>Least-cost dispatch via PSO, and a supervisory MPC controller with feedback.</a:t>
            </a:r>
            <a:endParaRPr b="0" lang="en-US" sz="1550" spc="-1" strike="noStrike">
              <a:solidFill>
                <a:srgbClr val="ffffff"/>
              </a:solidFill>
              <a:latin typeface="Arial"/>
            </a:endParaRPr>
          </a:p>
        </p:txBody>
      </p:sp>
      <p:sp>
        <p:nvSpPr>
          <p:cNvPr id="645" name="Text 9"/>
          <p:cNvSpPr/>
          <p:nvPr/>
        </p:nvSpPr>
        <p:spPr>
          <a:xfrm>
            <a:off x="640080" y="4014360"/>
            <a:ext cx="456480" cy="547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pc="-1" strike="noStrike">
                <a:solidFill>
                  <a:srgbClr val="2a9d8f"/>
                </a:solidFill>
                <a:latin typeface="Calibri"/>
                <a:ea typeface="Calibri"/>
              </a:rPr>
              <a:t>✓</a:t>
            </a:r>
            <a:endParaRPr b="0" lang="en-US" sz="1800" spc="-1" strike="noStrike">
              <a:solidFill>
                <a:srgbClr val="ffffff"/>
              </a:solidFill>
              <a:latin typeface="Arial"/>
            </a:endParaRPr>
          </a:p>
        </p:txBody>
      </p:sp>
      <p:sp>
        <p:nvSpPr>
          <p:cNvPr id="646" name="Text 10"/>
          <p:cNvSpPr/>
          <p:nvPr/>
        </p:nvSpPr>
        <p:spPr>
          <a:xfrm>
            <a:off x="1143000" y="4014360"/>
            <a:ext cx="10423440" cy="547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550" spc="-1" strike="noStrike">
                <a:solidFill>
                  <a:srgbClr val="d6e3ef"/>
                </a:solidFill>
                <a:latin typeface="Calibri"/>
                <a:ea typeface="Calibri"/>
              </a:rPr>
              <a:t>Quantified value: 50–59 % cheaper than time-blind operation; MPC within ≈2.4 % of the optimum.</a:t>
            </a:r>
            <a:endParaRPr b="0" lang="en-US" sz="1550" spc="-1" strike="noStrike">
              <a:solidFill>
                <a:srgbClr val="ffffff"/>
              </a:solidFill>
              <a:latin typeface="Arial"/>
            </a:endParaRPr>
          </a:p>
        </p:txBody>
      </p:sp>
      <p:sp>
        <p:nvSpPr>
          <p:cNvPr id="647" name="Text 11"/>
          <p:cNvSpPr/>
          <p:nvPr/>
        </p:nvSpPr>
        <p:spPr>
          <a:xfrm>
            <a:off x="640080" y="4727520"/>
            <a:ext cx="456480" cy="547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pc="-1" strike="noStrike">
                <a:solidFill>
                  <a:srgbClr val="2a9d8f"/>
                </a:solidFill>
                <a:latin typeface="Calibri"/>
                <a:ea typeface="Calibri"/>
              </a:rPr>
              <a:t>✓</a:t>
            </a:r>
            <a:endParaRPr b="0" lang="en-US" sz="1800" spc="-1" strike="noStrike">
              <a:solidFill>
                <a:srgbClr val="ffffff"/>
              </a:solidFill>
              <a:latin typeface="Arial"/>
            </a:endParaRPr>
          </a:p>
        </p:txBody>
      </p:sp>
      <p:sp>
        <p:nvSpPr>
          <p:cNvPr id="648" name="Text 12"/>
          <p:cNvSpPr/>
          <p:nvPr/>
        </p:nvSpPr>
        <p:spPr>
          <a:xfrm>
            <a:off x="1143000" y="4727520"/>
            <a:ext cx="10423440" cy="547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550" spc="-1" strike="noStrike">
                <a:solidFill>
                  <a:srgbClr val="d6e3ef"/>
                </a:solidFill>
                <a:latin typeface="Calibri"/>
                <a:ea typeface="Calibri"/>
              </a:rPr>
              <a:t>A full-year study (72.8 t/yr, 45.8 DA/kg) and an honest storage-feasibility finding.</a:t>
            </a:r>
            <a:endParaRPr b="0" lang="en-US" sz="1550" spc="-1" strike="noStrike">
              <a:solidFill>
                <a:srgbClr val="ffffff"/>
              </a:solidFill>
              <a:latin typeface="Arial"/>
            </a:endParaRPr>
          </a:p>
        </p:txBody>
      </p:sp>
      <p:sp>
        <p:nvSpPr>
          <p:cNvPr id="649" name="Text 13"/>
          <p:cNvSpPr/>
          <p:nvPr/>
        </p:nvSpPr>
        <p:spPr>
          <a:xfrm>
            <a:off x="640080" y="5440680"/>
            <a:ext cx="456480" cy="547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pc="-1" strike="noStrike">
                <a:solidFill>
                  <a:srgbClr val="2a9d8f"/>
                </a:solidFill>
                <a:latin typeface="Calibri"/>
                <a:ea typeface="Calibri"/>
              </a:rPr>
              <a:t>✓</a:t>
            </a:r>
            <a:endParaRPr b="0" lang="en-US" sz="1800" spc="-1" strike="noStrike">
              <a:solidFill>
                <a:srgbClr val="ffffff"/>
              </a:solidFill>
              <a:latin typeface="Arial"/>
            </a:endParaRPr>
          </a:p>
        </p:txBody>
      </p:sp>
      <p:sp>
        <p:nvSpPr>
          <p:cNvPr id="650" name="Text 14"/>
          <p:cNvSpPr/>
          <p:nvPr/>
        </p:nvSpPr>
        <p:spPr>
          <a:xfrm>
            <a:off x="1143000" y="5440680"/>
            <a:ext cx="10423440" cy="547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550" spc="-1" strike="noStrike">
                <a:solidFill>
                  <a:srgbClr val="d6e3ef"/>
                </a:solidFill>
                <a:latin typeface="Calibri"/>
                <a:ea typeface="Calibri"/>
              </a:rPr>
              <a:t>A live deliverable: an interactive dashboard on the validated engine.</a:t>
            </a:r>
            <a:endParaRPr b="0" lang="en-US" sz="1550" spc="-1" strike="noStrike">
              <a:solidFill>
                <a:srgbClr val="ffffff"/>
              </a:solidFill>
              <a:latin typeface="Arial"/>
            </a:endParaRPr>
          </a:p>
        </p:txBody>
      </p:sp>
      <p:sp>
        <p:nvSpPr>
          <p:cNvPr id="651" name="Text 15"/>
          <p:cNvSpPr/>
          <p:nvPr/>
        </p:nvSpPr>
        <p:spPr>
          <a:xfrm>
            <a:off x="640080" y="6035040"/>
            <a:ext cx="10514880" cy="38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i="1" lang="en-US" sz="1400" spc="-1" strike="noStrike">
                <a:solidFill>
                  <a:srgbClr val="f4a623"/>
                </a:solidFill>
                <a:latin typeface="Cambria"/>
                <a:ea typeface="Cambria"/>
              </a:rPr>
              <a:t>In one line:  a validated, automated supervisory controller that makes hydrogen for about half the cost of running the plant blindly — and you can watch it work.</a:t>
            </a:r>
            <a:endParaRPr b="0" lang="en-US" sz="14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52" name="Text 0"/>
          <p:cNvSpPr/>
          <p:nvPr/>
        </p:nvSpPr>
        <p:spPr>
          <a:xfrm>
            <a:off x="11338560" y="6400800"/>
            <a:ext cx="456480" cy="291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050" spc="-1" strike="noStrike">
                <a:solidFill>
                  <a:srgbClr val="6b7c8f"/>
                </a:solidFill>
                <a:latin typeface="Calibri"/>
                <a:ea typeface="Calibri"/>
              </a:rPr>
              <a:t>29</a:t>
            </a:r>
            <a:endParaRPr b="0" lang="en-US" sz="1050" spc="-1" strike="noStrike">
              <a:solidFill>
                <a:srgbClr val="000000"/>
              </a:solidFill>
              <a:latin typeface="Arial"/>
            </a:endParaRPr>
          </a:p>
        </p:txBody>
      </p:sp>
      <p:sp>
        <p:nvSpPr>
          <p:cNvPr id="653" name="Text 1"/>
          <p:cNvSpPr/>
          <p:nvPr/>
        </p:nvSpPr>
        <p:spPr>
          <a:xfrm>
            <a:off x="548640" y="384120"/>
            <a:ext cx="109720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296" strike="noStrike">
                <a:solidFill>
                  <a:srgbClr val="1c7293"/>
                </a:solidFill>
                <a:latin typeface="Calibri"/>
                <a:ea typeface="Calibri"/>
              </a:rPr>
              <a:t>CRITICAL REFLECTION</a:t>
            </a:r>
            <a:endParaRPr b="0" lang="en-US" sz="1200" spc="-1" strike="noStrike">
              <a:solidFill>
                <a:srgbClr val="000000"/>
              </a:solidFill>
              <a:latin typeface="Arial"/>
            </a:endParaRPr>
          </a:p>
        </p:txBody>
      </p:sp>
      <p:sp>
        <p:nvSpPr>
          <p:cNvPr id="654" name="Text 2"/>
          <p:cNvSpPr/>
          <p:nvPr/>
        </p:nvSpPr>
        <p:spPr>
          <a:xfrm>
            <a:off x="548640" y="658440"/>
            <a:ext cx="11063520" cy="77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900" spc="-1" strike="noStrike">
                <a:solidFill>
                  <a:srgbClr val="0e2233"/>
                </a:solidFill>
                <a:latin typeface="Cambria"/>
                <a:ea typeface="Cambria"/>
              </a:rPr>
              <a:t>Limitations &amp; future work</a:t>
            </a:r>
            <a:endParaRPr b="0" lang="en-US" sz="2900" spc="-1" strike="noStrike">
              <a:solidFill>
                <a:srgbClr val="000000"/>
              </a:solidFill>
              <a:latin typeface="Arial"/>
            </a:endParaRPr>
          </a:p>
        </p:txBody>
      </p:sp>
      <p:sp>
        <p:nvSpPr>
          <p:cNvPr id="655" name="Text 3"/>
          <p:cNvSpPr/>
          <p:nvPr/>
        </p:nvSpPr>
        <p:spPr>
          <a:xfrm>
            <a:off x="640080" y="1691640"/>
            <a:ext cx="530280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97" strike="noStrike">
                <a:solidFill>
                  <a:srgbClr val="e2643b"/>
                </a:solidFill>
                <a:latin typeface="Calibri"/>
                <a:ea typeface="Calibri"/>
              </a:rPr>
              <a:t>LIMITATIONS</a:t>
            </a:r>
            <a:endParaRPr b="0" lang="en-US" sz="1400" spc="-1" strike="noStrike">
              <a:solidFill>
                <a:srgbClr val="000000"/>
              </a:solidFill>
              <a:latin typeface="Arial"/>
            </a:endParaRPr>
          </a:p>
        </p:txBody>
      </p:sp>
      <p:sp>
        <p:nvSpPr>
          <p:cNvPr id="656" name="Text 4"/>
          <p:cNvSpPr/>
          <p:nvPr/>
        </p:nvSpPr>
        <p:spPr>
          <a:xfrm>
            <a:off x="640080" y="2057400"/>
            <a:ext cx="5348520" cy="3839760"/>
          </a:xfrm>
          <a:prstGeom prst="rect">
            <a:avLst/>
          </a:prstGeom>
          <a:noFill/>
          <a:ln w="0">
            <a:noFill/>
          </a:ln>
        </p:spPr>
        <p:style>
          <a:lnRef idx="0"/>
          <a:fillRef idx="0"/>
          <a:effectRef idx="0"/>
          <a:fontRef idx="minor"/>
        </p:style>
        <p:txBody>
          <a:bodyPr lIns="0" rIns="0" tIns="0" bIns="0" anchor="t">
            <a:noAutofit/>
          </a:bodyPr>
          <a:p>
            <a:pPr marL="177840" indent="-177840" defTabSz="914400">
              <a:lnSpc>
                <a:spcPct val="104000"/>
              </a:lnSpc>
              <a:spcAft>
                <a:spcPts val="799"/>
              </a:spcAft>
              <a:buClr>
                <a:srgbClr val="1a2733"/>
              </a:buClr>
              <a:buFont typeface="Symbol" charset="2"/>
              <a:buChar char=""/>
            </a:pPr>
            <a:r>
              <a:rPr b="0" lang="en-US" sz="1350" spc="-1" strike="noStrike">
                <a:solidFill>
                  <a:srgbClr val="1a2733"/>
                </a:solidFill>
                <a:latin typeface="Calibri"/>
                <a:ea typeface="Calibri"/>
              </a:rPr>
              <a:t>Single weather year (2023) and one site — robustness across years/sites not yet swept.</a:t>
            </a:r>
            <a:endParaRPr b="0" lang="en-US" sz="135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350" spc="-1" strike="noStrike">
                <a:solidFill>
                  <a:srgbClr val="1a2733"/>
                </a:solidFill>
                <a:latin typeface="Calibri"/>
                <a:ea typeface="Calibri"/>
              </a:rPr>
              <a:t>The network is comfortably within limits, so voltage/loading constraints rarely bind at this PV size.</a:t>
            </a:r>
            <a:endParaRPr b="0" lang="en-US" sz="135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350" spc="-1" strike="noStrike">
                <a:solidFill>
                  <a:srgbClr val="1a2733"/>
                </a:solidFill>
                <a:latin typeface="Calibri"/>
                <a:ea typeface="Calibri"/>
              </a:rPr>
              <a:t>Forecast model is a simple persistence + clearness correction, not a learned predictor.</a:t>
            </a:r>
            <a:endParaRPr b="0" lang="en-US" sz="135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350" spc="-1" strike="noStrike">
                <a:solidFill>
                  <a:srgbClr val="1a2733"/>
                </a:solidFill>
                <a:latin typeface="Calibri"/>
                <a:ea typeface="Calibri"/>
              </a:rPr>
              <a:t>Decisions are hourly; sub-hourly control only matters once storage is added.</a:t>
            </a:r>
            <a:endParaRPr b="0" lang="en-US" sz="1350" spc="-1" strike="noStrike">
              <a:solidFill>
                <a:srgbClr val="000000"/>
              </a:solidFill>
              <a:latin typeface="Arial"/>
            </a:endParaRPr>
          </a:p>
        </p:txBody>
      </p:sp>
      <p:sp>
        <p:nvSpPr>
          <p:cNvPr id="657" name="Text 5"/>
          <p:cNvSpPr/>
          <p:nvPr/>
        </p:nvSpPr>
        <p:spPr>
          <a:xfrm>
            <a:off x="6309360" y="1691640"/>
            <a:ext cx="530280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97" strike="noStrike">
                <a:solidFill>
                  <a:srgbClr val="2a9d8f"/>
                </a:solidFill>
                <a:latin typeface="Calibri"/>
                <a:ea typeface="Calibri"/>
              </a:rPr>
              <a:t>FUTURE WORK</a:t>
            </a:r>
            <a:endParaRPr b="0" lang="en-US" sz="1400" spc="-1" strike="noStrike">
              <a:solidFill>
                <a:srgbClr val="000000"/>
              </a:solidFill>
              <a:latin typeface="Arial"/>
            </a:endParaRPr>
          </a:p>
        </p:txBody>
      </p:sp>
      <p:sp>
        <p:nvSpPr>
          <p:cNvPr id="658" name="Text 6"/>
          <p:cNvSpPr/>
          <p:nvPr/>
        </p:nvSpPr>
        <p:spPr>
          <a:xfrm>
            <a:off x="6309360" y="2057400"/>
            <a:ext cx="5348520" cy="3839760"/>
          </a:xfrm>
          <a:prstGeom prst="rect">
            <a:avLst/>
          </a:prstGeom>
          <a:noFill/>
          <a:ln w="0">
            <a:noFill/>
          </a:ln>
        </p:spPr>
        <p:style>
          <a:lnRef idx="0"/>
          <a:fillRef idx="0"/>
          <a:effectRef idx="0"/>
          <a:fontRef idx="minor"/>
        </p:style>
        <p:txBody>
          <a:bodyPr lIns="0" rIns="0" tIns="0" bIns="0" anchor="t">
            <a:noAutofit/>
          </a:bodyPr>
          <a:p>
            <a:pPr marL="177840" indent="-177840" defTabSz="914400">
              <a:lnSpc>
                <a:spcPct val="104000"/>
              </a:lnSpc>
              <a:spcAft>
                <a:spcPts val="799"/>
              </a:spcAft>
              <a:buClr>
                <a:srgbClr val="1a2733"/>
              </a:buClr>
              <a:buFont typeface="Symbol" charset="2"/>
              <a:buChar char=""/>
            </a:pPr>
            <a:r>
              <a:rPr b="0" lang="en-US" sz="1350" spc="-1" strike="noStrike">
                <a:solidFill>
                  <a:srgbClr val="1a2733"/>
                </a:solidFill>
                <a:latin typeface="Calibri"/>
                <a:ea typeface="Calibri"/>
              </a:rPr>
              <a:t>Sensitivity / robustness across multiple weather years and sites.</a:t>
            </a:r>
            <a:endParaRPr b="0" lang="en-US" sz="135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350" spc="-1" strike="noStrike">
                <a:solidFill>
                  <a:srgbClr val="1a2733"/>
                </a:solidFill>
                <a:latin typeface="Calibri"/>
                <a:ea typeface="Calibri"/>
              </a:rPr>
              <a:t>Size the PV larger so network limits activate — then constraints truly drive the control.</a:t>
            </a:r>
            <a:endParaRPr b="0" lang="en-US" sz="135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350" spc="-1" strike="noStrike">
                <a:solidFill>
                  <a:srgbClr val="1a2733"/>
                </a:solidFill>
                <a:latin typeface="Calibri"/>
                <a:ea typeface="Calibri"/>
              </a:rPr>
              <a:t>Learned PV forecasting; a policy-based 15-min controller with storage.</a:t>
            </a:r>
            <a:endParaRPr b="0" lang="en-US" sz="135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350" spc="-1" strike="noStrike">
                <a:solidFill>
                  <a:srgbClr val="1a2733"/>
                </a:solidFill>
                <a:latin typeface="Calibri"/>
                <a:ea typeface="Calibri"/>
              </a:rPr>
              <a:t>Multi-objective dispatch (cost vs CO₂) and surrogate-model acceleration.</a:t>
            </a:r>
            <a:endParaRPr b="0" lang="en-US" sz="1350" spc="-1" strike="noStrike">
              <a:solidFill>
                <a:srgbClr val="000000"/>
              </a:solidFill>
              <a:latin typeface="Arial"/>
            </a:endParaRPr>
          </a:p>
        </p:txBody>
      </p:sp>
      <p:sp>
        <p:nvSpPr>
          <p:cNvPr id="659" name="Text 7"/>
          <p:cNvSpPr/>
          <p:nvPr/>
        </p:nvSpPr>
        <p:spPr>
          <a:xfrm>
            <a:off x="548640" y="6437520"/>
            <a:ext cx="82288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900" spc="-1" strike="noStrike">
                <a:solidFill>
                  <a:srgbClr val="6b7c8f"/>
                </a:solidFill>
                <a:latin typeface="Calibri"/>
                <a:ea typeface="Calibri"/>
              </a:rPr>
              <a:t>Supervisory Dispatch Control · Solar–Grid–Electrolyzer H₂ Plant</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e2233"/>
        </a:solidFill>
      </p:bgPr>
    </p:bg>
    <p:spTree>
      <p:nvGrpSpPr>
        <p:cNvPr id="1" name=""/>
        <p:cNvGrpSpPr/>
        <p:nvPr/>
      </p:nvGrpSpPr>
      <p:grpSpPr>
        <a:xfrm>
          <a:off x="0" y="0"/>
          <a:ext cx="0" cy="0"/>
          <a:chOff x="0" y="0"/>
          <a:chExt cx="0" cy="0"/>
        </a:xfrm>
      </p:grpSpPr>
      <p:sp>
        <p:nvSpPr>
          <p:cNvPr id="660" name="Text 0"/>
          <p:cNvSpPr/>
          <p:nvPr/>
        </p:nvSpPr>
        <p:spPr>
          <a:xfrm>
            <a:off x="11338560" y="6400800"/>
            <a:ext cx="456480" cy="291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050" spc="-1" strike="noStrike">
                <a:solidFill>
                  <a:srgbClr val="8ea6bc"/>
                </a:solidFill>
                <a:latin typeface="Calibri"/>
                <a:ea typeface="Calibri"/>
              </a:rPr>
              <a:t>30</a:t>
            </a:r>
            <a:endParaRPr b="0" lang="en-US" sz="1050" spc="-1" strike="noStrike">
              <a:solidFill>
                <a:srgbClr val="ffffff"/>
              </a:solidFill>
              <a:latin typeface="Arial"/>
            </a:endParaRPr>
          </a:p>
        </p:txBody>
      </p:sp>
      <p:sp>
        <p:nvSpPr>
          <p:cNvPr id="661" name="Shape 1"/>
          <p:cNvSpPr/>
          <p:nvPr/>
        </p:nvSpPr>
        <p:spPr>
          <a:xfrm>
            <a:off x="9418320" y="-2286000"/>
            <a:ext cx="5668560" cy="5668560"/>
          </a:xfrm>
          <a:prstGeom prst="ellipse">
            <a:avLst/>
          </a:prstGeom>
          <a:solidFill>
            <a:srgbClr val="16344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62" name="Shape 2"/>
          <p:cNvSpPr/>
          <p:nvPr/>
        </p:nvSpPr>
        <p:spPr>
          <a:xfrm>
            <a:off x="10424160" y="3840480"/>
            <a:ext cx="4205520" cy="4205520"/>
          </a:xfrm>
          <a:prstGeom prst="ellipse">
            <a:avLst/>
          </a:prstGeom>
          <a:solidFill>
            <a:srgbClr val="12283c"/>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63" name="Text 3"/>
          <p:cNvSpPr/>
          <p:nvPr/>
        </p:nvSpPr>
        <p:spPr>
          <a:xfrm>
            <a:off x="640080" y="1828800"/>
            <a:ext cx="10057680" cy="913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5000" spc="-1" strike="noStrike">
                <a:solidFill>
                  <a:srgbClr val="ffffff"/>
                </a:solidFill>
                <a:latin typeface="Cambria"/>
                <a:ea typeface="Cambria"/>
              </a:rPr>
              <a:t>THANK YOU</a:t>
            </a:r>
            <a:endParaRPr b="0" lang="en-US" sz="5000" spc="-1" strike="noStrike">
              <a:solidFill>
                <a:srgbClr val="ffffff"/>
              </a:solidFill>
              <a:latin typeface="Arial"/>
            </a:endParaRPr>
          </a:p>
        </p:txBody>
      </p:sp>
      <p:sp>
        <p:nvSpPr>
          <p:cNvPr id="664" name="Text 4"/>
          <p:cNvSpPr/>
          <p:nvPr/>
        </p:nvSpPr>
        <p:spPr>
          <a:xfrm>
            <a:off x="658440" y="2971800"/>
            <a:ext cx="10057680" cy="547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2000" spc="-1" strike="noStrike">
                <a:solidFill>
                  <a:srgbClr val="aec2d4"/>
                </a:solidFill>
                <a:latin typeface="Calibri"/>
                <a:ea typeface="Calibri"/>
              </a:rPr>
              <a:t>We welcome your questions.</a:t>
            </a:r>
            <a:endParaRPr b="0" lang="en-US" sz="2000" spc="-1" strike="noStrike">
              <a:solidFill>
                <a:srgbClr val="ffffff"/>
              </a:solidFill>
              <a:latin typeface="Arial"/>
            </a:endParaRPr>
          </a:p>
        </p:txBody>
      </p:sp>
      <p:sp>
        <p:nvSpPr>
          <p:cNvPr id="665" name="Text 5"/>
          <p:cNvSpPr/>
          <p:nvPr/>
        </p:nvSpPr>
        <p:spPr>
          <a:xfrm>
            <a:off x="658440" y="4114800"/>
            <a:ext cx="10514880" cy="146232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1500" spc="-1" strike="noStrike">
                <a:solidFill>
                  <a:srgbClr val="ffffff"/>
                </a:solidFill>
                <a:latin typeface="Calibri"/>
                <a:ea typeface="Calibri"/>
              </a:rPr>
              <a:t>BOUBIDI Youcef   ·   BOUDJADJA Mohamed Akrem</a:t>
            </a:r>
            <a:endParaRPr b="0" lang="en-US" sz="1500" spc="-1" strike="noStrike">
              <a:solidFill>
                <a:srgbClr val="ffffff"/>
              </a:solidFill>
              <a:latin typeface="Arial"/>
            </a:endParaRPr>
          </a:p>
          <a:p>
            <a:pPr defTabSz="914400">
              <a:lnSpc>
                <a:spcPct val="120000"/>
              </a:lnSpc>
              <a:tabLst>
                <a:tab algn="l" pos="0"/>
              </a:tabLst>
            </a:pPr>
            <a:endParaRPr b="0" lang="en-US" sz="1500" spc="-1" strike="noStrike">
              <a:solidFill>
                <a:srgbClr val="ffffff"/>
              </a:solidFill>
              <a:latin typeface="Arial"/>
            </a:endParaRPr>
          </a:p>
          <a:p>
            <a:pPr defTabSz="914400">
              <a:lnSpc>
                <a:spcPct val="120000"/>
              </a:lnSpc>
              <a:tabLst>
                <a:tab algn="l" pos="0"/>
              </a:tabLst>
            </a:pPr>
            <a:r>
              <a:rPr b="0" lang="en-US" sz="1300" spc="-1" strike="noStrike">
                <a:solidFill>
                  <a:srgbClr val="8ea6bc"/>
                </a:solidFill>
                <a:latin typeface="Calibri"/>
                <a:ea typeface="Calibri"/>
              </a:rPr>
              <a:t>M2 Automation · University of Boumerdès · July 4, 2026</a:t>
            </a:r>
            <a:endParaRPr b="0" lang="en-US" sz="1300" spc="-1" strike="noStrike">
              <a:solidFill>
                <a:srgbClr val="ffffff"/>
              </a:solidFill>
              <a:latin typeface="Arial"/>
            </a:endParaRPr>
          </a:p>
          <a:p>
            <a:pPr defTabSz="914400">
              <a:lnSpc>
                <a:spcPct val="120000"/>
              </a:lnSpc>
              <a:tabLst>
                <a:tab algn="l" pos="0"/>
              </a:tabLst>
            </a:pPr>
            <a:endParaRPr b="0" lang="en-US" sz="1300" spc="-1" strike="noStrike">
              <a:solidFill>
                <a:srgbClr val="ffffff"/>
              </a:solidFill>
              <a:latin typeface="Arial"/>
            </a:endParaRPr>
          </a:p>
          <a:p>
            <a:pPr defTabSz="914400">
              <a:lnSpc>
                <a:spcPct val="120000"/>
              </a:lnSpc>
              <a:tabLst>
                <a:tab algn="l" pos="0"/>
              </a:tabLst>
            </a:pPr>
            <a:r>
              <a:rPr b="0" i="1" lang="en-US" sz="1250" spc="-1" strike="noStrike">
                <a:solidFill>
                  <a:srgbClr val="8ea6bc"/>
                </a:solidFill>
                <a:latin typeface="Calibri"/>
                <a:ea typeface="Calibri"/>
              </a:rPr>
              <a:t>All code, data and figures are versioned and reproducible (one script per figure).</a:t>
            </a:r>
            <a:endParaRPr b="0" lang="en-US" sz="1250" spc="-1" strike="noStrike">
              <a:solidFill>
                <a:srgbClr val="ffffff"/>
              </a:solidFill>
              <a:latin typeface="Arial"/>
            </a:endParaRPr>
          </a:p>
        </p:txBody>
      </p:sp>
      <p:sp>
        <p:nvSpPr>
          <p:cNvPr id="666" name="Text 6"/>
          <p:cNvSpPr/>
          <p:nvPr/>
        </p:nvSpPr>
        <p:spPr>
          <a:xfrm>
            <a:off x="658440" y="6035040"/>
            <a:ext cx="548568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200" spc="-1" strike="noStrike">
                <a:solidFill>
                  <a:srgbClr val="f4a623"/>
                </a:solidFill>
                <a:latin typeface="Calibri"/>
                <a:ea typeface="Calibri"/>
              </a:rPr>
              <a:t>Backup slides follow ▸</a:t>
            </a:r>
            <a:endParaRPr b="0" lang="en-US" sz="1200" spc="-1" strike="noStrike">
              <a:solidFill>
                <a:srgbClr val="ffffff"/>
              </a:solidFill>
              <a:latin typeface="Arial"/>
            </a:endParaRPr>
          </a:p>
        </p:txBody>
      </p:sp>
      <p:sp>
        <p:nvSpPr>
          <p:cNvPr id="667" name="Text 7"/>
          <p:cNvSpPr/>
          <p:nvPr/>
        </p:nvSpPr>
        <p:spPr>
          <a:xfrm>
            <a:off x="11338560" y="6400800"/>
            <a:ext cx="456480" cy="291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050" spc="-1" strike="noStrike">
                <a:solidFill>
                  <a:srgbClr val="8ea6bc"/>
                </a:solidFill>
                <a:latin typeface="Calibri"/>
                <a:ea typeface="Calibri"/>
              </a:rPr>
              <a:t>30</a:t>
            </a:r>
            <a:endParaRPr b="0" lang="en-US" sz="10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e2233"/>
        </a:solidFill>
      </p:bgPr>
    </p:bg>
    <p:spTree>
      <p:nvGrpSpPr>
        <p:cNvPr id="1" name=""/>
        <p:cNvGrpSpPr/>
        <p:nvPr/>
      </p:nvGrpSpPr>
      <p:grpSpPr>
        <a:xfrm>
          <a:off x="0" y="0"/>
          <a:ext cx="0" cy="0"/>
          <a:chOff x="0" y="0"/>
          <a:chExt cx="0" cy="0"/>
        </a:xfrm>
      </p:grpSpPr>
      <p:sp>
        <p:nvSpPr>
          <p:cNvPr id="668" name="Text 0"/>
          <p:cNvSpPr/>
          <p:nvPr/>
        </p:nvSpPr>
        <p:spPr>
          <a:xfrm>
            <a:off x="11338560" y="6400800"/>
            <a:ext cx="456480" cy="291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050" spc="-1" strike="noStrike">
                <a:solidFill>
                  <a:srgbClr val="8ea6bc"/>
                </a:solidFill>
                <a:latin typeface="Calibri"/>
                <a:ea typeface="Calibri"/>
              </a:rPr>
              <a:t>31</a:t>
            </a:r>
            <a:endParaRPr b="0" lang="en-US" sz="1050" spc="-1" strike="noStrike">
              <a:solidFill>
                <a:srgbClr val="ffffff"/>
              </a:solidFill>
              <a:latin typeface="Arial"/>
            </a:endParaRPr>
          </a:p>
        </p:txBody>
      </p:sp>
      <p:sp>
        <p:nvSpPr>
          <p:cNvPr id="669" name="Text 1"/>
          <p:cNvSpPr/>
          <p:nvPr/>
        </p:nvSpPr>
        <p:spPr>
          <a:xfrm>
            <a:off x="640080" y="2468880"/>
            <a:ext cx="10057680" cy="913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4600" spc="-1" strike="noStrike">
                <a:solidFill>
                  <a:srgbClr val="ffffff"/>
                </a:solidFill>
                <a:latin typeface="Cambria"/>
                <a:ea typeface="Cambria"/>
              </a:rPr>
              <a:t>APPENDIX</a:t>
            </a:r>
            <a:endParaRPr b="0" lang="en-US" sz="4600" spc="-1" strike="noStrike">
              <a:solidFill>
                <a:srgbClr val="ffffff"/>
              </a:solidFill>
              <a:latin typeface="Arial"/>
            </a:endParaRPr>
          </a:p>
        </p:txBody>
      </p:sp>
      <p:sp>
        <p:nvSpPr>
          <p:cNvPr id="670" name="Text 2"/>
          <p:cNvSpPr/>
          <p:nvPr/>
        </p:nvSpPr>
        <p:spPr>
          <a:xfrm>
            <a:off x="658440" y="3520440"/>
            <a:ext cx="1005768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800" spc="-1" strike="noStrike">
                <a:solidFill>
                  <a:srgbClr val="aec2d4"/>
                </a:solidFill>
                <a:latin typeface="Calibri"/>
                <a:ea typeface="Calibri"/>
              </a:rPr>
              <a:t>Backup slides for jury questions</a:t>
            </a:r>
            <a:endParaRPr b="0" lang="en-US" sz="1800" spc="-1" strike="noStrike">
              <a:solidFill>
                <a:srgbClr val="ffffff"/>
              </a:solidFill>
              <a:latin typeface="Arial"/>
            </a:endParaRPr>
          </a:p>
        </p:txBody>
      </p:sp>
      <p:sp>
        <p:nvSpPr>
          <p:cNvPr id="671" name="Text 3"/>
          <p:cNvSpPr/>
          <p:nvPr/>
        </p:nvSpPr>
        <p:spPr>
          <a:xfrm>
            <a:off x="658440" y="4114800"/>
            <a:ext cx="1051488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300" spc="-1" strike="noStrike">
                <a:solidFill>
                  <a:srgbClr val="f4a623"/>
                </a:solidFill>
                <a:latin typeface="Calibri"/>
                <a:ea typeface="Calibri"/>
              </a:rPr>
              <a:t>Validation · network · tariff · PSO · MPC · electrolyzer · resolution · storage · reproducibility</a:t>
            </a:r>
            <a:endParaRPr b="0" lang="en-US" sz="13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72" name="Text 0"/>
          <p:cNvSpPr/>
          <p:nvPr/>
        </p:nvSpPr>
        <p:spPr>
          <a:xfrm>
            <a:off x="11338560" y="6400800"/>
            <a:ext cx="456480" cy="291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050" spc="-1" strike="noStrike">
                <a:solidFill>
                  <a:srgbClr val="6b7c8f"/>
                </a:solidFill>
                <a:latin typeface="Calibri"/>
                <a:ea typeface="Calibri"/>
              </a:rPr>
              <a:t>32</a:t>
            </a:r>
            <a:endParaRPr b="0" lang="en-US" sz="1050" spc="-1" strike="noStrike">
              <a:solidFill>
                <a:srgbClr val="000000"/>
              </a:solidFill>
              <a:latin typeface="Arial"/>
            </a:endParaRPr>
          </a:p>
        </p:txBody>
      </p:sp>
      <p:sp>
        <p:nvSpPr>
          <p:cNvPr id="673" name="Text 1"/>
          <p:cNvSpPr/>
          <p:nvPr/>
        </p:nvSpPr>
        <p:spPr>
          <a:xfrm>
            <a:off x="548640" y="384120"/>
            <a:ext cx="109720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97" strike="noStrike">
                <a:solidFill>
                  <a:srgbClr val="f4a623"/>
                </a:solidFill>
                <a:latin typeface="Calibri"/>
                <a:ea typeface="Calibri"/>
              </a:rPr>
              <a:t>APPENDIX · A0 — RUN OF SHOW</a:t>
            </a:r>
            <a:endParaRPr b="0" lang="en-US" sz="1150" spc="-1" strike="noStrike">
              <a:solidFill>
                <a:srgbClr val="000000"/>
              </a:solidFill>
              <a:latin typeface="Arial"/>
            </a:endParaRPr>
          </a:p>
        </p:txBody>
      </p:sp>
      <p:sp>
        <p:nvSpPr>
          <p:cNvPr id="674" name="Text 2"/>
          <p:cNvSpPr/>
          <p:nvPr/>
        </p:nvSpPr>
        <p:spPr>
          <a:xfrm>
            <a:off x="548640" y="658440"/>
            <a:ext cx="11063520" cy="730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600" spc="-1" strike="noStrike">
                <a:solidFill>
                  <a:srgbClr val="0e2233"/>
                </a:solidFill>
                <a:latin typeface="Cambria"/>
                <a:ea typeface="Cambria"/>
              </a:rPr>
              <a:t>Minute-by-minute plan (rehearsal sheet — not presented)</a:t>
            </a:r>
            <a:endParaRPr b="0" lang="en-US" sz="2600" spc="-1" strike="noStrike">
              <a:solidFill>
                <a:srgbClr val="000000"/>
              </a:solidFill>
              <a:latin typeface="Arial"/>
            </a:endParaRPr>
          </a:p>
        </p:txBody>
      </p:sp>
      <p:sp>
        <p:nvSpPr>
          <p:cNvPr id="675" name="Shape 3"/>
          <p:cNvSpPr/>
          <p:nvPr/>
        </p:nvSpPr>
        <p:spPr>
          <a:xfrm>
            <a:off x="548640" y="1554480"/>
            <a:ext cx="11063520" cy="328320"/>
          </a:xfrm>
          <a:prstGeom prst="roundRect">
            <a:avLst>
              <a:gd name="adj" fmla="val 13889"/>
            </a:avLst>
          </a:prstGeom>
          <a:solidFill>
            <a:srgbClr val="eef3f7"/>
          </a:solidFill>
          <a:ln w="6350">
            <a:solidFill>
              <a:srgbClr val="dce5ec"/>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676" name="Text 4"/>
          <p:cNvSpPr/>
          <p:nvPr/>
        </p:nvSpPr>
        <p:spPr>
          <a:xfrm>
            <a:off x="713160" y="1554480"/>
            <a:ext cx="639360" cy="328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 strike="noStrike">
                <a:solidFill>
                  <a:srgbClr val="1c7293"/>
                </a:solidFill>
                <a:latin typeface="Calibri"/>
                <a:ea typeface="Calibri"/>
              </a:rPr>
              <a:t>0:00</a:t>
            </a:r>
            <a:endParaRPr b="0" lang="en-US" sz="1150" spc="-1" strike="noStrike">
              <a:solidFill>
                <a:srgbClr val="000000"/>
              </a:solidFill>
              <a:latin typeface="Arial"/>
            </a:endParaRPr>
          </a:p>
        </p:txBody>
      </p:sp>
      <p:sp>
        <p:nvSpPr>
          <p:cNvPr id="677" name="Text 5"/>
          <p:cNvSpPr/>
          <p:nvPr/>
        </p:nvSpPr>
        <p:spPr>
          <a:xfrm>
            <a:off x="1389960" y="1554480"/>
            <a:ext cx="410760" cy="328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1c7293"/>
                </a:solidFill>
                <a:latin typeface="Calibri"/>
                <a:ea typeface="Calibri"/>
              </a:rPr>
              <a:t>P1</a:t>
            </a:r>
            <a:endParaRPr b="0" lang="en-US" sz="1100" spc="-1" strike="noStrike">
              <a:solidFill>
                <a:srgbClr val="000000"/>
              </a:solidFill>
              <a:latin typeface="Arial"/>
            </a:endParaRPr>
          </a:p>
        </p:txBody>
      </p:sp>
      <p:sp>
        <p:nvSpPr>
          <p:cNvPr id="678" name="Text 6"/>
          <p:cNvSpPr/>
          <p:nvPr/>
        </p:nvSpPr>
        <p:spPr>
          <a:xfrm>
            <a:off x="1874520" y="1554480"/>
            <a:ext cx="9600480" cy="328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80" spc="-1" strike="noStrike">
                <a:solidFill>
                  <a:srgbClr val="1a2733"/>
                </a:solidFill>
                <a:latin typeface="Calibri"/>
                <a:ea typeface="Calibri"/>
              </a:rPr>
              <a:t>Title &amp; hook — “a controller that roughly halves the cost of green hydrogen — shown running live.”</a:t>
            </a:r>
            <a:endParaRPr b="0" lang="en-US" sz="1080" spc="-1" strike="noStrike">
              <a:solidFill>
                <a:srgbClr val="000000"/>
              </a:solidFill>
              <a:latin typeface="Arial"/>
            </a:endParaRPr>
          </a:p>
        </p:txBody>
      </p:sp>
      <p:sp>
        <p:nvSpPr>
          <p:cNvPr id="679" name="Shape 7"/>
          <p:cNvSpPr/>
          <p:nvPr/>
        </p:nvSpPr>
        <p:spPr>
          <a:xfrm>
            <a:off x="548640" y="1929240"/>
            <a:ext cx="11063520" cy="328320"/>
          </a:xfrm>
          <a:prstGeom prst="roundRect">
            <a:avLst>
              <a:gd name="adj" fmla="val 13889"/>
            </a:avLst>
          </a:prstGeom>
          <a:solidFill>
            <a:srgbClr val="f4f7fa"/>
          </a:solidFill>
          <a:ln w="6350">
            <a:solidFill>
              <a:srgbClr val="dce5ec"/>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680" name="Text 8"/>
          <p:cNvSpPr/>
          <p:nvPr/>
        </p:nvSpPr>
        <p:spPr>
          <a:xfrm>
            <a:off x="713160" y="1929240"/>
            <a:ext cx="639360" cy="328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 strike="noStrike">
                <a:solidFill>
                  <a:srgbClr val="1c7293"/>
                </a:solidFill>
                <a:latin typeface="Calibri"/>
                <a:ea typeface="Calibri"/>
              </a:rPr>
              <a:t>0:30</a:t>
            </a:r>
            <a:endParaRPr b="0" lang="en-US" sz="1150" spc="-1" strike="noStrike">
              <a:solidFill>
                <a:srgbClr val="000000"/>
              </a:solidFill>
              <a:latin typeface="Arial"/>
            </a:endParaRPr>
          </a:p>
        </p:txBody>
      </p:sp>
      <p:sp>
        <p:nvSpPr>
          <p:cNvPr id="681" name="Text 9"/>
          <p:cNvSpPr/>
          <p:nvPr/>
        </p:nvSpPr>
        <p:spPr>
          <a:xfrm>
            <a:off x="1389960" y="1929240"/>
            <a:ext cx="410760" cy="328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1c7293"/>
                </a:solidFill>
                <a:latin typeface="Calibri"/>
                <a:ea typeface="Calibri"/>
              </a:rPr>
              <a:t>P1</a:t>
            </a:r>
            <a:endParaRPr b="0" lang="en-US" sz="1100" spc="-1" strike="noStrike">
              <a:solidFill>
                <a:srgbClr val="000000"/>
              </a:solidFill>
              <a:latin typeface="Arial"/>
            </a:endParaRPr>
          </a:p>
        </p:txBody>
      </p:sp>
      <p:sp>
        <p:nvSpPr>
          <p:cNvPr id="682" name="Text 10"/>
          <p:cNvSpPr/>
          <p:nvPr/>
        </p:nvSpPr>
        <p:spPr>
          <a:xfrm>
            <a:off x="1874520" y="1929240"/>
            <a:ext cx="9600480" cy="328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80" spc="-1" strike="noStrike">
                <a:solidFill>
                  <a:srgbClr val="1a2733"/>
                </a:solidFill>
                <a:latin typeface="Calibri"/>
                <a:ea typeface="Calibri"/>
              </a:rPr>
              <a:t>Agenda + who presents what (30 s, don't dwell)</a:t>
            </a:r>
            <a:endParaRPr b="0" lang="en-US" sz="1080" spc="-1" strike="noStrike">
              <a:solidFill>
                <a:srgbClr val="000000"/>
              </a:solidFill>
              <a:latin typeface="Arial"/>
            </a:endParaRPr>
          </a:p>
        </p:txBody>
      </p:sp>
      <p:sp>
        <p:nvSpPr>
          <p:cNvPr id="683" name="Shape 11"/>
          <p:cNvSpPr/>
          <p:nvPr/>
        </p:nvSpPr>
        <p:spPr>
          <a:xfrm>
            <a:off x="548640" y="2304360"/>
            <a:ext cx="11063520" cy="328320"/>
          </a:xfrm>
          <a:prstGeom prst="roundRect">
            <a:avLst>
              <a:gd name="adj" fmla="val 13889"/>
            </a:avLst>
          </a:prstGeom>
          <a:solidFill>
            <a:srgbClr val="eef3f7"/>
          </a:solidFill>
          <a:ln w="6350">
            <a:solidFill>
              <a:srgbClr val="dce5ec"/>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684" name="Text 12"/>
          <p:cNvSpPr/>
          <p:nvPr/>
        </p:nvSpPr>
        <p:spPr>
          <a:xfrm>
            <a:off x="713160" y="2304360"/>
            <a:ext cx="639360" cy="328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 strike="noStrike">
                <a:solidFill>
                  <a:srgbClr val="1c7293"/>
                </a:solidFill>
                <a:latin typeface="Calibri"/>
                <a:ea typeface="Calibri"/>
              </a:rPr>
              <a:t>1:00</a:t>
            </a:r>
            <a:endParaRPr b="0" lang="en-US" sz="1150" spc="-1" strike="noStrike">
              <a:solidFill>
                <a:srgbClr val="000000"/>
              </a:solidFill>
              <a:latin typeface="Arial"/>
            </a:endParaRPr>
          </a:p>
        </p:txBody>
      </p:sp>
      <p:sp>
        <p:nvSpPr>
          <p:cNvPr id="685" name="Text 13"/>
          <p:cNvSpPr/>
          <p:nvPr/>
        </p:nvSpPr>
        <p:spPr>
          <a:xfrm>
            <a:off x="1389960" y="2304360"/>
            <a:ext cx="410760" cy="328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1c7293"/>
                </a:solidFill>
                <a:latin typeface="Calibri"/>
                <a:ea typeface="Calibri"/>
              </a:rPr>
              <a:t>P1</a:t>
            </a:r>
            <a:endParaRPr b="0" lang="en-US" sz="1100" spc="-1" strike="noStrike">
              <a:solidFill>
                <a:srgbClr val="000000"/>
              </a:solidFill>
              <a:latin typeface="Arial"/>
            </a:endParaRPr>
          </a:p>
        </p:txBody>
      </p:sp>
      <p:sp>
        <p:nvSpPr>
          <p:cNvPr id="686" name="Text 14"/>
          <p:cNvSpPr/>
          <p:nvPr/>
        </p:nvSpPr>
        <p:spPr>
          <a:xfrm>
            <a:off x="1874520" y="2304360"/>
            <a:ext cx="9600480" cy="328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80" spc="-1" strike="noStrike">
                <a:solidFill>
                  <a:srgbClr val="1a2733"/>
                </a:solidFill>
                <a:latin typeface="Calibri"/>
                <a:ea typeface="Calibri"/>
              </a:rPr>
              <a:t>The product — 3× diesel per kg · 97 Mt industry · the colours · electricity = the cost</a:t>
            </a:r>
            <a:endParaRPr b="0" lang="en-US" sz="1080" spc="-1" strike="noStrike">
              <a:solidFill>
                <a:srgbClr val="000000"/>
              </a:solidFill>
              <a:latin typeface="Arial"/>
            </a:endParaRPr>
          </a:p>
        </p:txBody>
      </p:sp>
      <p:sp>
        <p:nvSpPr>
          <p:cNvPr id="687" name="Shape 15"/>
          <p:cNvSpPr/>
          <p:nvPr/>
        </p:nvSpPr>
        <p:spPr>
          <a:xfrm>
            <a:off x="548640" y="2679120"/>
            <a:ext cx="11063520" cy="328320"/>
          </a:xfrm>
          <a:prstGeom prst="roundRect">
            <a:avLst>
              <a:gd name="adj" fmla="val 13889"/>
            </a:avLst>
          </a:prstGeom>
          <a:solidFill>
            <a:srgbClr val="f4f7fa"/>
          </a:solidFill>
          <a:ln w="6350">
            <a:solidFill>
              <a:srgbClr val="dce5ec"/>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688" name="Text 16"/>
          <p:cNvSpPr/>
          <p:nvPr/>
        </p:nvSpPr>
        <p:spPr>
          <a:xfrm>
            <a:off x="713160" y="2679120"/>
            <a:ext cx="639360" cy="328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 strike="noStrike">
                <a:solidFill>
                  <a:srgbClr val="1c7293"/>
                </a:solidFill>
                <a:latin typeface="Calibri"/>
                <a:ea typeface="Calibri"/>
              </a:rPr>
              <a:t>2:00</a:t>
            </a:r>
            <a:endParaRPr b="0" lang="en-US" sz="1150" spc="-1" strike="noStrike">
              <a:solidFill>
                <a:srgbClr val="000000"/>
              </a:solidFill>
              <a:latin typeface="Arial"/>
            </a:endParaRPr>
          </a:p>
        </p:txBody>
      </p:sp>
      <p:sp>
        <p:nvSpPr>
          <p:cNvPr id="689" name="Text 17"/>
          <p:cNvSpPr/>
          <p:nvPr/>
        </p:nvSpPr>
        <p:spPr>
          <a:xfrm>
            <a:off x="1389960" y="2679120"/>
            <a:ext cx="410760" cy="328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1c7293"/>
                </a:solidFill>
                <a:latin typeface="Calibri"/>
                <a:ea typeface="Calibri"/>
              </a:rPr>
              <a:t>P1</a:t>
            </a:r>
            <a:endParaRPr b="0" lang="en-US" sz="1100" spc="-1" strike="noStrike">
              <a:solidFill>
                <a:srgbClr val="000000"/>
              </a:solidFill>
              <a:latin typeface="Arial"/>
            </a:endParaRPr>
          </a:p>
        </p:txBody>
      </p:sp>
      <p:sp>
        <p:nvSpPr>
          <p:cNvPr id="690" name="Text 18"/>
          <p:cNvSpPr/>
          <p:nvPr/>
        </p:nvSpPr>
        <p:spPr>
          <a:xfrm>
            <a:off x="1874520" y="2679120"/>
            <a:ext cx="9600480" cy="328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80" spc="-1" strike="noStrike">
                <a:solidFill>
                  <a:srgbClr val="1a2733"/>
                </a:solidFill>
                <a:latin typeface="Calibri"/>
                <a:ea typeface="Calibri"/>
              </a:rPr>
              <a:t>Why now (reserves ≈ 50 yr, CBAM 2026, solar −90 %) → three strategies (141 / 117 kg / 27.8) → the four promises</a:t>
            </a:r>
            <a:endParaRPr b="0" lang="en-US" sz="1080" spc="-1" strike="noStrike">
              <a:solidFill>
                <a:srgbClr val="000000"/>
              </a:solidFill>
              <a:latin typeface="Arial"/>
            </a:endParaRPr>
          </a:p>
        </p:txBody>
      </p:sp>
      <p:sp>
        <p:nvSpPr>
          <p:cNvPr id="691" name="Shape 19"/>
          <p:cNvSpPr/>
          <p:nvPr/>
        </p:nvSpPr>
        <p:spPr>
          <a:xfrm>
            <a:off x="548640" y="3054240"/>
            <a:ext cx="11063520" cy="328320"/>
          </a:xfrm>
          <a:prstGeom prst="roundRect">
            <a:avLst>
              <a:gd name="adj" fmla="val 13889"/>
            </a:avLst>
          </a:prstGeom>
          <a:solidFill>
            <a:srgbClr val="eef3f7"/>
          </a:solidFill>
          <a:ln w="6350">
            <a:solidFill>
              <a:srgbClr val="dce5ec"/>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692" name="Text 20"/>
          <p:cNvSpPr/>
          <p:nvPr/>
        </p:nvSpPr>
        <p:spPr>
          <a:xfrm>
            <a:off x="713160" y="3054240"/>
            <a:ext cx="639360" cy="328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 strike="noStrike">
                <a:solidFill>
                  <a:srgbClr val="1c7293"/>
                </a:solidFill>
                <a:latin typeface="Calibri"/>
                <a:ea typeface="Calibri"/>
              </a:rPr>
              <a:t>5:15</a:t>
            </a:r>
            <a:endParaRPr b="0" lang="en-US" sz="1150" spc="-1" strike="noStrike">
              <a:solidFill>
                <a:srgbClr val="000000"/>
              </a:solidFill>
              <a:latin typeface="Arial"/>
            </a:endParaRPr>
          </a:p>
        </p:txBody>
      </p:sp>
      <p:sp>
        <p:nvSpPr>
          <p:cNvPr id="693" name="Text 21"/>
          <p:cNvSpPr/>
          <p:nvPr/>
        </p:nvSpPr>
        <p:spPr>
          <a:xfrm>
            <a:off x="1389960" y="3054240"/>
            <a:ext cx="410760" cy="328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1c7293"/>
                </a:solidFill>
                <a:latin typeface="Calibri"/>
                <a:ea typeface="Calibri"/>
              </a:rPr>
              <a:t>P1</a:t>
            </a:r>
            <a:endParaRPr b="0" lang="en-US" sz="1100" spc="-1" strike="noStrike">
              <a:solidFill>
                <a:srgbClr val="000000"/>
              </a:solidFill>
              <a:latin typeface="Arial"/>
            </a:endParaRPr>
          </a:p>
        </p:txBody>
      </p:sp>
      <p:sp>
        <p:nvSpPr>
          <p:cNvPr id="694" name="Text 22"/>
          <p:cNvSpPr/>
          <p:nvPr/>
        </p:nvSpPr>
        <p:spPr>
          <a:xfrm>
            <a:off x="1874520" y="3054240"/>
            <a:ext cx="9600480" cy="328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80" spc="-1" strike="noStrike">
                <a:solidFill>
                  <a:srgbClr val="1a2733"/>
                </a:solidFill>
                <a:latin typeface="Calibri"/>
                <a:ea typeface="Calibri"/>
              </a:rPr>
              <a:t>Part II — the method in one picture (4 stages, real thumbnails) → real data &amp; the official tariff</a:t>
            </a:r>
            <a:endParaRPr b="0" lang="en-US" sz="1080" spc="-1" strike="noStrike">
              <a:solidFill>
                <a:srgbClr val="000000"/>
              </a:solidFill>
              <a:latin typeface="Arial"/>
            </a:endParaRPr>
          </a:p>
        </p:txBody>
      </p:sp>
      <p:sp>
        <p:nvSpPr>
          <p:cNvPr id="695" name="Shape 23"/>
          <p:cNvSpPr/>
          <p:nvPr/>
        </p:nvSpPr>
        <p:spPr>
          <a:xfrm>
            <a:off x="548640" y="3429000"/>
            <a:ext cx="11063520" cy="328320"/>
          </a:xfrm>
          <a:prstGeom prst="roundRect">
            <a:avLst>
              <a:gd name="adj" fmla="val 13889"/>
            </a:avLst>
          </a:prstGeom>
          <a:solidFill>
            <a:srgbClr val="f4f7fa"/>
          </a:solidFill>
          <a:ln w="6350">
            <a:solidFill>
              <a:srgbClr val="dce5ec"/>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696" name="Text 24"/>
          <p:cNvSpPr/>
          <p:nvPr/>
        </p:nvSpPr>
        <p:spPr>
          <a:xfrm>
            <a:off x="713160" y="3429000"/>
            <a:ext cx="639360" cy="328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 strike="noStrike">
                <a:solidFill>
                  <a:srgbClr val="1c7293"/>
                </a:solidFill>
                <a:latin typeface="Calibri"/>
                <a:ea typeface="Calibri"/>
              </a:rPr>
              <a:t>7:15</a:t>
            </a:r>
            <a:endParaRPr b="0" lang="en-US" sz="1150" spc="-1" strike="noStrike">
              <a:solidFill>
                <a:srgbClr val="000000"/>
              </a:solidFill>
              <a:latin typeface="Arial"/>
            </a:endParaRPr>
          </a:p>
        </p:txBody>
      </p:sp>
      <p:sp>
        <p:nvSpPr>
          <p:cNvPr id="697" name="Text 25"/>
          <p:cNvSpPr/>
          <p:nvPr/>
        </p:nvSpPr>
        <p:spPr>
          <a:xfrm>
            <a:off x="1389960" y="3429000"/>
            <a:ext cx="410760" cy="328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1c7293"/>
                </a:solidFill>
                <a:latin typeface="Calibri"/>
                <a:ea typeface="Calibri"/>
              </a:rPr>
              <a:t>P1</a:t>
            </a:r>
            <a:endParaRPr b="0" lang="en-US" sz="1100" spc="-1" strike="noStrike">
              <a:solidFill>
                <a:srgbClr val="000000"/>
              </a:solidFill>
              <a:latin typeface="Arial"/>
            </a:endParaRPr>
          </a:p>
        </p:txBody>
      </p:sp>
      <p:sp>
        <p:nvSpPr>
          <p:cNvPr id="698" name="Text 26"/>
          <p:cNvSpPr/>
          <p:nvPr/>
        </p:nvSpPr>
        <p:spPr>
          <a:xfrm>
            <a:off x="1874520" y="3429000"/>
            <a:ext cx="9600480" cy="328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80" spc="-1" strike="noStrike">
                <a:solidFill>
                  <a:srgbClr val="1a2733"/>
                </a:solidFill>
                <a:latin typeface="Calibri"/>
                <a:ea typeface="Calibri"/>
              </a:rPr>
              <a:t>Validation vs the industry reference (24/24) → electrolyzer physics (54 kWh/kg, 10 % turndown)</a:t>
            </a:r>
            <a:endParaRPr b="0" lang="en-US" sz="1080" spc="-1" strike="noStrike">
              <a:solidFill>
                <a:srgbClr val="000000"/>
              </a:solidFill>
              <a:latin typeface="Arial"/>
            </a:endParaRPr>
          </a:p>
        </p:txBody>
      </p:sp>
      <p:sp>
        <p:nvSpPr>
          <p:cNvPr id="699" name="Shape 27"/>
          <p:cNvSpPr/>
          <p:nvPr/>
        </p:nvSpPr>
        <p:spPr>
          <a:xfrm>
            <a:off x="548640" y="3803760"/>
            <a:ext cx="11063520" cy="328320"/>
          </a:xfrm>
          <a:prstGeom prst="roundRect">
            <a:avLst>
              <a:gd name="adj" fmla="val 13889"/>
            </a:avLst>
          </a:prstGeom>
          <a:solidFill>
            <a:srgbClr val="eef3f7"/>
          </a:solidFill>
          <a:ln w="6350">
            <a:solidFill>
              <a:srgbClr val="dce5ec"/>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700" name="Text 28"/>
          <p:cNvSpPr/>
          <p:nvPr/>
        </p:nvSpPr>
        <p:spPr>
          <a:xfrm>
            <a:off x="713160" y="3803760"/>
            <a:ext cx="639360" cy="328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 strike="noStrike">
                <a:solidFill>
                  <a:srgbClr val="1c7293"/>
                </a:solidFill>
                <a:latin typeface="Calibri"/>
                <a:ea typeface="Calibri"/>
              </a:rPr>
              <a:t>9:00</a:t>
            </a:r>
            <a:endParaRPr b="0" lang="en-US" sz="1150" spc="-1" strike="noStrike">
              <a:solidFill>
                <a:srgbClr val="000000"/>
              </a:solidFill>
              <a:latin typeface="Arial"/>
            </a:endParaRPr>
          </a:p>
        </p:txBody>
      </p:sp>
      <p:sp>
        <p:nvSpPr>
          <p:cNvPr id="701" name="Text 29"/>
          <p:cNvSpPr/>
          <p:nvPr/>
        </p:nvSpPr>
        <p:spPr>
          <a:xfrm>
            <a:off x="1389960" y="3803760"/>
            <a:ext cx="410760" cy="328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1c7293"/>
                </a:solidFill>
                <a:latin typeface="Calibri"/>
                <a:ea typeface="Calibri"/>
              </a:rPr>
              <a:t>P1</a:t>
            </a:r>
            <a:endParaRPr b="0" lang="en-US" sz="1100" spc="-1" strike="noStrike">
              <a:solidFill>
                <a:srgbClr val="000000"/>
              </a:solidFill>
              <a:latin typeface="Arial"/>
            </a:endParaRPr>
          </a:p>
        </p:txBody>
      </p:sp>
      <p:sp>
        <p:nvSpPr>
          <p:cNvPr id="702" name="Text 30"/>
          <p:cNvSpPr/>
          <p:nvPr/>
        </p:nvSpPr>
        <p:spPr>
          <a:xfrm>
            <a:off x="1874520" y="3803760"/>
            <a:ext cx="9600480" cy="328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80" spc="-1" strike="noStrike">
                <a:solidFill>
                  <a:srgbClr val="1a2733"/>
                </a:solidFill>
                <a:latin typeface="Calibri"/>
                <a:ea typeface="Calibri"/>
              </a:rPr>
              <a:t>① </a:t>
            </a:r>
            <a:r>
              <a:rPr b="0" lang="en-US" sz="1080" spc="-1" strike="noStrike">
                <a:solidFill>
                  <a:srgbClr val="1a2733"/>
                </a:solidFill>
                <a:latin typeface="Calibri"/>
                <a:ea typeface="Calibri"/>
              </a:rPr>
              <a:t>the problem: formulation + formal statement (state-space, Hammerstein, least-cost J) → HANDOVER</a:t>
            </a:r>
            <a:endParaRPr b="0" lang="en-US" sz="1080" spc="-1" strike="noStrike">
              <a:solidFill>
                <a:srgbClr val="000000"/>
              </a:solidFill>
              <a:latin typeface="Arial"/>
            </a:endParaRPr>
          </a:p>
        </p:txBody>
      </p:sp>
      <p:sp>
        <p:nvSpPr>
          <p:cNvPr id="703" name="Shape 31"/>
          <p:cNvSpPr/>
          <p:nvPr/>
        </p:nvSpPr>
        <p:spPr>
          <a:xfrm>
            <a:off x="548640" y="4178880"/>
            <a:ext cx="11063520" cy="328320"/>
          </a:xfrm>
          <a:prstGeom prst="roundRect">
            <a:avLst>
              <a:gd name="adj" fmla="val 13889"/>
            </a:avLst>
          </a:prstGeom>
          <a:solidFill>
            <a:srgbClr val="f4f7fa"/>
          </a:solidFill>
          <a:ln w="6350">
            <a:solidFill>
              <a:srgbClr val="dce5ec"/>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704" name="Text 32"/>
          <p:cNvSpPr/>
          <p:nvPr/>
        </p:nvSpPr>
        <p:spPr>
          <a:xfrm>
            <a:off x="713160" y="4178880"/>
            <a:ext cx="639360" cy="328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 strike="noStrike">
                <a:solidFill>
                  <a:srgbClr val="1c7293"/>
                </a:solidFill>
                <a:latin typeface="Calibri"/>
                <a:ea typeface="Calibri"/>
              </a:rPr>
              <a:t>10:00</a:t>
            </a:r>
            <a:endParaRPr b="0" lang="en-US" sz="1150" spc="-1" strike="noStrike">
              <a:solidFill>
                <a:srgbClr val="000000"/>
              </a:solidFill>
              <a:latin typeface="Arial"/>
            </a:endParaRPr>
          </a:p>
        </p:txBody>
      </p:sp>
      <p:sp>
        <p:nvSpPr>
          <p:cNvPr id="705" name="Text 33"/>
          <p:cNvSpPr/>
          <p:nvPr/>
        </p:nvSpPr>
        <p:spPr>
          <a:xfrm>
            <a:off x="1389960" y="4178880"/>
            <a:ext cx="410760" cy="328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e2643b"/>
                </a:solidFill>
                <a:latin typeface="Calibri"/>
                <a:ea typeface="Calibri"/>
              </a:rPr>
              <a:t>P2</a:t>
            </a:r>
            <a:endParaRPr b="0" lang="en-US" sz="1100" spc="-1" strike="noStrike">
              <a:solidFill>
                <a:srgbClr val="000000"/>
              </a:solidFill>
              <a:latin typeface="Arial"/>
            </a:endParaRPr>
          </a:p>
        </p:txBody>
      </p:sp>
      <p:sp>
        <p:nvSpPr>
          <p:cNvPr id="706" name="Text 34"/>
          <p:cNvSpPr/>
          <p:nvPr/>
        </p:nvSpPr>
        <p:spPr>
          <a:xfrm>
            <a:off x="1874520" y="4178880"/>
            <a:ext cx="9600480" cy="328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80" spc="-1" strike="noStrike">
                <a:solidFill>
                  <a:srgbClr val="1a2733"/>
                </a:solidFill>
                <a:latin typeface="Calibri"/>
                <a:ea typeface="Calibri"/>
              </a:rPr>
              <a:t>PSO — concept &amp; true update rule → convergence (3 seeds, same ≈5,565 DA optimum)</a:t>
            </a:r>
            <a:endParaRPr b="0" lang="en-US" sz="1080" spc="-1" strike="noStrike">
              <a:solidFill>
                <a:srgbClr val="000000"/>
              </a:solidFill>
              <a:latin typeface="Arial"/>
            </a:endParaRPr>
          </a:p>
        </p:txBody>
      </p:sp>
      <p:sp>
        <p:nvSpPr>
          <p:cNvPr id="707" name="Shape 35"/>
          <p:cNvSpPr/>
          <p:nvPr/>
        </p:nvSpPr>
        <p:spPr>
          <a:xfrm>
            <a:off x="548640" y="4553640"/>
            <a:ext cx="11063520" cy="328320"/>
          </a:xfrm>
          <a:prstGeom prst="roundRect">
            <a:avLst>
              <a:gd name="adj" fmla="val 13889"/>
            </a:avLst>
          </a:prstGeom>
          <a:solidFill>
            <a:srgbClr val="eef3f7"/>
          </a:solidFill>
          <a:ln w="6350">
            <a:solidFill>
              <a:srgbClr val="dce5ec"/>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708" name="Text 36"/>
          <p:cNvSpPr/>
          <p:nvPr/>
        </p:nvSpPr>
        <p:spPr>
          <a:xfrm>
            <a:off x="713160" y="4553640"/>
            <a:ext cx="639360" cy="328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 strike="noStrike">
                <a:solidFill>
                  <a:srgbClr val="1c7293"/>
                </a:solidFill>
                <a:latin typeface="Calibri"/>
                <a:ea typeface="Calibri"/>
              </a:rPr>
              <a:t>11:30</a:t>
            </a:r>
            <a:endParaRPr b="0" lang="en-US" sz="1150" spc="-1" strike="noStrike">
              <a:solidFill>
                <a:srgbClr val="000000"/>
              </a:solidFill>
              <a:latin typeface="Arial"/>
            </a:endParaRPr>
          </a:p>
        </p:txBody>
      </p:sp>
      <p:sp>
        <p:nvSpPr>
          <p:cNvPr id="709" name="Text 37"/>
          <p:cNvSpPr/>
          <p:nvPr/>
        </p:nvSpPr>
        <p:spPr>
          <a:xfrm>
            <a:off x="1389960" y="4553640"/>
            <a:ext cx="410760" cy="328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e2643b"/>
                </a:solidFill>
                <a:latin typeface="Calibri"/>
                <a:ea typeface="Calibri"/>
              </a:rPr>
              <a:t>P2</a:t>
            </a:r>
            <a:endParaRPr b="0" lang="en-US" sz="1100" spc="-1" strike="noStrike">
              <a:solidFill>
                <a:srgbClr val="000000"/>
              </a:solidFill>
              <a:latin typeface="Arial"/>
            </a:endParaRPr>
          </a:p>
        </p:txBody>
      </p:sp>
      <p:sp>
        <p:nvSpPr>
          <p:cNvPr id="710" name="Text 38"/>
          <p:cNvSpPr/>
          <p:nvPr/>
        </p:nvSpPr>
        <p:spPr>
          <a:xfrm>
            <a:off x="1874520" y="4553640"/>
            <a:ext cx="9600480" cy="328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80" spc="-1" strike="noStrike">
                <a:solidFill>
                  <a:srgbClr val="1a2733"/>
                </a:solidFill>
                <a:latin typeface="Calibri"/>
                <a:ea typeface="Calibri"/>
              </a:rPr>
              <a:t>③ </a:t>
            </a:r>
            <a:r>
              <a:rPr b="0" lang="en-US" sz="1080" spc="-1" strike="noStrike">
                <a:solidFill>
                  <a:srgbClr val="1a2733"/>
                </a:solidFill>
                <a:latin typeface="Calibri"/>
                <a:ea typeface="Calibri"/>
              </a:rPr>
              <a:t>the loop — MPC named at last: block diagram in equations + receding horizon → the law in one line</a:t>
            </a:r>
            <a:endParaRPr b="0" lang="en-US" sz="1080" spc="-1" strike="noStrike">
              <a:solidFill>
                <a:srgbClr val="000000"/>
              </a:solidFill>
              <a:latin typeface="Arial"/>
            </a:endParaRPr>
          </a:p>
        </p:txBody>
      </p:sp>
      <p:sp>
        <p:nvSpPr>
          <p:cNvPr id="711" name="Shape 39"/>
          <p:cNvSpPr/>
          <p:nvPr/>
        </p:nvSpPr>
        <p:spPr>
          <a:xfrm>
            <a:off x="548640" y="4928760"/>
            <a:ext cx="11063520" cy="328320"/>
          </a:xfrm>
          <a:prstGeom prst="roundRect">
            <a:avLst>
              <a:gd name="adj" fmla="val 13889"/>
            </a:avLst>
          </a:prstGeom>
          <a:solidFill>
            <a:srgbClr val="f4f7fa"/>
          </a:solidFill>
          <a:ln w="6350">
            <a:solidFill>
              <a:srgbClr val="dce5ec"/>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712" name="Text 40"/>
          <p:cNvSpPr/>
          <p:nvPr/>
        </p:nvSpPr>
        <p:spPr>
          <a:xfrm>
            <a:off x="713160" y="4928760"/>
            <a:ext cx="639360" cy="328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 strike="noStrike">
                <a:solidFill>
                  <a:srgbClr val="1c7293"/>
                </a:solidFill>
                <a:latin typeface="Calibri"/>
                <a:ea typeface="Calibri"/>
              </a:rPr>
              <a:t>13:30</a:t>
            </a:r>
            <a:endParaRPr b="0" lang="en-US" sz="1150" spc="-1" strike="noStrike">
              <a:solidFill>
                <a:srgbClr val="000000"/>
              </a:solidFill>
              <a:latin typeface="Arial"/>
            </a:endParaRPr>
          </a:p>
        </p:txBody>
      </p:sp>
      <p:sp>
        <p:nvSpPr>
          <p:cNvPr id="713" name="Text 41"/>
          <p:cNvSpPr/>
          <p:nvPr/>
        </p:nvSpPr>
        <p:spPr>
          <a:xfrm>
            <a:off x="1389960" y="4928760"/>
            <a:ext cx="410760" cy="328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e2643b"/>
                </a:solidFill>
                <a:latin typeface="Calibri"/>
                <a:ea typeface="Calibri"/>
              </a:rPr>
              <a:t>P2</a:t>
            </a:r>
            <a:endParaRPr b="0" lang="en-US" sz="1100" spc="-1" strike="noStrike">
              <a:solidFill>
                <a:srgbClr val="000000"/>
              </a:solidFill>
              <a:latin typeface="Arial"/>
            </a:endParaRPr>
          </a:p>
        </p:txBody>
      </p:sp>
      <p:sp>
        <p:nvSpPr>
          <p:cNvPr id="714" name="Text 42"/>
          <p:cNvSpPr/>
          <p:nvPr/>
        </p:nvSpPr>
        <p:spPr>
          <a:xfrm>
            <a:off x="1874520" y="4928760"/>
            <a:ext cx="9600480" cy="328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80" spc="-1" strike="noStrike">
                <a:solidFill>
                  <a:srgbClr val="1a2733"/>
                </a:solidFill>
                <a:latin typeface="Calibri"/>
                <a:ea typeface="Calibri"/>
              </a:rPr>
              <a:t>Results — day plan → vs traditional → MPC (+2.4 %, −51 %) → cloud anatomy (+2.1 %) → annual → battery</a:t>
            </a:r>
            <a:endParaRPr b="0" lang="en-US" sz="1080" spc="-1" strike="noStrike">
              <a:solidFill>
                <a:srgbClr val="000000"/>
              </a:solidFill>
              <a:latin typeface="Arial"/>
            </a:endParaRPr>
          </a:p>
        </p:txBody>
      </p:sp>
      <p:sp>
        <p:nvSpPr>
          <p:cNvPr id="715" name="Shape 43"/>
          <p:cNvSpPr/>
          <p:nvPr/>
        </p:nvSpPr>
        <p:spPr>
          <a:xfrm>
            <a:off x="548640" y="5303520"/>
            <a:ext cx="11063520" cy="328320"/>
          </a:xfrm>
          <a:prstGeom prst="roundRect">
            <a:avLst>
              <a:gd name="adj" fmla="val 13889"/>
            </a:avLst>
          </a:prstGeom>
          <a:solidFill>
            <a:srgbClr val="eef3f7"/>
          </a:solidFill>
          <a:ln w="6350">
            <a:solidFill>
              <a:srgbClr val="dce5ec"/>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716" name="Text 44"/>
          <p:cNvSpPr/>
          <p:nvPr/>
        </p:nvSpPr>
        <p:spPr>
          <a:xfrm>
            <a:off x="713160" y="5303520"/>
            <a:ext cx="639360" cy="328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 strike="noStrike">
                <a:solidFill>
                  <a:srgbClr val="1c7293"/>
                </a:solidFill>
                <a:latin typeface="Calibri"/>
                <a:ea typeface="Calibri"/>
              </a:rPr>
              <a:t>17:20</a:t>
            </a:r>
            <a:endParaRPr b="0" lang="en-US" sz="1150" spc="-1" strike="noStrike">
              <a:solidFill>
                <a:srgbClr val="000000"/>
              </a:solidFill>
              <a:latin typeface="Arial"/>
            </a:endParaRPr>
          </a:p>
        </p:txBody>
      </p:sp>
      <p:sp>
        <p:nvSpPr>
          <p:cNvPr id="717" name="Text 45"/>
          <p:cNvSpPr/>
          <p:nvPr/>
        </p:nvSpPr>
        <p:spPr>
          <a:xfrm>
            <a:off x="1389960" y="5303520"/>
            <a:ext cx="410760" cy="328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e2643b"/>
                </a:solidFill>
                <a:latin typeface="Calibri"/>
                <a:ea typeface="Calibri"/>
              </a:rPr>
              <a:t>P2</a:t>
            </a:r>
            <a:endParaRPr b="0" lang="en-US" sz="1100" spc="-1" strike="noStrike">
              <a:solidFill>
                <a:srgbClr val="000000"/>
              </a:solidFill>
              <a:latin typeface="Arial"/>
            </a:endParaRPr>
          </a:p>
        </p:txBody>
      </p:sp>
      <p:sp>
        <p:nvSpPr>
          <p:cNvPr id="718" name="Text 46"/>
          <p:cNvSpPr/>
          <p:nvPr/>
        </p:nvSpPr>
        <p:spPr>
          <a:xfrm>
            <a:off x="1874520" y="5303520"/>
            <a:ext cx="9600480" cy="328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80" spc="-1" strike="noStrike">
                <a:solidFill>
                  <a:srgbClr val="1a2733"/>
                </a:solidFill>
                <a:latin typeface="Calibri"/>
                <a:ea typeface="Calibri"/>
              </a:rPr>
              <a:t>Demo — dashboard live (~2 min: slider → optimise → control tab → validation; screenshot fallback ready)</a:t>
            </a:r>
            <a:endParaRPr b="0" lang="en-US" sz="1080" spc="-1" strike="noStrike">
              <a:solidFill>
                <a:srgbClr val="000000"/>
              </a:solidFill>
              <a:latin typeface="Arial"/>
            </a:endParaRPr>
          </a:p>
        </p:txBody>
      </p:sp>
      <p:sp>
        <p:nvSpPr>
          <p:cNvPr id="719" name="Shape 47"/>
          <p:cNvSpPr/>
          <p:nvPr/>
        </p:nvSpPr>
        <p:spPr>
          <a:xfrm>
            <a:off x="548640" y="5678280"/>
            <a:ext cx="11063520" cy="328320"/>
          </a:xfrm>
          <a:prstGeom prst="roundRect">
            <a:avLst>
              <a:gd name="adj" fmla="val 13889"/>
            </a:avLst>
          </a:prstGeom>
          <a:solidFill>
            <a:srgbClr val="f4f7fa"/>
          </a:solidFill>
          <a:ln w="6350">
            <a:solidFill>
              <a:srgbClr val="dce5ec"/>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720" name="Text 48"/>
          <p:cNvSpPr/>
          <p:nvPr/>
        </p:nvSpPr>
        <p:spPr>
          <a:xfrm>
            <a:off x="713160" y="5678280"/>
            <a:ext cx="639360" cy="328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 strike="noStrike">
                <a:solidFill>
                  <a:srgbClr val="1c7293"/>
                </a:solidFill>
                <a:latin typeface="Calibri"/>
                <a:ea typeface="Calibri"/>
              </a:rPr>
              <a:t>19:10</a:t>
            </a:r>
            <a:endParaRPr b="0" lang="en-US" sz="1150" spc="-1" strike="noStrike">
              <a:solidFill>
                <a:srgbClr val="000000"/>
              </a:solidFill>
              <a:latin typeface="Arial"/>
            </a:endParaRPr>
          </a:p>
        </p:txBody>
      </p:sp>
      <p:sp>
        <p:nvSpPr>
          <p:cNvPr id="721" name="Text 49"/>
          <p:cNvSpPr/>
          <p:nvPr/>
        </p:nvSpPr>
        <p:spPr>
          <a:xfrm>
            <a:off x="1389960" y="5678280"/>
            <a:ext cx="410760" cy="328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e2643b"/>
                </a:solidFill>
                <a:latin typeface="Calibri"/>
                <a:ea typeface="Calibri"/>
              </a:rPr>
              <a:t>P2</a:t>
            </a:r>
            <a:endParaRPr b="0" lang="en-US" sz="1100" spc="-1" strike="noStrike">
              <a:solidFill>
                <a:srgbClr val="000000"/>
              </a:solidFill>
              <a:latin typeface="Arial"/>
            </a:endParaRPr>
          </a:p>
        </p:txBody>
      </p:sp>
      <p:sp>
        <p:nvSpPr>
          <p:cNvPr id="722" name="Text 50"/>
          <p:cNvSpPr/>
          <p:nvPr/>
        </p:nvSpPr>
        <p:spPr>
          <a:xfrm>
            <a:off x="1874520" y="5678280"/>
            <a:ext cx="9600480" cy="328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80" spc="-1" strike="noStrike">
                <a:solidFill>
                  <a:srgbClr val="1a2733"/>
                </a:solidFill>
                <a:latin typeface="Calibri"/>
                <a:ea typeface="Calibri"/>
              </a:rPr>
              <a:t>Conclusion → limitations → thank you at 20:00</a:t>
            </a:r>
            <a:endParaRPr b="0" lang="en-US" sz="1080" spc="-1" strike="noStrike">
              <a:solidFill>
                <a:srgbClr val="000000"/>
              </a:solidFill>
              <a:latin typeface="Arial"/>
            </a:endParaRPr>
          </a:p>
        </p:txBody>
      </p:sp>
      <p:sp>
        <p:nvSpPr>
          <p:cNvPr id="723" name="Text 51"/>
          <p:cNvSpPr/>
          <p:nvPr/>
        </p:nvSpPr>
        <p:spPr>
          <a:xfrm>
            <a:off x="548640" y="6144840"/>
            <a:ext cx="1106352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i="1" lang="en-US" sz="1150" spc="-1" strike="noStrike">
                <a:solidFill>
                  <a:srgbClr val="e2643b"/>
                </a:solidFill>
                <a:latin typeface="Calibri"/>
                <a:ea typeface="Calibri"/>
              </a:rPr>
              <a:t>Running long?  Compress in this order: battery → cloud anatomy → hydrogen 101.  Never compress: validation, the MPC comparison, the conclusion.</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24" name="Text 0"/>
          <p:cNvSpPr/>
          <p:nvPr/>
        </p:nvSpPr>
        <p:spPr>
          <a:xfrm>
            <a:off x="11338560" y="6400800"/>
            <a:ext cx="456480" cy="291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050" spc="-1" strike="noStrike">
                <a:solidFill>
                  <a:srgbClr val="6b7c8f"/>
                </a:solidFill>
                <a:latin typeface="Calibri"/>
                <a:ea typeface="Calibri"/>
              </a:rPr>
              <a:t>33</a:t>
            </a:r>
            <a:endParaRPr b="0" lang="en-US" sz="1050" spc="-1" strike="noStrike">
              <a:solidFill>
                <a:srgbClr val="000000"/>
              </a:solidFill>
              <a:latin typeface="Arial"/>
            </a:endParaRPr>
          </a:p>
        </p:txBody>
      </p:sp>
      <p:sp>
        <p:nvSpPr>
          <p:cNvPr id="725" name="Text 1"/>
          <p:cNvSpPr/>
          <p:nvPr/>
        </p:nvSpPr>
        <p:spPr>
          <a:xfrm>
            <a:off x="548640" y="384120"/>
            <a:ext cx="109720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97" strike="noStrike">
                <a:solidFill>
                  <a:srgbClr val="f4a623"/>
                </a:solidFill>
                <a:latin typeface="Calibri"/>
                <a:ea typeface="Calibri"/>
              </a:rPr>
              <a:t>APPENDIX · A1 — VALIDATION</a:t>
            </a:r>
            <a:endParaRPr b="0" lang="en-US" sz="1150" spc="-1" strike="noStrike">
              <a:solidFill>
                <a:srgbClr val="000000"/>
              </a:solidFill>
              <a:latin typeface="Arial"/>
            </a:endParaRPr>
          </a:p>
        </p:txBody>
      </p:sp>
      <p:sp>
        <p:nvSpPr>
          <p:cNvPr id="726" name="Text 2"/>
          <p:cNvSpPr/>
          <p:nvPr/>
        </p:nvSpPr>
        <p:spPr>
          <a:xfrm>
            <a:off x="548640" y="658440"/>
            <a:ext cx="11063520" cy="730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600" spc="-1" strike="noStrike">
                <a:solidFill>
                  <a:srgbClr val="0e2233"/>
                </a:solidFill>
                <a:latin typeface="Cambria"/>
                <a:ea typeface="Cambria"/>
              </a:rPr>
              <a:t>ETAP ↔ pandapower: 24/24 checks</a:t>
            </a:r>
            <a:endParaRPr b="0" lang="en-US" sz="2600" spc="-1" strike="noStrike">
              <a:solidFill>
                <a:srgbClr val="000000"/>
              </a:solidFill>
              <a:latin typeface="Arial"/>
            </a:endParaRPr>
          </a:p>
        </p:txBody>
      </p:sp>
      <p:pic>
        <p:nvPicPr>
          <p:cNvPr id="727" name="Image 0" descr="/home/youc/hydrogen-dispatch/results/figures/etap_validation_table.png"/>
          <p:cNvPicPr/>
          <p:nvPr/>
        </p:nvPicPr>
        <p:blipFill>
          <a:blip r:embed="rId1"/>
          <a:stretch/>
        </p:blipFill>
        <p:spPr>
          <a:xfrm>
            <a:off x="457200" y="1463040"/>
            <a:ext cx="7634520" cy="4982760"/>
          </a:xfrm>
          <a:prstGeom prst="rect">
            <a:avLst/>
          </a:prstGeom>
          <a:ln w="0">
            <a:noFill/>
          </a:ln>
        </p:spPr>
      </p:pic>
      <p:sp>
        <p:nvSpPr>
          <p:cNvPr id="728" name="Text 3"/>
          <p:cNvSpPr/>
          <p:nvPr/>
        </p:nvSpPr>
        <p:spPr>
          <a:xfrm>
            <a:off x="8321040" y="1783080"/>
            <a:ext cx="3382560" cy="4205520"/>
          </a:xfrm>
          <a:prstGeom prst="rect">
            <a:avLst/>
          </a:prstGeom>
          <a:noFill/>
          <a:ln w="0">
            <a:noFill/>
          </a:ln>
        </p:spPr>
        <p:style>
          <a:lnRef idx="0"/>
          <a:fillRef idx="0"/>
          <a:effectRef idx="0"/>
          <a:fontRef idx="minor"/>
        </p:style>
        <p:txBody>
          <a:bodyPr lIns="0" rIns="0" tIns="0" bIns="0" anchor="t">
            <a:noAutofit/>
          </a:bodyPr>
          <a:p>
            <a:pPr marL="177840" indent="-177840" defTabSz="914400">
              <a:lnSpc>
                <a:spcPct val="104000"/>
              </a:lnSpc>
              <a:spcAft>
                <a:spcPts val="799"/>
              </a:spcAft>
              <a:buClr>
                <a:srgbClr val="1a2733"/>
              </a:buClr>
              <a:buFont typeface="Symbol" charset="2"/>
              <a:buChar char=""/>
            </a:pPr>
            <a:r>
              <a:rPr b="0" lang="en-US" sz="1200" spc="-1" strike="noStrike">
                <a:solidFill>
                  <a:srgbClr val="1a2733"/>
                </a:solidFill>
                <a:latin typeface="Calibri"/>
                <a:ea typeface="Calibri"/>
              </a:rPr>
              <a:t>Three operating points × eight quantities = 24 checks.</a:t>
            </a:r>
            <a:endParaRPr b="0" lang="en-US" sz="120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200" spc="-1" strike="noStrike">
                <a:solidFill>
                  <a:srgbClr val="1a2733"/>
                </a:solidFill>
                <a:latin typeface="Calibri"/>
                <a:ea typeface="Calibri"/>
              </a:rPr>
              <a:t>Voltages within ±0.01 pu; transformer loading within 2 pts; flows/losses within 2 %.</a:t>
            </a:r>
            <a:endParaRPr b="0" lang="en-US" sz="120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200" spc="-1" strike="noStrike">
                <a:solidFill>
                  <a:srgbClr val="1a2733"/>
                </a:solidFill>
                <a:latin typeface="Calibri"/>
                <a:ea typeface="Calibri"/>
              </a:rPr>
              <a:t>PV-export case reproduces the reverse-power-flow sign (grid P = −0.533 MW).</a:t>
            </a:r>
            <a:endParaRPr b="0" lang="en-US" sz="120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200" spc="-1" strike="noStrike">
                <a:solidFill>
                  <a:srgbClr val="1a2733"/>
                </a:solidFill>
                <a:latin typeface="Calibri"/>
                <a:ea typeface="Calibri"/>
              </a:rPr>
              <a:t>Newton-Raphson solver, matching ETAP's.</a:t>
            </a:r>
            <a:endParaRPr b="0" lang="en-US" sz="120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200" spc="-1" strike="noStrike">
                <a:solidFill>
                  <a:srgbClr val="1a2733"/>
                </a:solidFill>
                <a:latin typeface="Calibri"/>
                <a:ea typeface="Calibri"/>
              </a:rPr>
              <a:t>Every number: results/tables/validation_pandapower_vs_etap.csv, regenerated by one script.</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29" name="Text 0"/>
          <p:cNvSpPr/>
          <p:nvPr/>
        </p:nvSpPr>
        <p:spPr>
          <a:xfrm>
            <a:off x="11338560" y="6400800"/>
            <a:ext cx="456480" cy="291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050" spc="-1" strike="noStrike">
                <a:solidFill>
                  <a:srgbClr val="6b7c8f"/>
                </a:solidFill>
                <a:latin typeface="Calibri"/>
                <a:ea typeface="Calibri"/>
              </a:rPr>
              <a:t>34</a:t>
            </a:r>
            <a:endParaRPr b="0" lang="en-US" sz="1050" spc="-1" strike="noStrike">
              <a:solidFill>
                <a:srgbClr val="000000"/>
              </a:solidFill>
              <a:latin typeface="Arial"/>
            </a:endParaRPr>
          </a:p>
        </p:txBody>
      </p:sp>
      <p:sp>
        <p:nvSpPr>
          <p:cNvPr id="730" name="Text 1"/>
          <p:cNvSpPr/>
          <p:nvPr/>
        </p:nvSpPr>
        <p:spPr>
          <a:xfrm>
            <a:off x="548640" y="384120"/>
            <a:ext cx="109720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97" strike="noStrike">
                <a:solidFill>
                  <a:srgbClr val="f4a623"/>
                </a:solidFill>
                <a:latin typeface="Calibri"/>
                <a:ea typeface="Calibri"/>
              </a:rPr>
              <a:t>APPENDIX · A2 — NETWORK</a:t>
            </a:r>
            <a:endParaRPr b="0" lang="en-US" sz="1150" spc="-1" strike="noStrike">
              <a:solidFill>
                <a:srgbClr val="000000"/>
              </a:solidFill>
              <a:latin typeface="Arial"/>
            </a:endParaRPr>
          </a:p>
        </p:txBody>
      </p:sp>
      <p:sp>
        <p:nvSpPr>
          <p:cNvPr id="731" name="Text 2"/>
          <p:cNvSpPr/>
          <p:nvPr/>
        </p:nvSpPr>
        <p:spPr>
          <a:xfrm>
            <a:off x="548640" y="658440"/>
            <a:ext cx="11063520" cy="730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600" spc="-1" strike="noStrike">
                <a:solidFill>
                  <a:srgbClr val="0e2233"/>
                </a:solidFill>
                <a:latin typeface="Cambria"/>
                <a:ea typeface="Cambria"/>
              </a:rPr>
              <a:t>Single-line model &amp; key parameters</a:t>
            </a:r>
            <a:endParaRPr b="0" lang="en-US" sz="2600" spc="-1" strike="noStrike">
              <a:solidFill>
                <a:srgbClr val="000000"/>
              </a:solidFill>
              <a:latin typeface="Arial"/>
            </a:endParaRPr>
          </a:p>
        </p:txBody>
      </p:sp>
      <p:sp>
        <p:nvSpPr>
          <p:cNvPr id="732" name="Shape 3"/>
          <p:cNvSpPr/>
          <p:nvPr/>
        </p:nvSpPr>
        <p:spPr>
          <a:xfrm>
            <a:off x="548640" y="1783080"/>
            <a:ext cx="6765840" cy="712440"/>
          </a:xfrm>
          <a:prstGeom prst="roundRect">
            <a:avLst>
              <a:gd name="adj" fmla="val 8974"/>
            </a:avLst>
          </a:prstGeom>
          <a:solidFill>
            <a:srgbClr val="eef3f7"/>
          </a:solidFill>
          <a:ln w="12700">
            <a:solidFill>
              <a:srgbClr val="dce5ec"/>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733" name="Text 4"/>
          <p:cNvSpPr/>
          <p:nvPr/>
        </p:nvSpPr>
        <p:spPr>
          <a:xfrm>
            <a:off x="731520" y="1783080"/>
            <a:ext cx="2468160" cy="712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50" spc="-1" strike="noStrike">
                <a:solidFill>
                  <a:srgbClr val="1c7293"/>
                </a:solidFill>
                <a:latin typeface="Calibri"/>
                <a:ea typeface="Calibri"/>
              </a:rPr>
              <a:t>Utility grid U1</a:t>
            </a:r>
            <a:endParaRPr b="0" lang="en-US" sz="1350" spc="-1" strike="noStrike">
              <a:solidFill>
                <a:srgbClr val="000000"/>
              </a:solidFill>
              <a:latin typeface="Arial"/>
            </a:endParaRPr>
          </a:p>
        </p:txBody>
      </p:sp>
      <p:sp>
        <p:nvSpPr>
          <p:cNvPr id="734" name="Text 5"/>
          <p:cNvSpPr/>
          <p:nvPr/>
        </p:nvSpPr>
        <p:spPr>
          <a:xfrm>
            <a:off x="3200400" y="1783080"/>
            <a:ext cx="4022640" cy="712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50" spc="-1" strike="noStrike">
                <a:solidFill>
                  <a:srgbClr val="1a2733"/>
                </a:solidFill>
                <a:latin typeface="Calibri"/>
                <a:ea typeface="Calibri"/>
              </a:rPr>
              <a:t>11 kV slack, 500 MVAsc, X/R = 10</a:t>
            </a:r>
            <a:endParaRPr b="0" lang="en-US" sz="1250" spc="-1" strike="noStrike">
              <a:solidFill>
                <a:srgbClr val="000000"/>
              </a:solidFill>
              <a:latin typeface="Arial"/>
            </a:endParaRPr>
          </a:p>
        </p:txBody>
      </p:sp>
      <p:sp>
        <p:nvSpPr>
          <p:cNvPr id="735" name="Shape 6"/>
          <p:cNvSpPr/>
          <p:nvPr/>
        </p:nvSpPr>
        <p:spPr>
          <a:xfrm>
            <a:off x="548640" y="2624400"/>
            <a:ext cx="6765840" cy="712440"/>
          </a:xfrm>
          <a:prstGeom prst="roundRect">
            <a:avLst>
              <a:gd name="adj" fmla="val 8974"/>
            </a:avLst>
          </a:prstGeom>
          <a:solidFill>
            <a:srgbClr val="eef3f7"/>
          </a:solidFill>
          <a:ln w="12700">
            <a:solidFill>
              <a:srgbClr val="dce5ec"/>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736" name="Text 7"/>
          <p:cNvSpPr/>
          <p:nvPr/>
        </p:nvSpPr>
        <p:spPr>
          <a:xfrm>
            <a:off x="731520" y="2624400"/>
            <a:ext cx="2468160" cy="712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50" spc="-1" strike="noStrike">
                <a:solidFill>
                  <a:srgbClr val="1c7293"/>
                </a:solidFill>
                <a:latin typeface="Calibri"/>
                <a:ea typeface="Calibri"/>
              </a:rPr>
              <a:t>Transformer T1</a:t>
            </a:r>
            <a:endParaRPr b="0" lang="en-US" sz="1350" spc="-1" strike="noStrike">
              <a:solidFill>
                <a:srgbClr val="000000"/>
              </a:solidFill>
              <a:latin typeface="Arial"/>
            </a:endParaRPr>
          </a:p>
        </p:txBody>
      </p:sp>
      <p:sp>
        <p:nvSpPr>
          <p:cNvPr id="737" name="Text 8"/>
          <p:cNvSpPr/>
          <p:nvPr/>
        </p:nvSpPr>
        <p:spPr>
          <a:xfrm>
            <a:off x="3200400" y="2624400"/>
            <a:ext cx="4022640" cy="712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50" spc="-1" strike="noStrike">
                <a:solidFill>
                  <a:srgbClr val="1a2733"/>
                </a:solidFill>
                <a:latin typeface="Calibri"/>
                <a:ea typeface="Calibri"/>
              </a:rPr>
              <a:t>2 MVA, 11 / 0.415 kV, Z = 6.25 %, X/R = 6</a:t>
            </a:r>
            <a:endParaRPr b="0" lang="en-US" sz="1250" spc="-1" strike="noStrike">
              <a:solidFill>
                <a:srgbClr val="000000"/>
              </a:solidFill>
              <a:latin typeface="Arial"/>
            </a:endParaRPr>
          </a:p>
        </p:txBody>
      </p:sp>
      <p:sp>
        <p:nvSpPr>
          <p:cNvPr id="738" name="Shape 9"/>
          <p:cNvSpPr/>
          <p:nvPr/>
        </p:nvSpPr>
        <p:spPr>
          <a:xfrm>
            <a:off x="548640" y="3465720"/>
            <a:ext cx="6765840" cy="712440"/>
          </a:xfrm>
          <a:prstGeom prst="roundRect">
            <a:avLst>
              <a:gd name="adj" fmla="val 8974"/>
            </a:avLst>
          </a:prstGeom>
          <a:solidFill>
            <a:srgbClr val="eef3f7"/>
          </a:solidFill>
          <a:ln w="12700">
            <a:solidFill>
              <a:srgbClr val="dce5ec"/>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739" name="Text 10"/>
          <p:cNvSpPr/>
          <p:nvPr/>
        </p:nvSpPr>
        <p:spPr>
          <a:xfrm>
            <a:off x="731520" y="3465720"/>
            <a:ext cx="2468160" cy="712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50" spc="-1" strike="noStrike">
                <a:solidFill>
                  <a:srgbClr val="1c7293"/>
                </a:solidFill>
                <a:latin typeface="Calibri"/>
                <a:ea typeface="Calibri"/>
              </a:rPr>
              <a:t>Electrolyzer ELY</a:t>
            </a:r>
            <a:endParaRPr b="0" lang="en-US" sz="1350" spc="-1" strike="noStrike">
              <a:solidFill>
                <a:srgbClr val="000000"/>
              </a:solidFill>
              <a:latin typeface="Arial"/>
            </a:endParaRPr>
          </a:p>
        </p:txBody>
      </p:sp>
      <p:sp>
        <p:nvSpPr>
          <p:cNvPr id="740" name="Text 11"/>
          <p:cNvSpPr/>
          <p:nvPr/>
        </p:nvSpPr>
        <p:spPr>
          <a:xfrm>
            <a:off x="3200400" y="3465720"/>
            <a:ext cx="4022640" cy="712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50" spc="-1" strike="noStrike">
                <a:solidFill>
                  <a:srgbClr val="1a2733"/>
                </a:solidFill>
                <a:latin typeface="Calibri"/>
                <a:ea typeface="Calibri"/>
              </a:rPr>
              <a:t>0.800 MW, pf 0.95, constant-power load</a:t>
            </a:r>
            <a:endParaRPr b="0" lang="en-US" sz="1250" spc="-1" strike="noStrike">
              <a:solidFill>
                <a:srgbClr val="000000"/>
              </a:solidFill>
              <a:latin typeface="Arial"/>
            </a:endParaRPr>
          </a:p>
        </p:txBody>
      </p:sp>
      <p:sp>
        <p:nvSpPr>
          <p:cNvPr id="741" name="Shape 12"/>
          <p:cNvSpPr/>
          <p:nvPr/>
        </p:nvSpPr>
        <p:spPr>
          <a:xfrm>
            <a:off x="548640" y="4306680"/>
            <a:ext cx="6765840" cy="712440"/>
          </a:xfrm>
          <a:prstGeom prst="roundRect">
            <a:avLst>
              <a:gd name="adj" fmla="val 8974"/>
            </a:avLst>
          </a:prstGeom>
          <a:solidFill>
            <a:srgbClr val="eef3f7"/>
          </a:solidFill>
          <a:ln w="12700">
            <a:solidFill>
              <a:srgbClr val="dce5ec"/>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742" name="Text 13"/>
          <p:cNvSpPr/>
          <p:nvPr/>
        </p:nvSpPr>
        <p:spPr>
          <a:xfrm>
            <a:off x="731520" y="4306680"/>
            <a:ext cx="2468160" cy="712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50" spc="-1" strike="noStrike">
                <a:solidFill>
                  <a:srgbClr val="1c7293"/>
                </a:solidFill>
                <a:latin typeface="Calibri"/>
                <a:ea typeface="Calibri"/>
              </a:rPr>
              <a:t>PV array PVA1</a:t>
            </a:r>
            <a:endParaRPr b="0" lang="en-US" sz="1350" spc="-1" strike="noStrike">
              <a:solidFill>
                <a:srgbClr val="000000"/>
              </a:solidFill>
              <a:latin typeface="Arial"/>
            </a:endParaRPr>
          </a:p>
        </p:txBody>
      </p:sp>
      <p:sp>
        <p:nvSpPr>
          <p:cNvPr id="743" name="Text 14"/>
          <p:cNvSpPr/>
          <p:nvPr/>
        </p:nvSpPr>
        <p:spPr>
          <a:xfrm>
            <a:off x="3200400" y="4306680"/>
            <a:ext cx="4022640" cy="712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50" spc="-1" strike="noStrike">
                <a:solidFill>
                  <a:srgbClr val="1a2733"/>
                </a:solidFill>
                <a:latin typeface="Calibri"/>
                <a:ea typeface="Calibri"/>
              </a:rPr>
              <a:t>≈ </a:t>
            </a:r>
            <a:r>
              <a:rPr b="0" lang="en-US" sz="1250" spc="-1" strike="noStrike">
                <a:solidFill>
                  <a:srgbClr val="1a2733"/>
                </a:solidFill>
                <a:latin typeface="Calibri"/>
                <a:ea typeface="Calibri"/>
              </a:rPr>
              <a:t>600 kWp DC / 630 kVA inv → 534 kW AC full sun</a:t>
            </a:r>
            <a:endParaRPr b="0" lang="en-US" sz="1250" spc="-1" strike="noStrike">
              <a:solidFill>
                <a:srgbClr val="000000"/>
              </a:solidFill>
              <a:latin typeface="Arial"/>
            </a:endParaRPr>
          </a:p>
        </p:txBody>
      </p:sp>
      <p:sp>
        <p:nvSpPr>
          <p:cNvPr id="744" name="Shape 15"/>
          <p:cNvSpPr/>
          <p:nvPr/>
        </p:nvSpPr>
        <p:spPr>
          <a:xfrm>
            <a:off x="548640" y="5148000"/>
            <a:ext cx="6765840" cy="712440"/>
          </a:xfrm>
          <a:prstGeom prst="roundRect">
            <a:avLst>
              <a:gd name="adj" fmla="val 8974"/>
            </a:avLst>
          </a:prstGeom>
          <a:solidFill>
            <a:srgbClr val="eef3f7"/>
          </a:solidFill>
          <a:ln w="12700">
            <a:solidFill>
              <a:srgbClr val="dce5ec"/>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745" name="Text 16"/>
          <p:cNvSpPr/>
          <p:nvPr/>
        </p:nvSpPr>
        <p:spPr>
          <a:xfrm>
            <a:off x="731520" y="5148000"/>
            <a:ext cx="2468160" cy="712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50" spc="-1" strike="noStrike">
                <a:solidFill>
                  <a:srgbClr val="1c7293"/>
                </a:solidFill>
                <a:latin typeface="Calibri"/>
                <a:ea typeface="Calibri"/>
              </a:rPr>
              <a:t>Limits</a:t>
            </a:r>
            <a:endParaRPr b="0" lang="en-US" sz="1350" spc="-1" strike="noStrike">
              <a:solidFill>
                <a:srgbClr val="000000"/>
              </a:solidFill>
              <a:latin typeface="Arial"/>
            </a:endParaRPr>
          </a:p>
        </p:txBody>
      </p:sp>
      <p:sp>
        <p:nvSpPr>
          <p:cNvPr id="746" name="Text 17"/>
          <p:cNvSpPr/>
          <p:nvPr/>
        </p:nvSpPr>
        <p:spPr>
          <a:xfrm>
            <a:off x="3200400" y="5148000"/>
            <a:ext cx="4022640" cy="712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50" spc="-1" strike="noStrike">
                <a:solidFill>
                  <a:srgbClr val="1a2733"/>
                </a:solidFill>
                <a:latin typeface="Calibri"/>
                <a:ea typeface="Calibri"/>
              </a:rPr>
              <a:t>V 0.95–1.05 pu · transformer ≤ 100 %</a:t>
            </a:r>
            <a:endParaRPr b="0" lang="en-US" sz="1250" spc="-1" strike="noStrike">
              <a:solidFill>
                <a:srgbClr val="000000"/>
              </a:solidFill>
              <a:latin typeface="Arial"/>
            </a:endParaRPr>
          </a:p>
        </p:txBody>
      </p:sp>
      <p:pic>
        <p:nvPicPr>
          <p:cNvPr id="747" name="Image 0" descr="/home/youc/hydrogen-dispatch/results/figures/net_night.png"/>
          <p:cNvPicPr/>
          <p:nvPr/>
        </p:nvPicPr>
        <p:blipFill>
          <a:blip r:embed="rId1"/>
          <a:stretch/>
        </p:blipFill>
        <p:spPr>
          <a:xfrm>
            <a:off x="7589520" y="1600200"/>
            <a:ext cx="4114080" cy="3382560"/>
          </a:xfrm>
          <a:prstGeom prst="rect">
            <a:avLst/>
          </a:prstGeom>
          <a:ln w="0">
            <a:noFill/>
          </a:ln>
        </p:spPr>
      </p:pic>
      <p:sp>
        <p:nvSpPr>
          <p:cNvPr id="748" name="Text 18"/>
          <p:cNvSpPr/>
          <p:nvPr/>
        </p:nvSpPr>
        <p:spPr>
          <a:xfrm>
            <a:off x="7589520" y="5120640"/>
            <a:ext cx="4114080" cy="4564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en-US" sz="1200" spc="-1" strike="noStrike">
                <a:solidFill>
                  <a:srgbClr val="6b7c8f"/>
                </a:solidFill>
                <a:latin typeface="Calibri"/>
                <a:ea typeface="Calibri"/>
              </a:rPr>
              <a:t>NIGHT case: PV off, grid supplies the full 0.8 MW load.</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49" name="Text 0"/>
          <p:cNvSpPr/>
          <p:nvPr/>
        </p:nvSpPr>
        <p:spPr>
          <a:xfrm>
            <a:off x="11338560" y="6400800"/>
            <a:ext cx="456480" cy="291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050" spc="-1" strike="noStrike">
                <a:solidFill>
                  <a:srgbClr val="6b7c8f"/>
                </a:solidFill>
                <a:latin typeface="Calibri"/>
                <a:ea typeface="Calibri"/>
              </a:rPr>
              <a:t>35</a:t>
            </a:r>
            <a:endParaRPr b="0" lang="en-US" sz="1050" spc="-1" strike="noStrike">
              <a:solidFill>
                <a:srgbClr val="000000"/>
              </a:solidFill>
              <a:latin typeface="Arial"/>
            </a:endParaRPr>
          </a:p>
        </p:txBody>
      </p:sp>
      <p:sp>
        <p:nvSpPr>
          <p:cNvPr id="750" name="Text 1"/>
          <p:cNvSpPr/>
          <p:nvPr/>
        </p:nvSpPr>
        <p:spPr>
          <a:xfrm>
            <a:off x="548640" y="384120"/>
            <a:ext cx="109720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97" strike="noStrike">
                <a:solidFill>
                  <a:srgbClr val="f4a623"/>
                </a:solidFill>
                <a:latin typeface="Calibri"/>
                <a:ea typeface="Calibri"/>
              </a:rPr>
              <a:t>APPENDIX · A3 — ECONOMICS</a:t>
            </a:r>
            <a:endParaRPr b="0" lang="en-US" sz="1150" spc="-1" strike="noStrike">
              <a:solidFill>
                <a:srgbClr val="000000"/>
              </a:solidFill>
              <a:latin typeface="Arial"/>
            </a:endParaRPr>
          </a:p>
        </p:txBody>
      </p:sp>
      <p:sp>
        <p:nvSpPr>
          <p:cNvPr id="751" name="Text 2"/>
          <p:cNvSpPr/>
          <p:nvPr/>
        </p:nvSpPr>
        <p:spPr>
          <a:xfrm>
            <a:off x="548640" y="658440"/>
            <a:ext cx="11063520" cy="730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600" spc="-1" strike="noStrike">
                <a:solidFill>
                  <a:srgbClr val="0e2233"/>
                </a:solidFill>
                <a:latin typeface="Cambria"/>
                <a:ea typeface="Cambria"/>
              </a:rPr>
              <a:t>The CREG 51NM time-of-use tariff</a:t>
            </a:r>
            <a:endParaRPr b="0" lang="en-US" sz="2600" spc="-1" strike="noStrike">
              <a:solidFill>
                <a:srgbClr val="000000"/>
              </a:solidFill>
              <a:latin typeface="Arial"/>
            </a:endParaRPr>
          </a:p>
        </p:txBody>
      </p:sp>
      <p:sp>
        <p:nvSpPr>
          <p:cNvPr id="752" name="Text 3"/>
          <p:cNvSpPr/>
          <p:nvPr/>
        </p:nvSpPr>
        <p:spPr>
          <a:xfrm>
            <a:off x="548640" y="1600200"/>
            <a:ext cx="7588800" cy="2513880"/>
          </a:xfrm>
          <a:prstGeom prst="rect">
            <a:avLst/>
          </a:prstGeom>
          <a:noFill/>
          <a:ln w="0">
            <a:noFill/>
          </a:ln>
        </p:spPr>
        <p:style>
          <a:lnRef idx="0"/>
          <a:fillRef idx="0"/>
          <a:effectRef idx="0"/>
          <a:fontRef idx="minor"/>
        </p:style>
        <p:txBody>
          <a:bodyPr lIns="0" rIns="0" tIns="0" bIns="0" anchor="t">
            <a:noAutofit/>
          </a:bodyPr>
          <a:p>
            <a:pPr marL="177840" indent="-177840" defTabSz="914400">
              <a:lnSpc>
                <a:spcPct val="104000"/>
              </a:lnSpc>
              <a:spcAft>
                <a:spcPts val="799"/>
              </a:spcAft>
              <a:buClr>
                <a:srgbClr val="1a2733"/>
              </a:buClr>
              <a:buFont typeface="Symbol" charset="2"/>
              <a:buChar char=""/>
            </a:pPr>
            <a:r>
              <a:rPr b="0" lang="en-US" sz="1200" spc="-1" strike="noStrike">
                <a:solidFill>
                  <a:srgbClr val="1a2733"/>
                </a:solidFill>
                <a:latin typeface="Calibri"/>
                <a:ea typeface="Calibri"/>
              </a:rPr>
              <a:t>Official Algerian MT schedule (code 51NM) — exact energy rates: 1.2050 (creuses) / 2.1645 (pleines) / 8.1147 (pointe) DA/kWh.</a:t>
            </a:r>
            <a:endParaRPr b="0" lang="en-US" sz="120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200" spc="-1" strike="noStrike">
                <a:solidFill>
                  <a:srgbClr val="1a2733"/>
                </a:solidFill>
                <a:latin typeface="Calibri"/>
                <a:ea typeface="Calibri"/>
              </a:rPr>
              <a:t>Windows: pointe 17h00–21h00 · pleines 06h00–17h00 &amp; 21h00–22h30 · creuses 22h30–06h00.</a:t>
            </a:r>
            <a:endParaRPr b="0" lang="en-US" sz="120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200" spc="-1" strike="noStrike">
                <a:solidFill>
                  <a:srgbClr val="1a2733"/>
                </a:solidFill>
                <a:latin typeface="Calibri"/>
                <a:ea typeface="Calibri"/>
              </a:rPr>
              <a:t>Prime de puissance 4.37 DA/kW/month on subscribed power — dispatch-independent, so excluded from the optimisation; imported energy is what the controller can move.</a:t>
            </a:r>
            <a:endParaRPr b="0" lang="en-US" sz="120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200" spc="-1" strike="noStrike">
                <a:solidFill>
                  <a:srgbClr val="1a2733"/>
                </a:solidFill>
                <a:latin typeface="Calibri"/>
                <a:ea typeface="Calibri"/>
              </a:rPr>
              <a:t>UTC weather aligned to local time; hourly decisions sample the hour start (22h00–23h00 billed pleines — conservative).</a:t>
            </a:r>
            <a:endParaRPr b="0" lang="en-US" sz="1200" spc="-1" strike="noStrike">
              <a:solidFill>
                <a:srgbClr val="000000"/>
              </a:solidFill>
              <a:latin typeface="Arial"/>
            </a:endParaRPr>
          </a:p>
        </p:txBody>
      </p:sp>
      <p:sp>
        <p:nvSpPr>
          <p:cNvPr id="753" name="Shape 4"/>
          <p:cNvSpPr/>
          <p:nvPr/>
        </p:nvSpPr>
        <p:spPr>
          <a:xfrm>
            <a:off x="8458200" y="1645920"/>
            <a:ext cx="3199680" cy="2331000"/>
          </a:xfrm>
          <a:prstGeom prst="roundRect">
            <a:avLst>
              <a:gd name="adj" fmla="val 3922"/>
            </a:avLst>
          </a:prstGeom>
          <a:solidFill>
            <a:srgbClr val="0e2233"/>
          </a:solidFill>
          <a:ln w="0">
            <a:noFill/>
          </a:ln>
          <a:effectLst>
            <a:outerShdw algn="bl" blurRad="114480" dir="5400000" dist="38160" kx="0" ky="0" rotWithShape="0" sx="100000" sy="100000">
              <a:srgbClr val="0e2233">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54" name="Text 5"/>
          <p:cNvSpPr/>
          <p:nvPr/>
        </p:nvSpPr>
        <p:spPr>
          <a:xfrm>
            <a:off x="8458200" y="1874520"/>
            <a:ext cx="3199680" cy="913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5200" spc="-1" strike="noStrike">
                <a:solidFill>
                  <a:srgbClr val="f4a623"/>
                </a:solidFill>
                <a:latin typeface="Cambria"/>
                <a:ea typeface="Cambria"/>
              </a:rPr>
              <a:t>6.7×</a:t>
            </a:r>
            <a:endParaRPr b="0" lang="en-US" sz="5200" spc="-1" strike="noStrike">
              <a:solidFill>
                <a:srgbClr val="000000"/>
              </a:solidFill>
              <a:latin typeface="Arial"/>
            </a:endParaRPr>
          </a:p>
        </p:txBody>
      </p:sp>
      <p:sp>
        <p:nvSpPr>
          <p:cNvPr id="755" name="Text 6"/>
          <p:cNvSpPr/>
          <p:nvPr/>
        </p:nvSpPr>
        <p:spPr>
          <a:xfrm>
            <a:off x="8641080" y="2880360"/>
            <a:ext cx="2833920" cy="913680"/>
          </a:xfrm>
          <a:prstGeom prst="rect">
            <a:avLst/>
          </a:prstGeom>
          <a:noFill/>
          <a:ln w="0">
            <a:noFill/>
          </a:ln>
        </p:spPr>
        <p:style>
          <a:lnRef idx="0"/>
          <a:fillRef idx="0"/>
          <a:effectRef idx="0"/>
          <a:fontRef idx="minor"/>
        </p:style>
        <p:txBody>
          <a:bodyPr lIns="0" rIns="0" tIns="0" bIns="0" anchor="ctr">
            <a:noAutofit/>
          </a:bodyPr>
          <a:p>
            <a:pPr algn="ctr" defTabSz="914400">
              <a:lnSpc>
                <a:spcPct val="110000"/>
              </a:lnSpc>
              <a:tabLst>
                <a:tab algn="l" pos="0"/>
              </a:tabLst>
            </a:pPr>
            <a:r>
              <a:rPr b="0" lang="en-US" sz="1200" spc="-1" strike="noStrike">
                <a:solidFill>
                  <a:srgbClr val="d6e3ef"/>
                </a:solidFill>
                <a:latin typeface="Calibri"/>
                <a:ea typeface="Calibri"/>
              </a:rPr>
              <a:t>peak-to-night ratio — the spread that makes timing a real decision</a:t>
            </a:r>
            <a:endParaRPr b="0" lang="en-US" sz="1200" spc="-1" strike="noStrike">
              <a:solidFill>
                <a:srgbClr val="000000"/>
              </a:solidFill>
              <a:latin typeface="Arial"/>
            </a:endParaRPr>
          </a:p>
        </p:txBody>
      </p:sp>
      <p:pic>
        <p:nvPicPr>
          <p:cNvPr id="756" name="Image 0" descr="/home/youc/hydrogen-dispatch/results/figures/tariff_51nm_day.png"/>
          <p:cNvPicPr/>
          <p:nvPr/>
        </p:nvPicPr>
        <p:blipFill>
          <a:blip r:embed="rId1"/>
          <a:stretch/>
        </p:blipFill>
        <p:spPr>
          <a:xfrm>
            <a:off x="640080" y="4160520"/>
            <a:ext cx="7634520" cy="2239560"/>
          </a:xfrm>
          <a:prstGeom prst="rect">
            <a:avLst/>
          </a:prstGeom>
          <a:ln w="0">
            <a:noFill/>
          </a:ln>
        </p:spPr>
      </p:pic>
      <p:sp>
        <p:nvSpPr>
          <p:cNvPr id="757" name="Text 7"/>
          <p:cNvSpPr/>
          <p:nvPr/>
        </p:nvSpPr>
        <p:spPr>
          <a:xfrm>
            <a:off x="8458200" y="4434840"/>
            <a:ext cx="3199680" cy="1462320"/>
          </a:xfrm>
          <a:prstGeom prst="rect">
            <a:avLst/>
          </a:prstGeom>
          <a:noFill/>
          <a:ln w="0">
            <a:noFill/>
          </a:ln>
        </p:spPr>
        <p:style>
          <a:lnRef idx="0"/>
          <a:fillRef idx="0"/>
          <a:effectRef idx="0"/>
          <a:fontRef idx="minor"/>
        </p:style>
        <p:txBody>
          <a:bodyPr lIns="0" rIns="0" tIns="0" bIns="0" anchor="ctr">
            <a:noAutofit/>
          </a:bodyPr>
          <a:p>
            <a:pPr defTabSz="914400">
              <a:lnSpc>
                <a:spcPct val="115000"/>
              </a:lnSpc>
              <a:tabLst>
                <a:tab algn="l" pos="0"/>
              </a:tabLst>
            </a:pPr>
            <a:r>
              <a:rPr b="0" i="1" lang="en-US" sz="1150" spc="-1" strike="noStrike">
                <a:solidFill>
                  <a:srgbClr val="6b7c8f"/>
                </a:solidFill>
                <a:latin typeface="Calibri"/>
                <a:ea typeface="Calibri"/>
              </a:rPr>
              <a:t>One day of the official grille, to the centime — the dashed line is the old flat 4.68 DA/kWh tariff the study replaced.</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58" name="Text 0"/>
          <p:cNvSpPr/>
          <p:nvPr/>
        </p:nvSpPr>
        <p:spPr>
          <a:xfrm>
            <a:off x="11338560" y="6400800"/>
            <a:ext cx="456480" cy="291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050" spc="-1" strike="noStrike">
                <a:solidFill>
                  <a:srgbClr val="6b7c8f"/>
                </a:solidFill>
                <a:latin typeface="Calibri"/>
                <a:ea typeface="Calibri"/>
              </a:rPr>
              <a:t>36</a:t>
            </a:r>
            <a:endParaRPr b="0" lang="en-US" sz="1050" spc="-1" strike="noStrike">
              <a:solidFill>
                <a:srgbClr val="000000"/>
              </a:solidFill>
              <a:latin typeface="Arial"/>
            </a:endParaRPr>
          </a:p>
        </p:txBody>
      </p:sp>
      <p:sp>
        <p:nvSpPr>
          <p:cNvPr id="759" name="Text 1"/>
          <p:cNvSpPr/>
          <p:nvPr/>
        </p:nvSpPr>
        <p:spPr>
          <a:xfrm>
            <a:off x="548640" y="384120"/>
            <a:ext cx="109720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97" strike="noStrike">
                <a:solidFill>
                  <a:srgbClr val="f4a623"/>
                </a:solidFill>
                <a:latin typeface="Calibri"/>
                <a:ea typeface="Calibri"/>
              </a:rPr>
              <a:t>APPENDIX · A4 — OPTIMISER</a:t>
            </a:r>
            <a:endParaRPr b="0" lang="en-US" sz="1150" spc="-1" strike="noStrike">
              <a:solidFill>
                <a:srgbClr val="000000"/>
              </a:solidFill>
              <a:latin typeface="Arial"/>
            </a:endParaRPr>
          </a:p>
        </p:txBody>
      </p:sp>
      <p:sp>
        <p:nvSpPr>
          <p:cNvPr id="760" name="Text 2"/>
          <p:cNvSpPr/>
          <p:nvPr/>
        </p:nvSpPr>
        <p:spPr>
          <a:xfrm>
            <a:off x="548640" y="658440"/>
            <a:ext cx="11063520" cy="730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600" spc="-1" strike="noStrike">
                <a:solidFill>
                  <a:srgbClr val="0e2233"/>
                </a:solidFill>
                <a:latin typeface="Cambria"/>
                <a:ea typeface="Cambria"/>
              </a:rPr>
              <a:t>PSO — formulation &amp; settings</a:t>
            </a:r>
            <a:endParaRPr b="0" lang="en-US" sz="2600" spc="-1" strike="noStrike">
              <a:solidFill>
                <a:srgbClr val="000000"/>
              </a:solidFill>
              <a:latin typeface="Arial"/>
            </a:endParaRPr>
          </a:p>
        </p:txBody>
      </p:sp>
      <p:sp>
        <p:nvSpPr>
          <p:cNvPr id="761" name="Text 3"/>
          <p:cNvSpPr/>
          <p:nvPr/>
        </p:nvSpPr>
        <p:spPr>
          <a:xfrm>
            <a:off x="548640" y="1691640"/>
            <a:ext cx="6400080" cy="4296960"/>
          </a:xfrm>
          <a:prstGeom prst="rect">
            <a:avLst/>
          </a:prstGeom>
          <a:noFill/>
          <a:ln w="0">
            <a:noFill/>
          </a:ln>
        </p:spPr>
        <p:style>
          <a:lnRef idx="0"/>
          <a:fillRef idx="0"/>
          <a:effectRef idx="0"/>
          <a:fontRef idx="minor"/>
        </p:style>
        <p:txBody>
          <a:bodyPr lIns="0" rIns="0" tIns="0" bIns="0" anchor="t">
            <a:noAutofit/>
          </a:bodyPr>
          <a:p>
            <a:pPr marL="177840" indent="-177840" defTabSz="914400">
              <a:lnSpc>
                <a:spcPct val="104000"/>
              </a:lnSpc>
              <a:spcAft>
                <a:spcPts val="799"/>
              </a:spcAft>
              <a:buClr>
                <a:srgbClr val="1a2733"/>
              </a:buClr>
              <a:buFont typeface="Symbol" charset="2"/>
              <a:buChar char=""/>
            </a:pPr>
            <a:r>
              <a:rPr b="0" lang="en-US" sz="1300" spc="-1" strike="noStrike">
                <a:solidFill>
                  <a:srgbClr val="1a2733"/>
                </a:solidFill>
                <a:latin typeface="Calibri"/>
                <a:ea typeface="Calibri"/>
              </a:rPr>
              <a:t>Decision vector: 24 hourly setpoints ∈ {0} ∪ [0.08, 0.80] MW — searched in [0, 0.8], snapped by a repair operator (below turndown → off).</a:t>
            </a:r>
            <a:endParaRPr b="0" lang="en-US" sz="130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300" spc="-1" strike="noStrike">
                <a:solidFill>
                  <a:srgbClr val="1a2733"/>
                </a:solidFill>
                <a:latin typeface="Calibri"/>
                <a:ea typeface="Calibri"/>
              </a:rPr>
              <a:t>Objective: J = Σ p·[u − d]⁺·Δt (15-min accounting) + 10⁷ DA/kg × any demand shortfall.</a:t>
            </a:r>
            <a:endParaRPr b="0" lang="en-US" sz="130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300" spc="-1" strike="noStrike">
                <a:solidFill>
                  <a:srgbClr val="1a2733"/>
                </a:solidFill>
                <a:latin typeface="Calibri"/>
                <a:ea typeface="Calibri"/>
              </a:rPr>
              <a:t>Update: vᵢ ← w·vᵢ + c₁r₁(pᵢ−xᵢ) + c₂r₂(g−xᵢ) with r₁, r₂ ~ U(0,1); |v| ≤ 20 % of range; pymoo adapts w, c₁, c₂ online (0.9 / 2.0 / 2.0 start).</a:t>
            </a:r>
            <a:endParaRPr b="0" lang="en-US" sz="130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300" spc="-1" strike="noStrike">
                <a:solidFill>
                  <a:srgbClr val="1a2733"/>
                </a:solidFill>
                <a:latin typeface="Calibri"/>
                <a:ea typeface="Calibri"/>
              </a:rPr>
              <a:t>Runs: day plan 60 particles × 300 generations (converged by ≈150); inside the MPC loop 40 × 120 per re-plan (speed).</a:t>
            </a:r>
            <a:endParaRPr b="0" lang="en-US" sz="130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300" spc="-1" strike="noStrike">
                <a:solidFill>
                  <a:srgbClr val="1a2733"/>
                </a:solidFill>
                <a:latin typeface="Calibri"/>
                <a:ea typeface="Calibri"/>
              </a:rPr>
              <a:t>3 random seeds reach the same ≈5,565 DA optimum → reproducible. Gradient-free → handles the non-linear g and the discontinuous tariff directly.</a:t>
            </a:r>
            <a:endParaRPr b="0" lang="en-US" sz="1300" spc="-1" strike="noStrike">
              <a:solidFill>
                <a:srgbClr val="000000"/>
              </a:solidFill>
              <a:latin typeface="Arial"/>
            </a:endParaRPr>
          </a:p>
        </p:txBody>
      </p:sp>
      <p:pic>
        <p:nvPicPr>
          <p:cNvPr id="762" name="Image 0" descr="/home/youc/hydrogen-dispatch/results/figures/pso_convergence.png"/>
          <p:cNvPicPr/>
          <p:nvPr/>
        </p:nvPicPr>
        <p:blipFill>
          <a:blip r:embed="rId1"/>
          <a:stretch/>
        </p:blipFill>
        <p:spPr>
          <a:xfrm>
            <a:off x="7178040" y="1828800"/>
            <a:ext cx="4571280" cy="2833920"/>
          </a:xfrm>
          <a:prstGeom prst="rect">
            <a:avLst/>
          </a:prstGeom>
          <a:ln w="0">
            <a:noFill/>
          </a:ln>
        </p:spPr>
      </p:pic>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63" name="Text 0"/>
          <p:cNvSpPr/>
          <p:nvPr/>
        </p:nvSpPr>
        <p:spPr>
          <a:xfrm>
            <a:off x="11338560" y="6400800"/>
            <a:ext cx="456480" cy="291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050" spc="-1" strike="noStrike">
                <a:solidFill>
                  <a:srgbClr val="6b7c8f"/>
                </a:solidFill>
                <a:latin typeface="Calibri"/>
                <a:ea typeface="Calibri"/>
              </a:rPr>
              <a:t>37</a:t>
            </a:r>
            <a:endParaRPr b="0" lang="en-US" sz="1050" spc="-1" strike="noStrike">
              <a:solidFill>
                <a:srgbClr val="000000"/>
              </a:solidFill>
              <a:latin typeface="Arial"/>
            </a:endParaRPr>
          </a:p>
        </p:txBody>
      </p:sp>
      <p:sp>
        <p:nvSpPr>
          <p:cNvPr id="764" name="Text 1"/>
          <p:cNvSpPr/>
          <p:nvPr/>
        </p:nvSpPr>
        <p:spPr>
          <a:xfrm>
            <a:off x="548640" y="384120"/>
            <a:ext cx="109720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97" strike="noStrike">
                <a:solidFill>
                  <a:srgbClr val="f4a623"/>
                </a:solidFill>
                <a:latin typeface="Calibri"/>
                <a:ea typeface="Calibri"/>
              </a:rPr>
              <a:t>APPENDIX · A5 — CONTROLLER</a:t>
            </a:r>
            <a:endParaRPr b="0" lang="en-US" sz="1150" spc="-1" strike="noStrike">
              <a:solidFill>
                <a:srgbClr val="000000"/>
              </a:solidFill>
              <a:latin typeface="Arial"/>
            </a:endParaRPr>
          </a:p>
        </p:txBody>
      </p:sp>
      <p:sp>
        <p:nvSpPr>
          <p:cNvPr id="765" name="Text 2"/>
          <p:cNvSpPr/>
          <p:nvPr/>
        </p:nvSpPr>
        <p:spPr>
          <a:xfrm>
            <a:off x="548640" y="658440"/>
            <a:ext cx="11063520" cy="730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600" spc="-1" strike="noStrike">
                <a:solidFill>
                  <a:srgbClr val="0e2233"/>
                </a:solidFill>
                <a:latin typeface="Cambria"/>
                <a:ea typeface="Cambria"/>
              </a:rPr>
              <a:t>MPC — forecast, horizon, feedback</a:t>
            </a:r>
            <a:endParaRPr b="0" lang="en-US" sz="2600" spc="-1" strike="noStrike">
              <a:solidFill>
                <a:srgbClr val="000000"/>
              </a:solidFill>
              <a:latin typeface="Arial"/>
            </a:endParaRPr>
          </a:p>
        </p:txBody>
      </p:sp>
      <p:sp>
        <p:nvSpPr>
          <p:cNvPr id="766" name="Text 3"/>
          <p:cNvSpPr/>
          <p:nvPr/>
        </p:nvSpPr>
        <p:spPr>
          <a:xfrm>
            <a:off x="548640" y="1691640"/>
            <a:ext cx="7314480" cy="4205520"/>
          </a:xfrm>
          <a:prstGeom prst="rect">
            <a:avLst/>
          </a:prstGeom>
          <a:noFill/>
          <a:ln w="0">
            <a:noFill/>
          </a:ln>
        </p:spPr>
        <p:style>
          <a:lnRef idx="0"/>
          <a:fillRef idx="0"/>
          <a:effectRef idx="0"/>
          <a:fontRef idx="minor"/>
        </p:style>
        <p:txBody>
          <a:bodyPr lIns="0" rIns="0" tIns="0" bIns="0" anchor="t">
            <a:noAutofit/>
          </a:bodyPr>
          <a:p>
            <a:pPr marL="177840" indent="-177840" defTabSz="914400">
              <a:lnSpc>
                <a:spcPct val="104000"/>
              </a:lnSpc>
              <a:spcAft>
                <a:spcPts val="799"/>
              </a:spcAft>
              <a:buClr>
                <a:srgbClr val="1a2733"/>
              </a:buClr>
              <a:buFont typeface="Symbol" charset="2"/>
              <a:buChar char=""/>
            </a:pPr>
            <a:r>
              <a:rPr b="0" lang="en-US" sz="1400" spc="-1" strike="noStrike">
                <a:solidFill>
                  <a:srgbClr val="1a2733"/>
                </a:solidFill>
                <a:latin typeface="Calibri"/>
                <a:ea typeface="Calibri"/>
              </a:rPr>
              <a:t>Day-ahead forecast: yesterday's PV profile as persistence, corrected intraday by how clear today has actually been so far.</a:t>
            </a:r>
            <a:endParaRPr b="0" lang="en-US" sz="140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400" spc="-1" strike="noStrike">
                <a:solidFill>
                  <a:srgbClr val="1a2733"/>
                </a:solidFill>
                <a:latin typeface="Calibri"/>
                <a:ea typeface="Calibri"/>
              </a:rPr>
              <a:t>Receding horizon: at hour h, re-optimise hours h…24 (PSO) to meet the remaining H₂ demand at least cost.</a:t>
            </a:r>
            <a:endParaRPr b="0" lang="en-US" sz="140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400" spc="-1" strike="noStrike">
                <a:solidFill>
                  <a:srgbClr val="1a2733"/>
                </a:solidFill>
                <a:latin typeface="Calibri"/>
                <a:ea typeface="Calibri"/>
              </a:rPr>
              <a:t>Apply only hour h's setpoint; discard the rest; advance and re-plan when the real PV arrives.</a:t>
            </a:r>
            <a:endParaRPr b="0" lang="en-US" sz="140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400" spc="-1" strike="noStrike">
                <a:solidFill>
                  <a:srgbClr val="1a2733"/>
                </a:solidFill>
                <a:latin typeface="Calibri"/>
                <a:ea typeface="Calibri"/>
              </a:rPr>
              <a:t>Benchmarks: perfect-foresight (optimise the known day = lower bound) and rule-based (constant rate = reactive).</a:t>
            </a:r>
            <a:endParaRPr b="0" lang="en-US" sz="140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400" spc="-1" strike="noStrike">
                <a:solidFill>
                  <a:srgbClr val="1a2733"/>
                </a:solidFill>
                <a:latin typeface="Calibri"/>
                <a:ea typeface="Calibri"/>
              </a:rPr>
              <a:t>Across the year: MPC ≈ +2.4 % vs the bound, −51 % vs the rule — disturbance rejection with feedback.</a:t>
            </a:r>
            <a:endParaRPr b="0" lang="en-US" sz="1400" spc="-1" strike="noStrike">
              <a:solidFill>
                <a:srgbClr val="000000"/>
              </a:solidFill>
              <a:latin typeface="Arial"/>
            </a:endParaRPr>
          </a:p>
        </p:txBody>
      </p:sp>
      <p:sp>
        <p:nvSpPr>
          <p:cNvPr id="767" name="Shape 4"/>
          <p:cNvSpPr/>
          <p:nvPr/>
        </p:nvSpPr>
        <p:spPr>
          <a:xfrm>
            <a:off x="8092440" y="1828800"/>
            <a:ext cx="3565440" cy="1279440"/>
          </a:xfrm>
          <a:prstGeom prst="roundRect">
            <a:avLst>
              <a:gd name="adj" fmla="val 5714"/>
            </a:avLst>
          </a:prstGeom>
          <a:solidFill>
            <a:srgbClr val="ffffff"/>
          </a:solidFill>
          <a:ln w="12700">
            <a:solidFill>
              <a:srgbClr val="dce5ec"/>
            </a:solidFill>
            <a:round/>
          </a:ln>
          <a:effectLst>
            <a:outerShdw algn="bl" blurRad="114480" dir="5400000" dist="38160" kx="0" ky="0" rotWithShape="0" sx="100000" sy="100000">
              <a:srgbClr val="0e2233">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768" name="Text 5"/>
          <p:cNvSpPr/>
          <p:nvPr/>
        </p:nvSpPr>
        <p:spPr>
          <a:xfrm>
            <a:off x="8183880" y="1974960"/>
            <a:ext cx="3382560" cy="6026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700" spc="-1" strike="noStrike">
                <a:solidFill>
                  <a:srgbClr val="2a9d8f"/>
                </a:solidFill>
                <a:latin typeface="Cambria"/>
                <a:ea typeface="Cambria"/>
              </a:rPr>
              <a:t>+2.4% / −51%</a:t>
            </a:r>
            <a:endParaRPr b="0" lang="en-US" sz="2700" spc="-1" strike="noStrike">
              <a:solidFill>
                <a:srgbClr val="000000"/>
              </a:solidFill>
              <a:latin typeface="Arial"/>
            </a:endParaRPr>
          </a:p>
        </p:txBody>
      </p:sp>
      <p:sp>
        <p:nvSpPr>
          <p:cNvPr id="769" name="Text 6"/>
          <p:cNvSpPr/>
          <p:nvPr/>
        </p:nvSpPr>
        <p:spPr>
          <a:xfrm>
            <a:off x="8202240" y="2615040"/>
            <a:ext cx="3345840" cy="419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pc="-1" strike="noStrike">
                <a:solidFill>
                  <a:srgbClr val="6b7c8f"/>
                </a:solidFill>
                <a:latin typeface="Calibri"/>
                <a:ea typeface="Calibri"/>
              </a:rPr>
              <a:t>MPC vs optimum / vs rule</a:t>
            </a:r>
            <a:endParaRPr b="0" lang="en-US" sz="1100" spc="-1" strike="noStrike">
              <a:solidFill>
                <a:srgbClr val="000000"/>
              </a:solidFill>
              <a:latin typeface="Arial"/>
            </a:endParaRPr>
          </a:p>
        </p:txBody>
      </p:sp>
      <p:sp>
        <p:nvSpPr>
          <p:cNvPr id="770" name="Text 7"/>
          <p:cNvSpPr/>
          <p:nvPr/>
        </p:nvSpPr>
        <p:spPr>
          <a:xfrm>
            <a:off x="8092440" y="3291840"/>
            <a:ext cx="356544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200" spc="-1" strike="noStrike">
                <a:solidFill>
                  <a:srgbClr val="6b7c8f"/>
                </a:solidFill>
                <a:latin typeface="Calibri"/>
                <a:ea typeface="Calibri"/>
              </a:rPr>
              <a:t>Code: src/mpc.py — mpc_dispatch(), rule_based_dispatch().</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71" name="Text 0"/>
          <p:cNvSpPr/>
          <p:nvPr/>
        </p:nvSpPr>
        <p:spPr>
          <a:xfrm>
            <a:off x="11338560" y="6400800"/>
            <a:ext cx="456480" cy="291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050" spc="-1" strike="noStrike">
                <a:solidFill>
                  <a:srgbClr val="6b7c8f"/>
                </a:solidFill>
                <a:latin typeface="Calibri"/>
                <a:ea typeface="Calibri"/>
              </a:rPr>
              <a:t>38</a:t>
            </a:r>
            <a:endParaRPr b="0" lang="en-US" sz="1050" spc="-1" strike="noStrike">
              <a:solidFill>
                <a:srgbClr val="000000"/>
              </a:solidFill>
              <a:latin typeface="Arial"/>
            </a:endParaRPr>
          </a:p>
        </p:txBody>
      </p:sp>
      <p:sp>
        <p:nvSpPr>
          <p:cNvPr id="772" name="Text 1"/>
          <p:cNvSpPr/>
          <p:nvPr/>
        </p:nvSpPr>
        <p:spPr>
          <a:xfrm>
            <a:off x="548640" y="384120"/>
            <a:ext cx="109720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97" strike="noStrike">
                <a:solidFill>
                  <a:srgbClr val="f4a623"/>
                </a:solidFill>
                <a:latin typeface="Calibri"/>
                <a:ea typeface="Calibri"/>
              </a:rPr>
              <a:t>APPENDIX · A6 — PHYSICS</a:t>
            </a:r>
            <a:endParaRPr b="0" lang="en-US" sz="1150" spc="-1" strike="noStrike">
              <a:solidFill>
                <a:srgbClr val="000000"/>
              </a:solidFill>
              <a:latin typeface="Arial"/>
            </a:endParaRPr>
          </a:p>
        </p:txBody>
      </p:sp>
      <p:sp>
        <p:nvSpPr>
          <p:cNvPr id="773" name="Text 2"/>
          <p:cNvSpPr/>
          <p:nvPr/>
        </p:nvSpPr>
        <p:spPr>
          <a:xfrm>
            <a:off x="548640" y="658440"/>
            <a:ext cx="11063520" cy="730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600" spc="-1" strike="noStrike">
                <a:solidFill>
                  <a:srgbClr val="0e2233"/>
                </a:solidFill>
                <a:latin typeface="Cambria"/>
                <a:ea typeface="Cambria"/>
              </a:rPr>
              <a:t>PEM electrolyzer model</a:t>
            </a:r>
            <a:endParaRPr b="0" lang="en-US" sz="2600" spc="-1" strike="noStrike">
              <a:solidFill>
                <a:srgbClr val="000000"/>
              </a:solidFill>
              <a:latin typeface="Arial"/>
            </a:endParaRPr>
          </a:p>
        </p:txBody>
      </p:sp>
      <p:sp>
        <p:nvSpPr>
          <p:cNvPr id="774" name="Text 3"/>
          <p:cNvSpPr/>
          <p:nvPr/>
        </p:nvSpPr>
        <p:spPr>
          <a:xfrm>
            <a:off x="548640" y="1645920"/>
            <a:ext cx="7497360" cy="2376720"/>
          </a:xfrm>
          <a:prstGeom prst="rect">
            <a:avLst/>
          </a:prstGeom>
          <a:noFill/>
          <a:ln w="0">
            <a:noFill/>
          </a:ln>
        </p:spPr>
        <p:style>
          <a:lnRef idx="0"/>
          <a:fillRef idx="0"/>
          <a:effectRef idx="0"/>
          <a:fontRef idx="minor"/>
        </p:style>
        <p:txBody>
          <a:bodyPr lIns="0" rIns="0" tIns="0" bIns="0" anchor="t">
            <a:noAutofit/>
          </a:bodyPr>
          <a:p>
            <a:pPr marL="177840" indent="-177840" defTabSz="914400">
              <a:lnSpc>
                <a:spcPct val="104000"/>
              </a:lnSpc>
              <a:spcAft>
                <a:spcPts val="799"/>
              </a:spcAft>
              <a:buClr>
                <a:srgbClr val="1a2733"/>
              </a:buClr>
              <a:buFont typeface="Symbol" charset="2"/>
              <a:buChar char=""/>
            </a:pPr>
            <a:r>
              <a:rPr b="0" lang="en-US" sz="1200" spc="-1" strike="noStrike">
                <a:solidFill>
                  <a:srgbClr val="1a2733"/>
                </a:solidFill>
                <a:latin typeface="Calibri"/>
                <a:ea typeface="Calibri"/>
              </a:rPr>
              <a:t>Cell voltage V(i) = E_rev (1.198 V at 60 °C) + Tafel activation (RT/αF)·ln(i/i₀) + ohmic r·i.</a:t>
            </a:r>
            <a:endParaRPr b="0" lang="en-US" sz="120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200" spc="-1" strike="noStrike">
                <a:solidFill>
                  <a:srgbClr val="1a2733"/>
                </a:solidFill>
                <a:latin typeface="Calibri"/>
                <a:ea typeface="Calibri"/>
              </a:rPr>
              <a:t>Hydrogen from Faraday's law: ṁ = η_F · n_cells · I / (zF) · M_H₂ — with η_F = 0.99, 200 cells.</a:t>
            </a:r>
            <a:endParaRPr b="0" lang="en-US" sz="120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200" spc="-1" strike="noStrike">
                <a:solidFill>
                  <a:srgbClr val="1a2733"/>
                </a:solidFill>
                <a:latin typeface="Calibri"/>
                <a:ea typeface="Calibri"/>
              </a:rPr>
              <a:t>Stack sized for exactly 0.800 MW at 2 A/cm² (≈ 2.03 V/cell); operating window 10 %–100 %.</a:t>
            </a:r>
            <a:endParaRPr b="0" lang="en-US" sz="120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200" spc="-1" strike="noStrike">
                <a:solidFill>
                  <a:srgbClr val="1a2733"/>
                </a:solidFill>
                <a:latin typeface="Calibri"/>
                <a:ea typeface="Calibri"/>
              </a:rPr>
              <a:t>Part-load is MORE efficient (lower V at lower i) — the dashed specific-energy curve; the optimiser exploits it within the schedule.</a:t>
            </a:r>
            <a:endParaRPr b="0" lang="en-US" sz="1200" spc="-1" strike="noStrike">
              <a:solidFill>
                <a:srgbClr val="000000"/>
              </a:solidFill>
              <a:latin typeface="Arial"/>
            </a:endParaRPr>
          </a:p>
        </p:txBody>
      </p:sp>
      <p:sp>
        <p:nvSpPr>
          <p:cNvPr id="775" name="Shape 4"/>
          <p:cNvSpPr/>
          <p:nvPr/>
        </p:nvSpPr>
        <p:spPr>
          <a:xfrm>
            <a:off x="8229600" y="1783080"/>
            <a:ext cx="3428280" cy="1279440"/>
          </a:xfrm>
          <a:prstGeom prst="roundRect">
            <a:avLst>
              <a:gd name="adj" fmla="val 5714"/>
            </a:avLst>
          </a:prstGeom>
          <a:solidFill>
            <a:srgbClr val="ffffff"/>
          </a:solidFill>
          <a:ln w="12700">
            <a:solidFill>
              <a:srgbClr val="dce5ec"/>
            </a:solidFill>
            <a:round/>
          </a:ln>
          <a:effectLst>
            <a:outerShdw algn="bl" blurRad="114480" dir="5400000" dist="38160" kx="0" ky="0" rotWithShape="0" sx="100000" sy="100000">
              <a:srgbClr val="0e2233">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776" name="Text 5"/>
          <p:cNvSpPr/>
          <p:nvPr/>
        </p:nvSpPr>
        <p:spPr>
          <a:xfrm>
            <a:off x="8321040" y="1929240"/>
            <a:ext cx="3245400" cy="6026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700" spc="-1" strike="noStrike">
                <a:solidFill>
                  <a:srgbClr val="1c7293"/>
                </a:solidFill>
                <a:latin typeface="Cambria"/>
                <a:ea typeface="Cambria"/>
              </a:rPr>
              <a:t>≈ </a:t>
            </a:r>
            <a:r>
              <a:rPr b="1" lang="en-US" sz="2700" spc="-1" strike="noStrike">
                <a:solidFill>
                  <a:srgbClr val="1c7293"/>
                </a:solidFill>
                <a:latin typeface="Cambria"/>
                <a:ea typeface="Cambria"/>
              </a:rPr>
              <a:t>54</a:t>
            </a:r>
            <a:endParaRPr b="0" lang="en-US" sz="2700" spc="-1" strike="noStrike">
              <a:solidFill>
                <a:srgbClr val="000000"/>
              </a:solidFill>
              <a:latin typeface="Arial"/>
            </a:endParaRPr>
          </a:p>
        </p:txBody>
      </p:sp>
      <p:sp>
        <p:nvSpPr>
          <p:cNvPr id="777" name="Text 6"/>
          <p:cNvSpPr/>
          <p:nvPr/>
        </p:nvSpPr>
        <p:spPr>
          <a:xfrm>
            <a:off x="8339400" y="2569320"/>
            <a:ext cx="3208680" cy="419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pc="-1" strike="noStrike">
                <a:solidFill>
                  <a:srgbClr val="6b7c8f"/>
                </a:solidFill>
                <a:latin typeface="Calibri"/>
                <a:ea typeface="Calibri"/>
              </a:rPr>
              <a:t>kWh per kg H₂ at rated</a:t>
            </a:r>
            <a:endParaRPr b="0" lang="en-US" sz="1100" spc="-1" strike="noStrike">
              <a:solidFill>
                <a:srgbClr val="000000"/>
              </a:solidFill>
              <a:latin typeface="Arial"/>
            </a:endParaRPr>
          </a:p>
        </p:txBody>
      </p:sp>
      <p:sp>
        <p:nvSpPr>
          <p:cNvPr id="778" name="Shape 7"/>
          <p:cNvSpPr/>
          <p:nvPr/>
        </p:nvSpPr>
        <p:spPr>
          <a:xfrm>
            <a:off x="8229600" y="3200400"/>
            <a:ext cx="3428280" cy="1279440"/>
          </a:xfrm>
          <a:prstGeom prst="roundRect">
            <a:avLst>
              <a:gd name="adj" fmla="val 5714"/>
            </a:avLst>
          </a:prstGeom>
          <a:solidFill>
            <a:srgbClr val="ffffff"/>
          </a:solidFill>
          <a:ln w="12700">
            <a:solidFill>
              <a:srgbClr val="dce5ec"/>
            </a:solidFill>
            <a:round/>
          </a:ln>
          <a:effectLst>
            <a:outerShdw algn="bl" blurRad="114480" dir="5400000" dist="38160" kx="0" ky="0" rotWithShape="0" sx="100000" sy="100000">
              <a:srgbClr val="0e2233">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779" name="Text 8"/>
          <p:cNvSpPr/>
          <p:nvPr/>
        </p:nvSpPr>
        <p:spPr>
          <a:xfrm>
            <a:off x="8321040" y="3346560"/>
            <a:ext cx="3245400" cy="6026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700" spc="-1" strike="noStrike">
                <a:solidFill>
                  <a:srgbClr val="1c7293"/>
                </a:solidFill>
                <a:latin typeface="Cambria"/>
                <a:ea typeface="Cambria"/>
              </a:rPr>
              <a:t>14.6</a:t>
            </a:r>
            <a:endParaRPr b="0" lang="en-US" sz="2700" spc="-1" strike="noStrike">
              <a:solidFill>
                <a:srgbClr val="000000"/>
              </a:solidFill>
              <a:latin typeface="Arial"/>
            </a:endParaRPr>
          </a:p>
        </p:txBody>
      </p:sp>
      <p:sp>
        <p:nvSpPr>
          <p:cNvPr id="780" name="Text 9"/>
          <p:cNvSpPr/>
          <p:nvPr/>
        </p:nvSpPr>
        <p:spPr>
          <a:xfrm>
            <a:off x="8339400" y="3986640"/>
            <a:ext cx="3208680" cy="419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pc="-1" strike="noStrike">
                <a:solidFill>
                  <a:srgbClr val="6b7c8f"/>
                </a:solidFill>
                <a:latin typeface="Calibri"/>
                <a:ea typeface="Calibri"/>
              </a:rPr>
              <a:t>kg H₂/h at 0.8 MW</a:t>
            </a:r>
            <a:endParaRPr b="0" lang="en-US" sz="1100" spc="-1" strike="noStrike">
              <a:solidFill>
                <a:srgbClr val="000000"/>
              </a:solidFill>
              <a:latin typeface="Arial"/>
            </a:endParaRPr>
          </a:p>
        </p:txBody>
      </p:sp>
      <p:pic>
        <p:nvPicPr>
          <p:cNvPr id="781" name="Image 0" descr="/home/youc/hydrogen-dispatch/results/figures/electrolyzer_curves.png"/>
          <p:cNvPicPr/>
          <p:nvPr/>
        </p:nvPicPr>
        <p:blipFill>
          <a:blip r:embed="rId1"/>
          <a:stretch/>
        </p:blipFill>
        <p:spPr>
          <a:xfrm>
            <a:off x="457200" y="4206240"/>
            <a:ext cx="7680240" cy="2102400"/>
          </a:xfrm>
          <a:prstGeom prst="rect">
            <a:avLst/>
          </a:prstGeom>
          <a:ln w="0">
            <a:noFill/>
          </a:ln>
        </p:spPr>
      </p:pic>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82" name="Text 0"/>
          <p:cNvSpPr/>
          <p:nvPr/>
        </p:nvSpPr>
        <p:spPr>
          <a:xfrm>
            <a:off x="11338560" y="6400800"/>
            <a:ext cx="456480" cy="291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050" spc="-1" strike="noStrike">
                <a:solidFill>
                  <a:srgbClr val="6b7c8f"/>
                </a:solidFill>
                <a:latin typeface="Calibri"/>
                <a:ea typeface="Calibri"/>
              </a:rPr>
              <a:t>39</a:t>
            </a:r>
            <a:endParaRPr b="0" lang="en-US" sz="1050" spc="-1" strike="noStrike">
              <a:solidFill>
                <a:srgbClr val="000000"/>
              </a:solidFill>
              <a:latin typeface="Arial"/>
            </a:endParaRPr>
          </a:p>
        </p:txBody>
      </p:sp>
      <p:sp>
        <p:nvSpPr>
          <p:cNvPr id="783" name="Text 1"/>
          <p:cNvSpPr/>
          <p:nvPr/>
        </p:nvSpPr>
        <p:spPr>
          <a:xfrm>
            <a:off x="548640" y="384120"/>
            <a:ext cx="109720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97" strike="noStrike">
                <a:solidFill>
                  <a:srgbClr val="f4a623"/>
                </a:solidFill>
                <a:latin typeface="Calibri"/>
                <a:ea typeface="Calibri"/>
              </a:rPr>
              <a:t>APPENDIX · A7 — RESULTS</a:t>
            </a:r>
            <a:endParaRPr b="0" lang="en-US" sz="1150" spc="-1" strike="noStrike">
              <a:solidFill>
                <a:srgbClr val="000000"/>
              </a:solidFill>
              <a:latin typeface="Arial"/>
            </a:endParaRPr>
          </a:p>
        </p:txBody>
      </p:sp>
      <p:sp>
        <p:nvSpPr>
          <p:cNvPr id="784" name="Text 2"/>
          <p:cNvSpPr/>
          <p:nvPr/>
        </p:nvSpPr>
        <p:spPr>
          <a:xfrm>
            <a:off x="548640" y="658440"/>
            <a:ext cx="11063520" cy="730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600" spc="-1" strike="noStrike">
                <a:solidFill>
                  <a:srgbClr val="0e2233"/>
                </a:solidFill>
                <a:latin typeface="Cambria"/>
                <a:ea typeface="Cambria"/>
              </a:rPr>
              <a:t>Cost per kg vs daily demand</a:t>
            </a:r>
            <a:endParaRPr b="0" lang="en-US" sz="2600" spc="-1" strike="noStrike">
              <a:solidFill>
                <a:srgbClr val="000000"/>
              </a:solidFill>
              <a:latin typeface="Arial"/>
            </a:endParaRPr>
          </a:p>
        </p:txBody>
      </p:sp>
      <p:pic>
        <p:nvPicPr>
          <p:cNvPr id="785" name="Image 0" descr="/home/youc/hydrogen-dispatch/results/figures/cost_vs_demand_ghardaia.png"/>
          <p:cNvPicPr/>
          <p:nvPr/>
        </p:nvPicPr>
        <p:blipFill>
          <a:blip r:embed="rId1"/>
          <a:stretch/>
        </p:blipFill>
        <p:spPr>
          <a:xfrm>
            <a:off x="548640" y="1554480"/>
            <a:ext cx="7314480" cy="4571280"/>
          </a:xfrm>
          <a:prstGeom prst="rect">
            <a:avLst/>
          </a:prstGeom>
          <a:ln w="0">
            <a:noFill/>
          </a:ln>
        </p:spPr>
      </p:pic>
      <p:sp>
        <p:nvSpPr>
          <p:cNvPr id="786" name="Text 3"/>
          <p:cNvSpPr/>
          <p:nvPr/>
        </p:nvSpPr>
        <p:spPr>
          <a:xfrm>
            <a:off x="8046720" y="1783080"/>
            <a:ext cx="3656880" cy="4022640"/>
          </a:xfrm>
          <a:prstGeom prst="rect">
            <a:avLst/>
          </a:prstGeom>
          <a:noFill/>
          <a:ln w="0">
            <a:noFill/>
          </a:ln>
        </p:spPr>
        <p:style>
          <a:lnRef idx="0"/>
          <a:fillRef idx="0"/>
          <a:effectRef idx="0"/>
          <a:fontRef idx="minor"/>
        </p:style>
        <p:txBody>
          <a:bodyPr lIns="0" rIns="0" tIns="0" bIns="0" anchor="t">
            <a:noAutofit/>
          </a:bodyPr>
          <a:p>
            <a:pPr marL="177840" indent="-177840" defTabSz="914400">
              <a:lnSpc>
                <a:spcPct val="104000"/>
              </a:lnSpc>
              <a:spcAft>
                <a:spcPts val="799"/>
              </a:spcAft>
              <a:buClr>
                <a:srgbClr val="1a2733"/>
              </a:buClr>
              <a:buFont typeface="Symbol" charset="2"/>
              <a:buChar char=""/>
            </a:pPr>
            <a:r>
              <a:rPr b="0" lang="en-US" sz="1300" spc="-1" strike="noStrike">
                <a:solidFill>
                  <a:srgbClr val="1a2733"/>
                </a:solidFill>
                <a:latin typeface="Calibri"/>
                <a:ea typeface="Calibri"/>
              </a:rPr>
              <a:t>Low demand can be met almost entirely from free solar → near-zero cost.</a:t>
            </a:r>
            <a:endParaRPr b="0" lang="en-US" sz="130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300" spc="-1" strike="noStrike">
                <a:solidFill>
                  <a:srgbClr val="1a2733"/>
                </a:solidFill>
                <a:latin typeface="Calibri"/>
                <a:ea typeface="Calibri"/>
              </a:rPr>
              <a:t>A clear 'knee' where demand outgrows the solar window and grid import (incl. some peak) becomes unavoidable.</a:t>
            </a:r>
            <a:endParaRPr b="0" lang="en-US" sz="130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300" spc="-1" strike="noStrike">
                <a:solidFill>
                  <a:srgbClr val="1a2733"/>
                </a:solidFill>
                <a:latin typeface="Calibri"/>
                <a:ea typeface="Calibri"/>
              </a:rPr>
              <a:t>Clear-summer cheapest; cloudy-summer and clear-winter cost more for the same demand.</a:t>
            </a:r>
            <a:endParaRPr b="0" lang="en-US" sz="130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300" spc="-1" strike="noStrike">
                <a:solidFill>
                  <a:srgbClr val="1a2733"/>
                </a:solidFill>
                <a:latin typeface="Calibri"/>
                <a:ea typeface="Calibri"/>
              </a:rPr>
              <a:t>This curve is what the dashboard recomputes live when you move the demand slider.</a:t>
            </a:r>
            <a:endParaRPr b="0" lang="en-US"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87" name="Text 0"/>
          <p:cNvSpPr/>
          <p:nvPr/>
        </p:nvSpPr>
        <p:spPr>
          <a:xfrm>
            <a:off x="11338560" y="6400800"/>
            <a:ext cx="456480" cy="291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050" spc="-1" strike="noStrike">
                <a:solidFill>
                  <a:srgbClr val="6b7c8f"/>
                </a:solidFill>
                <a:latin typeface="Calibri"/>
                <a:ea typeface="Calibri"/>
              </a:rPr>
              <a:t>40</a:t>
            </a:r>
            <a:endParaRPr b="0" lang="en-US" sz="1050" spc="-1" strike="noStrike">
              <a:solidFill>
                <a:srgbClr val="000000"/>
              </a:solidFill>
              <a:latin typeface="Arial"/>
            </a:endParaRPr>
          </a:p>
        </p:txBody>
      </p:sp>
      <p:sp>
        <p:nvSpPr>
          <p:cNvPr id="788" name="Text 1"/>
          <p:cNvSpPr/>
          <p:nvPr/>
        </p:nvSpPr>
        <p:spPr>
          <a:xfrm>
            <a:off x="548640" y="384120"/>
            <a:ext cx="109720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97" strike="noStrike">
                <a:solidFill>
                  <a:srgbClr val="f4a623"/>
                </a:solidFill>
                <a:latin typeface="Calibri"/>
                <a:ea typeface="Calibri"/>
              </a:rPr>
              <a:t>APPENDIX · A8 — MODELLING CHOICE</a:t>
            </a:r>
            <a:endParaRPr b="0" lang="en-US" sz="1150" spc="-1" strike="noStrike">
              <a:solidFill>
                <a:srgbClr val="000000"/>
              </a:solidFill>
              <a:latin typeface="Arial"/>
            </a:endParaRPr>
          </a:p>
        </p:txBody>
      </p:sp>
      <p:sp>
        <p:nvSpPr>
          <p:cNvPr id="789" name="Text 2"/>
          <p:cNvSpPr/>
          <p:nvPr/>
        </p:nvSpPr>
        <p:spPr>
          <a:xfrm>
            <a:off x="548640" y="658440"/>
            <a:ext cx="11063520" cy="730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600" spc="-1" strike="noStrike">
                <a:solidFill>
                  <a:srgbClr val="0e2233"/>
                </a:solidFill>
                <a:latin typeface="Cambria"/>
                <a:ea typeface="Cambria"/>
              </a:rPr>
              <a:t>Hourly decisions, 15-minute accounting</a:t>
            </a:r>
            <a:endParaRPr b="0" lang="en-US" sz="2600" spc="-1" strike="noStrike">
              <a:solidFill>
                <a:srgbClr val="000000"/>
              </a:solidFill>
              <a:latin typeface="Arial"/>
            </a:endParaRPr>
          </a:p>
        </p:txBody>
      </p:sp>
      <p:sp>
        <p:nvSpPr>
          <p:cNvPr id="790" name="Text 3"/>
          <p:cNvSpPr/>
          <p:nvPr/>
        </p:nvSpPr>
        <p:spPr>
          <a:xfrm>
            <a:off x="548640" y="1691640"/>
            <a:ext cx="11063520" cy="4114080"/>
          </a:xfrm>
          <a:prstGeom prst="rect">
            <a:avLst/>
          </a:prstGeom>
          <a:noFill/>
          <a:ln w="0">
            <a:noFill/>
          </a:ln>
        </p:spPr>
        <p:style>
          <a:lnRef idx="0"/>
          <a:fillRef idx="0"/>
          <a:effectRef idx="0"/>
          <a:fontRef idx="minor"/>
        </p:style>
        <p:txBody>
          <a:bodyPr lIns="0" rIns="0" tIns="0" bIns="0" anchor="t">
            <a:noAutofit/>
          </a:bodyPr>
          <a:p>
            <a:pPr marL="177840" indent="-177840" defTabSz="914400">
              <a:lnSpc>
                <a:spcPct val="104000"/>
              </a:lnSpc>
              <a:spcAft>
                <a:spcPts val="799"/>
              </a:spcAft>
              <a:buClr>
                <a:srgbClr val="1a2733"/>
              </a:buClr>
              <a:buFont typeface="Symbol" charset="2"/>
              <a:buChar char=""/>
            </a:pPr>
            <a:r>
              <a:rPr b="0" lang="en-US" sz="1500" spc="-1" strike="noStrike">
                <a:solidFill>
                  <a:srgbClr val="1a2733"/>
                </a:solidFill>
                <a:latin typeface="Calibri"/>
                <a:ea typeface="Calibri"/>
              </a:rPr>
              <a:t>Data, PV, energy, cost and network feasibility are all evaluated at the native 15-minute resolution of the real series.</a:t>
            </a:r>
            <a:endParaRPr b="0" lang="en-US" sz="150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500" spc="-1" strike="noStrike">
                <a:solidFill>
                  <a:srgbClr val="1a2733"/>
                </a:solidFill>
                <a:latin typeface="Calibri"/>
                <a:ea typeface="Calibri"/>
              </a:rPr>
              <a:t>The dispatch decision is hourly — 24 setpoints, not 96.</a:t>
            </a:r>
            <a:endParaRPr b="0" lang="en-US" sz="150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500" spc="-1" strike="noStrike">
                <a:solidFill>
                  <a:srgbClr val="1a2733"/>
                </a:solidFill>
                <a:latin typeface="Calibri"/>
                <a:ea typeface="Calibri"/>
              </a:rPr>
              <a:t>Why: hourly commitment is the power-industry day-ahead standard and keeps the PSO low-dimensional and reproducible (24 vs 96 variables).</a:t>
            </a:r>
            <a:endParaRPr b="0" lang="en-US" sz="150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500" spc="-1" strike="noStrike">
                <a:solidFill>
                  <a:srgbClr val="1a2733"/>
                </a:solidFill>
                <a:latin typeface="Calibri"/>
                <a:ea typeface="Calibri"/>
              </a:rPr>
              <a:t>Sub-hourly control adds negligible value while prices are hourly and there is no storage.</a:t>
            </a:r>
            <a:endParaRPr b="0" lang="en-US" sz="150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500" spc="-1" strike="noStrike">
                <a:solidFill>
                  <a:srgbClr val="1a2733"/>
                </a:solidFill>
                <a:latin typeface="Calibri"/>
                <a:ea typeface="Calibri"/>
              </a:rPr>
              <a:t>It becomes worthwhile with the Stage-2 battery, where a policy-based 15-min controller is the planned upgrade.</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91" name="Text 0"/>
          <p:cNvSpPr/>
          <p:nvPr/>
        </p:nvSpPr>
        <p:spPr>
          <a:xfrm>
            <a:off x="11338560" y="6400800"/>
            <a:ext cx="456480" cy="291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050" spc="-1" strike="noStrike">
                <a:solidFill>
                  <a:srgbClr val="6b7c8f"/>
                </a:solidFill>
                <a:latin typeface="Calibri"/>
                <a:ea typeface="Calibri"/>
              </a:rPr>
              <a:t>41</a:t>
            </a:r>
            <a:endParaRPr b="0" lang="en-US" sz="1050" spc="-1" strike="noStrike">
              <a:solidFill>
                <a:srgbClr val="000000"/>
              </a:solidFill>
              <a:latin typeface="Arial"/>
            </a:endParaRPr>
          </a:p>
        </p:txBody>
      </p:sp>
      <p:sp>
        <p:nvSpPr>
          <p:cNvPr id="792" name="Text 1"/>
          <p:cNvSpPr/>
          <p:nvPr/>
        </p:nvSpPr>
        <p:spPr>
          <a:xfrm>
            <a:off x="548640" y="384120"/>
            <a:ext cx="109720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97" strike="noStrike">
                <a:solidFill>
                  <a:srgbClr val="f4a623"/>
                </a:solidFill>
                <a:latin typeface="Calibri"/>
                <a:ea typeface="Calibri"/>
              </a:rPr>
              <a:t>APPENDIX · A9 — STORAGE OPTIMISER</a:t>
            </a:r>
            <a:endParaRPr b="0" lang="en-US" sz="1150" spc="-1" strike="noStrike">
              <a:solidFill>
                <a:srgbClr val="000000"/>
              </a:solidFill>
              <a:latin typeface="Arial"/>
            </a:endParaRPr>
          </a:p>
        </p:txBody>
      </p:sp>
      <p:sp>
        <p:nvSpPr>
          <p:cNvPr id="793" name="Text 2"/>
          <p:cNvSpPr/>
          <p:nvPr/>
        </p:nvSpPr>
        <p:spPr>
          <a:xfrm>
            <a:off x="548640" y="658440"/>
            <a:ext cx="11063520" cy="730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600" spc="-1" strike="noStrike">
                <a:solidFill>
                  <a:srgbClr val="0e2233"/>
                </a:solidFill>
                <a:latin typeface="Cambria"/>
                <a:ea typeface="Cambria"/>
              </a:rPr>
              <a:t>Decomposed dispatch: PSO + LP</a:t>
            </a:r>
            <a:endParaRPr b="0" lang="en-US" sz="2600" spc="-1" strike="noStrike">
              <a:solidFill>
                <a:srgbClr val="000000"/>
              </a:solidFill>
              <a:latin typeface="Arial"/>
            </a:endParaRPr>
          </a:p>
        </p:txBody>
      </p:sp>
      <p:sp>
        <p:nvSpPr>
          <p:cNvPr id="794" name="Text 3"/>
          <p:cNvSpPr/>
          <p:nvPr/>
        </p:nvSpPr>
        <p:spPr>
          <a:xfrm>
            <a:off x="548640" y="1691640"/>
            <a:ext cx="7405920" cy="4205520"/>
          </a:xfrm>
          <a:prstGeom prst="rect">
            <a:avLst/>
          </a:prstGeom>
          <a:noFill/>
          <a:ln w="0">
            <a:noFill/>
          </a:ln>
        </p:spPr>
        <p:style>
          <a:lnRef idx="0"/>
          <a:fillRef idx="0"/>
          <a:effectRef idx="0"/>
          <a:fontRef idx="minor"/>
        </p:style>
        <p:txBody>
          <a:bodyPr lIns="0" rIns="0" tIns="0" bIns="0" anchor="t">
            <a:noAutofit/>
          </a:bodyPr>
          <a:p>
            <a:pPr marL="177840" indent="-177840" defTabSz="914400">
              <a:lnSpc>
                <a:spcPct val="104000"/>
              </a:lnSpc>
              <a:spcAft>
                <a:spcPts val="799"/>
              </a:spcAft>
              <a:buClr>
                <a:srgbClr val="1a2733"/>
              </a:buClr>
              <a:buFont typeface="Symbol" charset="2"/>
              <a:buChar char=""/>
            </a:pPr>
            <a:r>
              <a:rPr b="0" lang="en-US" sz="1400" spc="-1" strike="noStrike">
                <a:solidFill>
                  <a:srgbClr val="1a2733"/>
                </a:solidFill>
                <a:latin typeface="Calibri"/>
                <a:ea typeface="Calibri"/>
              </a:rPr>
              <a:t>The storage problem is decomposed, not solved jointly.</a:t>
            </a:r>
            <a:endParaRPr b="0" lang="en-US" sz="140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400" spc="-1" strike="noStrike">
                <a:solidFill>
                  <a:srgbClr val="1a2733"/>
                </a:solidFill>
                <a:latin typeface="Calibri"/>
                <a:ea typeface="Calibri"/>
              </a:rPr>
              <a:t>PSO searches only the 24 hourly electrolyzer setpoints (the non-linear, demand-constrained part).</a:t>
            </a:r>
            <a:endParaRPr b="0" lang="en-US" sz="140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400" spc="-1" strike="noStrike">
                <a:solidFill>
                  <a:srgbClr val="1a2733"/>
                </a:solidFill>
                <a:latin typeface="Calibri"/>
                <a:ea typeface="Calibri"/>
              </a:rPr>
              <a:t>For each candidate, the battery is operated optimally by a linear program (scipy HiGHS): charge/discharge/SOC that minimise grid cost vs the time-of-use price, subject to power and energy limits.</a:t>
            </a:r>
            <a:endParaRPr b="0" lang="en-US" sz="1400" spc="-1" strike="noStrike">
              <a:solidFill>
                <a:srgbClr val="000000"/>
              </a:solidFill>
              <a:latin typeface="Arial"/>
            </a:endParaRPr>
          </a:p>
          <a:p>
            <a:pPr marL="177840" indent="-177840" defTabSz="914400">
              <a:lnSpc>
                <a:spcPct val="104000"/>
              </a:lnSpc>
              <a:spcAft>
                <a:spcPts val="799"/>
              </a:spcAft>
              <a:buClr>
                <a:srgbClr val="1a2733"/>
              </a:buClr>
              <a:buFont typeface="Symbol" charset="2"/>
              <a:buChar char=""/>
            </a:pPr>
            <a:r>
              <a:rPr b="0" lang="en-US" sz="1400" spc="-1" strike="noStrike">
                <a:solidFill>
                  <a:srgbClr val="1a2733"/>
                </a:solidFill>
                <a:latin typeface="Calibri"/>
                <a:ea typeface="Calibri"/>
              </a:rPr>
              <a:t>Why: a joint 48-variable PSO converged unreliably (non-monotonic sizing). The decomposition gives provably-optimal storage per candidate, reproducible and monotone results, and a low-dimensional PSO.</a:t>
            </a:r>
            <a:endParaRPr b="0" lang="en-US" sz="1400" spc="-1" strike="noStrike">
              <a:solidFill>
                <a:srgbClr val="000000"/>
              </a:solidFill>
              <a:latin typeface="Arial"/>
            </a:endParaRPr>
          </a:p>
        </p:txBody>
      </p:sp>
      <p:pic>
        <p:nvPicPr>
          <p:cNvPr id="795" name="Image 0" descr="/home/youc/hydrogen-dispatch/results/figures/battery_sizing.png"/>
          <p:cNvPicPr/>
          <p:nvPr/>
        </p:nvPicPr>
        <p:blipFill>
          <a:blip r:embed="rId1"/>
          <a:stretch/>
        </p:blipFill>
        <p:spPr>
          <a:xfrm>
            <a:off x="7680960" y="1828800"/>
            <a:ext cx="4022640" cy="2742480"/>
          </a:xfrm>
          <a:prstGeom prst="rect">
            <a:avLst/>
          </a:prstGeom>
          <a:ln w="0">
            <a:noFill/>
          </a:ln>
        </p:spPr>
      </p:pic>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96" name="Text 0"/>
          <p:cNvSpPr/>
          <p:nvPr/>
        </p:nvSpPr>
        <p:spPr>
          <a:xfrm>
            <a:off x="11338560" y="6400800"/>
            <a:ext cx="456480" cy="291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050" spc="-1" strike="noStrike">
                <a:solidFill>
                  <a:srgbClr val="6b7c8f"/>
                </a:solidFill>
                <a:latin typeface="Calibri"/>
                <a:ea typeface="Calibri"/>
              </a:rPr>
              <a:t>42</a:t>
            </a:r>
            <a:endParaRPr b="0" lang="en-US" sz="1050" spc="-1" strike="noStrike">
              <a:solidFill>
                <a:srgbClr val="000000"/>
              </a:solidFill>
              <a:latin typeface="Arial"/>
            </a:endParaRPr>
          </a:p>
        </p:txBody>
      </p:sp>
      <p:sp>
        <p:nvSpPr>
          <p:cNvPr id="797" name="Text 1"/>
          <p:cNvSpPr/>
          <p:nvPr/>
        </p:nvSpPr>
        <p:spPr>
          <a:xfrm>
            <a:off x="548640" y="384120"/>
            <a:ext cx="109720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97" strike="noStrike">
                <a:solidFill>
                  <a:srgbClr val="f4a623"/>
                </a:solidFill>
                <a:latin typeface="Calibri"/>
                <a:ea typeface="Calibri"/>
              </a:rPr>
              <a:t>APPENDIX · A10 — REPRODUCIBILITY</a:t>
            </a:r>
            <a:endParaRPr b="0" lang="en-US" sz="1150" spc="-1" strike="noStrike">
              <a:solidFill>
                <a:srgbClr val="000000"/>
              </a:solidFill>
              <a:latin typeface="Arial"/>
            </a:endParaRPr>
          </a:p>
        </p:txBody>
      </p:sp>
      <p:sp>
        <p:nvSpPr>
          <p:cNvPr id="798" name="Text 2"/>
          <p:cNvSpPr/>
          <p:nvPr/>
        </p:nvSpPr>
        <p:spPr>
          <a:xfrm>
            <a:off x="548640" y="658440"/>
            <a:ext cx="11063520" cy="730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600" spc="-1" strike="noStrike">
                <a:solidFill>
                  <a:srgbClr val="0e2233"/>
                </a:solidFill>
                <a:latin typeface="Cambria"/>
                <a:ea typeface="Cambria"/>
              </a:rPr>
              <a:t>Data provenance &amp; software stack</a:t>
            </a:r>
            <a:endParaRPr b="0" lang="en-US" sz="2600" spc="-1" strike="noStrike">
              <a:solidFill>
                <a:srgbClr val="000000"/>
              </a:solidFill>
              <a:latin typeface="Arial"/>
            </a:endParaRPr>
          </a:p>
        </p:txBody>
      </p:sp>
      <p:sp>
        <p:nvSpPr>
          <p:cNvPr id="799" name="Shape 3"/>
          <p:cNvSpPr/>
          <p:nvPr/>
        </p:nvSpPr>
        <p:spPr>
          <a:xfrm>
            <a:off x="548640" y="1554480"/>
            <a:ext cx="11063520" cy="529560"/>
          </a:xfrm>
          <a:prstGeom prst="roundRect">
            <a:avLst>
              <a:gd name="adj" fmla="val 10345"/>
            </a:avLst>
          </a:prstGeom>
          <a:solidFill>
            <a:srgbClr val="eef3f7"/>
          </a:solidFill>
          <a:ln w="9525">
            <a:solidFill>
              <a:srgbClr val="dce5ec"/>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800" name="Text 4"/>
          <p:cNvSpPr/>
          <p:nvPr/>
        </p:nvSpPr>
        <p:spPr>
          <a:xfrm>
            <a:off x="731520" y="1554480"/>
            <a:ext cx="3016800" cy="529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1c7293"/>
                </a:solidFill>
                <a:latin typeface="Calibri"/>
                <a:ea typeface="Calibri"/>
              </a:rPr>
              <a:t>Solar irradiance</a:t>
            </a:r>
            <a:endParaRPr b="0" lang="en-US" sz="1300" spc="-1" strike="noStrike">
              <a:solidFill>
                <a:srgbClr val="000000"/>
              </a:solidFill>
              <a:latin typeface="Arial"/>
            </a:endParaRPr>
          </a:p>
        </p:txBody>
      </p:sp>
      <p:sp>
        <p:nvSpPr>
          <p:cNvPr id="801" name="Text 5"/>
          <p:cNvSpPr/>
          <p:nvPr/>
        </p:nvSpPr>
        <p:spPr>
          <a:xfrm>
            <a:off x="3840480" y="1554480"/>
            <a:ext cx="7588800" cy="529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50" spc="-1" strike="noStrike">
                <a:solidFill>
                  <a:srgbClr val="1a2733"/>
                </a:solidFill>
                <a:latin typeface="Calibri"/>
                <a:ea typeface="Calibri"/>
              </a:rPr>
              <a:t>CAMS Radiation Service v4.6 (Copernicus), satellite-derived, 15-min</a:t>
            </a:r>
            <a:endParaRPr b="0" lang="en-US" sz="1250" spc="-1" strike="noStrike">
              <a:solidFill>
                <a:srgbClr val="000000"/>
              </a:solidFill>
              <a:latin typeface="Arial"/>
            </a:endParaRPr>
          </a:p>
        </p:txBody>
      </p:sp>
      <p:sp>
        <p:nvSpPr>
          <p:cNvPr id="802" name="Shape 6"/>
          <p:cNvSpPr/>
          <p:nvPr/>
        </p:nvSpPr>
        <p:spPr>
          <a:xfrm>
            <a:off x="548640" y="2176200"/>
            <a:ext cx="11063520" cy="529560"/>
          </a:xfrm>
          <a:prstGeom prst="roundRect">
            <a:avLst>
              <a:gd name="adj" fmla="val 10345"/>
            </a:avLst>
          </a:prstGeom>
          <a:solidFill>
            <a:srgbClr val="f4f7fa"/>
          </a:solidFill>
          <a:ln w="9525">
            <a:solidFill>
              <a:srgbClr val="dce5ec"/>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803" name="Text 7"/>
          <p:cNvSpPr/>
          <p:nvPr/>
        </p:nvSpPr>
        <p:spPr>
          <a:xfrm>
            <a:off x="731520" y="2176200"/>
            <a:ext cx="3016800" cy="529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1c7293"/>
                </a:solidFill>
                <a:latin typeface="Calibri"/>
                <a:ea typeface="Calibri"/>
              </a:rPr>
              <a:t>Temperature / wind</a:t>
            </a:r>
            <a:endParaRPr b="0" lang="en-US" sz="1300" spc="-1" strike="noStrike">
              <a:solidFill>
                <a:srgbClr val="000000"/>
              </a:solidFill>
              <a:latin typeface="Arial"/>
            </a:endParaRPr>
          </a:p>
        </p:txBody>
      </p:sp>
      <p:sp>
        <p:nvSpPr>
          <p:cNvPr id="804" name="Text 8"/>
          <p:cNvSpPr/>
          <p:nvPr/>
        </p:nvSpPr>
        <p:spPr>
          <a:xfrm>
            <a:off x="3840480" y="2176200"/>
            <a:ext cx="7588800" cy="529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50" spc="-1" strike="noStrike">
                <a:solidFill>
                  <a:srgbClr val="1a2733"/>
                </a:solidFill>
                <a:latin typeface="Calibri"/>
                <a:ea typeface="Calibri"/>
              </a:rPr>
              <a:t>ERA5 reanalysis (Copernicus CDS), 2023, nearest cell to Ghardaïa</a:t>
            </a:r>
            <a:endParaRPr b="0" lang="en-US" sz="1250" spc="-1" strike="noStrike">
              <a:solidFill>
                <a:srgbClr val="000000"/>
              </a:solidFill>
              <a:latin typeface="Arial"/>
            </a:endParaRPr>
          </a:p>
        </p:txBody>
      </p:sp>
      <p:sp>
        <p:nvSpPr>
          <p:cNvPr id="805" name="Shape 9"/>
          <p:cNvSpPr/>
          <p:nvPr/>
        </p:nvSpPr>
        <p:spPr>
          <a:xfrm>
            <a:off x="548640" y="2797920"/>
            <a:ext cx="11063520" cy="529560"/>
          </a:xfrm>
          <a:prstGeom prst="roundRect">
            <a:avLst>
              <a:gd name="adj" fmla="val 10345"/>
            </a:avLst>
          </a:prstGeom>
          <a:solidFill>
            <a:srgbClr val="eef3f7"/>
          </a:solidFill>
          <a:ln w="9525">
            <a:solidFill>
              <a:srgbClr val="dce5ec"/>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806" name="Text 10"/>
          <p:cNvSpPr/>
          <p:nvPr/>
        </p:nvSpPr>
        <p:spPr>
          <a:xfrm>
            <a:off x="731520" y="2797920"/>
            <a:ext cx="3016800" cy="529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1c7293"/>
                </a:solidFill>
                <a:latin typeface="Calibri"/>
                <a:ea typeface="Calibri"/>
              </a:rPr>
              <a:t>PV model</a:t>
            </a:r>
            <a:endParaRPr b="0" lang="en-US" sz="1300" spc="-1" strike="noStrike">
              <a:solidFill>
                <a:srgbClr val="000000"/>
              </a:solidFill>
              <a:latin typeface="Arial"/>
            </a:endParaRPr>
          </a:p>
        </p:txBody>
      </p:sp>
      <p:sp>
        <p:nvSpPr>
          <p:cNvPr id="807" name="Text 11"/>
          <p:cNvSpPr/>
          <p:nvPr/>
        </p:nvSpPr>
        <p:spPr>
          <a:xfrm>
            <a:off x="3840480" y="2797920"/>
            <a:ext cx="7588800" cy="529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50" spc="-1" strike="noStrike">
                <a:solidFill>
                  <a:srgbClr val="1a2733"/>
                </a:solidFill>
                <a:latin typeface="Calibri"/>
                <a:ea typeface="Calibri"/>
              </a:rPr>
              <a:t>NREL SAM via PySAM — single-axis tracking, 15-min AC series</a:t>
            </a:r>
            <a:endParaRPr b="0" lang="en-US" sz="1250" spc="-1" strike="noStrike">
              <a:solidFill>
                <a:srgbClr val="000000"/>
              </a:solidFill>
              <a:latin typeface="Arial"/>
            </a:endParaRPr>
          </a:p>
        </p:txBody>
      </p:sp>
      <p:sp>
        <p:nvSpPr>
          <p:cNvPr id="808" name="Shape 12"/>
          <p:cNvSpPr/>
          <p:nvPr/>
        </p:nvSpPr>
        <p:spPr>
          <a:xfrm>
            <a:off x="548640" y="3420000"/>
            <a:ext cx="11063520" cy="529560"/>
          </a:xfrm>
          <a:prstGeom prst="roundRect">
            <a:avLst>
              <a:gd name="adj" fmla="val 10345"/>
            </a:avLst>
          </a:prstGeom>
          <a:solidFill>
            <a:srgbClr val="f4f7fa"/>
          </a:solidFill>
          <a:ln w="9525">
            <a:solidFill>
              <a:srgbClr val="dce5ec"/>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809" name="Text 13"/>
          <p:cNvSpPr/>
          <p:nvPr/>
        </p:nvSpPr>
        <p:spPr>
          <a:xfrm>
            <a:off x="731520" y="3420000"/>
            <a:ext cx="3016800" cy="529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1c7293"/>
                </a:solidFill>
                <a:latin typeface="Calibri"/>
                <a:ea typeface="Calibri"/>
              </a:rPr>
              <a:t>Tariff</a:t>
            </a:r>
            <a:endParaRPr b="0" lang="en-US" sz="1300" spc="-1" strike="noStrike">
              <a:solidFill>
                <a:srgbClr val="000000"/>
              </a:solidFill>
              <a:latin typeface="Arial"/>
            </a:endParaRPr>
          </a:p>
        </p:txBody>
      </p:sp>
      <p:sp>
        <p:nvSpPr>
          <p:cNvPr id="810" name="Text 14"/>
          <p:cNvSpPr/>
          <p:nvPr/>
        </p:nvSpPr>
        <p:spPr>
          <a:xfrm>
            <a:off x="3840480" y="3420000"/>
            <a:ext cx="7588800" cy="529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50" spc="-1" strike="noStrike">
                <a:solidFill>
                  <a:srgbClr val="1a2733"/>
                </a:solidFill>
                <a:latin typeface="Calibri"/>
                <a:ea typeface="Calibri"/>
              </a:rPr>
              <a:t>Algerian CREG medium-voltage time-of-use (code 51NM)</a:t>
            </a:r>
            <a:endParaRPr b="0" lang="en-US" sz="1250" spc="-1" strike="noStrike">
              <a:solidFill>
                <a:srgbClr val="000000"/>
              </a:solidFill>
              <a:latin typeface="Arial"/>
            </a:endParaRPr>
          </a:p>
        </p:txBody>
      </p:sp>
      <p:sp>
        <p:nvSpPr>
          <p:cNvPr id="811" name="Shape 15"/>
          <p:cNvSpPr/>
          <p:nvPr/>
        </p:nvSpPr>
        <p:spPr>
          <a:xfrm>
            <a:off x="548640" y="4041720"/>
            <a:ext cx="11063520" cy="529560"/>
          </a:xfrm>
          <a:prstGeom prst="roundRect">
            <a:avLst>
              <a:gd name="adj" fmla="val 10345"/>
            </a:avLst>
          </a:prstGeom>
          <a:solidFill>
            <a:srgbClr val="eef3f7"/>
          </a:solidFill>
          <a:ln w="9525">
            <a:solidFill>
              <a:srgbClr val="dce5ec"/>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812" name="Text 16"/>
          <p:cNvSpPr/>
          <p:nvPr/>
        </p:nvSpPr>
        <p:spPr>
          <a:xfrm>
            <a:off x="731520" y="4041720"/>
            <a:ext cx="3016800" cy="529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1c7293"/>
                </a:solidFill>
                <a:latin typeface="Calibri"/>
                <a:ea typeface="Calibri"/>
              </a:rPr>
              <a:t>Network / load flow</a:t>
            </a:r>
            <a:endParaRPr b="0" lang="en-US" sz="1300" spc="-1" strike="noStrike">
              <a:solidFill>
                <a:srgbClr val="000000"/>
              </a:solidFill>
              <a:latin typeface="Arial"/>
            </a:endParaRPr>
          </a:p>
        </p:txBody>
      </p:sp>
      <p:sp>
        <p:nvSpPr>
          <p:cNvPr id="813" name="Text 17"/>
          <p:cNvSpPr/>
          <p:nvPr/>
        </p:nvSpPr>
        <p:spPr>
          <a:xfrm>
            <a:off x="3840480" y="4041720"/>
            <a:ext cx="7588800" cy="529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50" spc="-1" strike="noStrike">
                <a:solidFill>
                  <a:srgbClr val="1a2733"/>
                </a:solidFill>
                <a:latin typeface="Calibri"/>
                <a:ea typeface="Calibri"/>
              </a:rPr>
              <a:t>pandapower (Newton-Raphson), validated against ETAP 20.6</a:t>
            </a:r>
            <a:endParaRPr b="0" lang="en-US" sz="1250" spc="-1" strike="noStrike">
              <a:solidFill>
                <a:srgbClr val="000000"/>
              </a:solidFill>
              <a:latin typeface="Arial"/>
            </a:endParaRPr>
          </a:p>
        </p:txBody>
      </p:sp>
      <p:sp>
        <p:nvSpPr>
          <p:cNvPr id="814" name="Shape 18"/>
          <p:cNvSpPr/>
          <p:nvPr/>
        </p:nvSpPr>
        <p:spPr>
          <a:xfrm>
            <a:off x="548640" y="4663440"/>
            <a:ext cx="11063520" cy="529560"/>
          </a:xfrm>
          <a:prstGeom prst="roundRect">
            <a:avLst>
              <a:gd name="adj" fmla="val 10345"/>
            </a:avLst>
          </a:prstGeom>
          <a:solidFill>
            <a:srgbClr val="f4f7fa"/>
          </a:solidFill>
          <a:ln w="9525">
            <a:solidFill>
              <a:srgbClr val="dce5ec"/>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815" name="Text 19"/>
          <p:cNvSpPr/>
          <p:nvPr/>
        </p:nvSpPr>
        <p:spPr>
          <a:xfrm>
            <a:off x="731520" y="4663440"/>
            <a:ext cx="3016800" cy="529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1c7293"/>
                </a:solidFill>
                <a:latin typeface="Calibri"/>
                <a:ea typeface="Calibri"/>
              </a:rPr>
              <a:t>Optimiser</a:t>
            </a:r>
            <a:endParaRPr b="0" lang="en-US" sz="1300" spc="-1" strike="noStrike">
              <a:solidFill>
                <a:srgbClr val="000000"/>
              </a:solidFill>
              <a:latin typeface="Arial"/>
            </a:endParaRPr>
          </a:p>
        </p:txBody>
      </p:sp>
      <p:sp>
        <p:nvSpPr>
          <p:cNvPr id="816" name="Text 20"/>
          <p:cNvSpPr/>
          <p:nvPr/>
        </p:nvSpPr>
        <p:spPr>
          <a:xfrm>
            <a:off x="3840480" y="4663440"/>
            <a:ext cx="7588800" cy="529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50" spc="-1" strike="noStrike">
                <a:solidFill>
                  <a:srgbClr val="1a2733"/>
                </a:solidFill>
                <a:latin typeface="Calibri"/>
                <a:ea typeface="Calibri"/>
              </a:rPr>
              <a:t>pymoo / PSO; battery LP via scipy HiGHS</a:t>
            </a:r>
            <a:endParaRPr b="0" lang="en-US" sz="1250" spc="-1" strike="noStrike">
              <a:solidFill>
                <a:srgbClr val="000000"/>
              </a:solidFill>
              <a:latin typeface="Arial"/>
            </a:endParaRPr>
          </a:p>
        </p:txBody>
      </p:sp>
      <p:sp>
        <p:nvSpPr>
          <p:cNvPr id="817" name="Shape 21"/>
          <p:cNvSpPr/>
          <p:nvPr/>
        </p:nvSpPr>
        <p:spPr>
          <a:xfrm>
            <a:off x="548640" y="5285160"/>
            <a:ext cx="11063520" cy="529560"/>
          </a:xfrm>
          <a:prstGeom prst="roundRect">
            <a:avLst>
              <a:gd name="adj" fmla="val 10345"/>
            </a:avLst>
          </a:prstGeom>
          <a:solidFill>
            <a:srgbClr val="eef3f7"/>
          </a:solidFill>
          <a:ln w="9525">
            <a:solidFill>
              <a:srgbClr val="dce5ec"/>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818" name="Text 22"/>
          <p:cNvSpPr/>
          <p:nvPr/>
        </p:nvSpPr>
        <p:spPr>
          <a:xfrm>
            <a:off x="731520" y="5285160"/>
            <a:ext cx="3016800" cy="529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1c7293"/>
                </a:solidFill>
                <a:latin typeface="Calibri"/>
                <a:ea typeface="Calibri"/>
              </a:rPr>
              <a:t>Apps</a:t>
            </a:r>
            <a:endParaRPr b="0" lang="en-US" sz="1300" spc="-1" strike="noStrike">
              <a:solidFill>
                <a:srgbClr val="000000"/>
              </a:solidFill>
              <a:latin typeface="Arial"/>
            </a:endParaRPr>
          </a:p>
        </p:txBody>
      </p:sp>
      <p:sp>
        <p:nvSpPr>
          <p:cNvPr id="819" name="Text 23"/>
          <p:cNvSpPr/>
          <p:nvPr/>
        </p:nvSpPr>
        <p:spPr>
          <a:xfrm>
            <a:off x="3840480" y="5285160"/>
            <a:ext cx="7588800" cy="529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50" spc="-1" strike="noStrike">
                <a:solidFill>
                  <a:srgbClr val="1a2733"/>
                </a:solidFill>
                <a:latin typeface="Calibri"/>
                <a:ea typeface="Calibri"/>
              </a:rPr>
              <a:t>Streamlit dashboard (daily · control · annual · baselines · validation)</a:t>
            </a:r>
            <a:endParaRPr b="0" lang="en-US" sz="1250" spc="-1" strike="noStrike">
              <a:solidFill>
                <a:srgbClr val="000000"/>
              </a:solidFill>
              <a:latin typeface="Arial"/>
            </a:endParaRPr>
          </a:p>
        </p:txBody>
      </p:sp>
      <p:sp>
        <p:nvSpPr>
          <p:cNvPr id="820" name="Text 24"/>
          <p:cNvSpPr/>
          <p:nvPr/>
        </p:nvSpPr>
        <p:spPr>
          <a:xfrm>
            <a:off x="548640" y="5989320"/>
            <a:ext cx="1106352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300" spc="-1" strike="noStrike">
                <a:solidFill>
                  <a:srgbClr val="1c7293"/>
                </a:solidFill>
                <a:latin typeface="Calibri"/>
                <a:ea typeface="Calibri"/>
              </a:rPr>
              <a:t>Every figure in this deck is regenerated by a single script from the real data — the study is fully reproducible.</a:t>
            </a:r>
            <a:endParaRPr b="0" lang="en-US"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21" name="Text 0"/>
          <p:cNvSpPr/>
          <p:nvPr/>
        </p:nvSpPr>
        <p:spPr>
          <a:xfrm>
            <a:off x="11338560" y="6400800"/>
            <a:ext cx="456480" cy="291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050" spc="-1" strike="noStrike">
                <a:solidFill>
                  <a:srgbClr val="6b7c8f"/>
                </a:solidFill>
                <a:latin typeface="Calibri"/>
                <a:ea typeface="Calibri"/>
              </a:rPr>
              <a:t>43</a:t>
            </a:r>
            <a:endParaRPr b="0" lang="en-US" sz="1050" spc="-1" strike="noStrike">
              <a:solidFill>
                <a:srgbClr val="000000"/>
              </a:solidFill>
              <a:latin typeface="Arial"/>
            </a:endParaRPr>
          </a:p>
        </p:txBody>
      </p:sp>
      <p:sp>
        <p:nvSpPr>
          <p:cNvPr id="822" name="Text 1"/>
          <p:cNvSpPr/>
          <p:nvPr/>
        </p:nvSpPr>
        <p:spPr>
          <a:xfrm>
            <a:off x="548640" y="384120"/>
            <a:ext cx="109720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97" strike="noStrike">
                <a:solidFill>
                  <a:srgbClr val="f4a623"/>
                </a:solidFill>
                <a:latin typeface="Calibri"/>
                <a:ea typeface="Calibri"/>
              </a:rPr>
              <a:t>APPENDIX · A11 — POSITIONING</a:t>
            </a:r>
            <a:endParaRPr b="0" lang="en-US" sz="1150" spc="-1" strike="noStrike">
              <a:solidFill>
                <a:srgbClr val="000000"/>
              </a:solidFill>
              <a:latin typeface="Arial"/>
            </a:endParaRPr>
          </a:p>
        </p:txBody>
      </p:sp>
      <p:sp>
        <p:nvSpPr>
          <p:cNvPr id="823" name="Text 2"/>
          <p:cNvSpPr/>
          <p:nvPr/>
        </p:nvSpPr>
        <p:spPr>
          <a:xfrm>
            <a:off x="548640" y="658440"/>
            <a:ext cx="11063520" cy="730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600" spc="-1" strike="noStrike">
                <a:solidFill>
                  <a:srgbClr val="0e2233"/>
                </a:solidFill>
                <a:latin typeface="Cambria"/>
                <a:ea typeface="Cambria"/>
              </a:rPr>
              <a:t>Where this work sits (state of the art)</a:t>
            </a:r>
            <a:endParaRPr b="0" lang="en-US" sz="2600" spc="-1" strike="noStrike">
              <a:solidFill>
                <a:srgbClr val="000000"/>
              </a:solidFill>
              <a:latin typeface="Arial"/>
            </a:endParaRPr>
          </a:p>
        </p:txBody>
      </p:sp>
      <p:sp>
        <p:nvSpPr>
          <p:cNvPr id="824" name="Shape 3"/>
          <p:cNvSpPr/>
          <p:nvPr/>
        </p:nvSpPr>
        <p:spPr>
          <a:xfrm>
            <a:off x="548640" y="1645920"/>
            <a:ext cx="8228880" cy="932040"/>
          </a:xfrm>
          <a:prstGeom prst="roundRect">
            <a:avLst>
              <a:gd name="adj" fmla="val 6863"/>
            </a:avLst>
          </a:prstGeom>
          <a:solidFill>
            <a:srgbClr val="eef3f7"/>
          </a:solidFill>
          <a:ln w="12700">
            <a:solidFill>
              <a:srgbClr val="dce5ec"/>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825" name="Text 4"/>
          <p:cNvSpPr/>
          <p:nvPr/>
        </p:nvSpPr>
        <p:spPr>
          <a:xfrm>
            <a:off x="731520" y="1719000"/>
            <a:ext cx="7863120" cy="80388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1450" spc="-1" strike="noStrike">
                <a:solidFill>
                  <a:srgbClr val="1a2733"/>
                </a:solidFill>
                <a:latin typeface="Calibri"/>
                <a:ea typeface="Calibri"/>
              </a:rPr>
              <a:t>Professional load-flow tools (ETAP)</a:t>
            </a:r>
            <a:endParaRPr b="0" lang="en-US" sz="1450" spc="-1" strike="noStrike">
              <a:solidFill>
                <a:srgbClr val="000000"/>
              </a:solidFill>
              <a:latin typeface="Arial"/>
            </a:endParaRPr>
          </a:p>
          <a:p>
            <a:pPr defTabSz="914400">
              <a:lnSpc>
                <a:spcPct val="103000"/>
              </a:lnSpc>
              <a:tabLst>
                <a:tab algn="l" pos="0"/>
              </a:tabLst>
            </a:pPr>
            <a:endParaRPr b="0" lang="en-US" sz="1450" spc="-1" strike="noStrike">
              <a:solidFill>
                <a:srgbClr val="000000"/>
              </a:solidFill>
              <a:latin typeface="Arial"/>
            </a:endParaRPr>
          </a:p>
          <a:p>
            <a:pPr defTabSz="914400">
              <a:lnSpc>
                <a:spcPct val="103000"/>
              </a:lnSpc>
              <a:tabLst>
                <a:tab algn="l" pos="0"/>
              </a:tabLst>
            </a:pPr>
            <a:r>
              <a:rPr b="0" lang="en-US" sz="1200" spc="-1" strike="noStrike">
                <a:solidFill>
                  <a:srgbClr val="6b7c8f"/>
                </a:solidFill>
                <a:latin typeface="Calibri"/>
                <a:ea typeface="Calibri"/>
              </a:rPr>
              <a:t>Accurate and trusted, but GUI-bound — not easily scripted for batch optimisation over a whole year.</a:t>
            </a:r>
            <a:endParaRPr b="0" lang="en-US" sz="1200" spc="-1" strike="noStrike">
              <a:solidFill>
                <a:srgbClr val="000000"/>
              </a:solidFill>
              <a:latin typeface="Arial"/>
            </a:endParaRPr>
          </a:p>
        </p:txBody>
      </p:sp>
      <p:sp>
        <p:nvSpPr>
          <p:cNvPr id="826" name="Text 5"/>
          <p:cNvSpPr/>
          <p:nvPr/>
        </p:nvSpPr>
        <p:spPr>
          <a:xfrm>
            <a:off x="8915400" y="1645920"/>
            <a:ext cx="2742480" cy="932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e2643b"/>
                </a:solidFill>
                <a:latin typeface="Calibri"/>
                <a:ea typeface="Calibri"/>
              </a:rPr>
              <a:t>GAP: automation</a:t>
            </a:r>
            <a:endParaRPr b="0" lang="en-US" sz="1250" spc="-1" strike="noStrike">
              <a:solidFill>
                <a:srgbClr val="000000"/>
              </a:solidFill>
              <a:latin typeface="Arial"/>
            </a:endParaRPr>
          </a:p>
        </p:txBody>
      </p:sp>
      <p:sp>
        <p:nvSpPr>
          <p:cNvPr id="827" name="Shape 6"/>
          <p:cNvSpPr/>
          <p:nvPr/>
        </p:nvSpPr>
        <p:spPr>
          <a:xfrm>
            <a:off x="548640" y="2724840"/>
            <a:ext cx="8228880" cy="932040"/>
          </a:xfrm>
          <a:prstGeom prst="roundRect">
            <a:avLst>
              <a:gd name="adj" fmla="val 6863"/>
            </a:avLst>
          </a:prstGeom>
          <a:solidFill>
            <a:srgbClr val="eef3f7"/>
          </a:solidFill>
          <a:ln w="12700">
            <a:solidFill>
              <a:srgbClr val="dce5ec"/>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828" name="Text 7"/>
          <p:cNvSpPr/>
          <p:nvPr/>
        </p:nvSpPr>
        <p:spPr>
          <a:xfrm>
            <a:off x="731520" y="2797920"/>
            <a:ext cx="7863120" cy="80388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1450" spc="-1" strike="noStrike">
                <a:solidFill>
                  <a:srgbClr val="1a2733"/>
                </a:solidFill>
                <a:latin typeface="Calibri"/>
                <a:ea typeface="Calibri"/>
              </a:rPr>
              <a:t>Green-H₂ dispatch &amp; techno-economics</a:t>
            </a:r>
            <a:endParaRPr b="0" lang="en-US" sz="1450" spc="-1" strike="noStrike">
              <a:solidFill>
                <a:srgbClr val="000000"/>
              </a:solidFill>
              <a:latin typeface="Arial"/>
            </a:endParaRPr>
          </a:p>
          <a:p>
            <a:pPr defTabSz="914400">
              <a:lnSpc>
                <a:spcPct val="103000"/>
              </a:lnSpc>
              <a:tabLst>
                <a:tab algn="l" pos="0"/>
              </a:tabLst>
            </a:pPr>
            <a:endParaRPr b="0" lang="en-US" sz="1450" spc="-1" strike="noStrike">
              <a:solidFill>
                <a:srgbClr val="000000"/>
              </a:solidFill>
              <a:latin typeface="Arial"/>
            </a:endParaRPr>
          </a:p>
          <a:p>
            <a:pPr defTabSz="914400">
              <a:lnSpc>
                <a:spcPct val="103000"/>
              </a:lnSpc>
              <a:tabLst>
                <a:tab algn="l" pos="0"/>
              </a:tabLst>
            </a:pPr>
            <a:r>
              <a:rPr b="0" lang="en-US" sz="1200" spc="-1" strike="noStrike">
                <a:solidFill>
                  <a:srgbClr val="6b7c8f"/>
                </a:solidFill>
                <a:latin typeface="Calibri"/>
                <a:ea typeface="Calibri"/>
              </a:rPr>
              <a:t>Rich literature on sizing and economics; fewer works close the loop with a real network feasibility check each step.</a:t>
            </a:r>
            <a:endParaRPr b="0" lang="en-US" sz="1200" spc="-1" strike="noStrike">
              <a:solidFill>
                <a:srgbClr val="000000"/>
              </a:solidFill>
              <a:latin typeface="Arial"/>
            </a:endParaRPr>
          </a:p>
        </p:txBody>
      </p:sp>
      <p:sp>
        <p:nvSpPr>
          <p:cNvPr id="829" name="Text 8"/>
          <p:cNvSpPr/>
          <p:nvPr/>
        </p:nvSpPr>
        <p:spPr>
          <a:xfrm>
            <a:off x="8915400" y="2724840"/>
            <a:ext cx="2742480" cy="932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e2643b"/>
                </a:solidFill>
                <a:latin typeface="Calibri"/>
                <a:ea typeface="Calibri"/>
              </a:rPr>
              <a:t>GAP: network-aware</a:t>
            </a:r>
            <a:endParaRPr b="0" lang="en-US" sz="1250" spc="-1" strike="noStrike">
              <a:solidFill>
                <a:srgbClr val="000000"/>
              </a:solidFill>
              <a:latin typeface="Arial"/>
            </a:endParaRPr>
          </a:p>
        </p:txBody>
      </p:sp>
      <p:sp>
        <p:nvSpPr>
          <p:cNvPr id="830" name="Shape 9"/>
          <p:cNvSpPr/>
          <p:nvPr/>
        </p:nvSpPr>
        <p:spPr>
          <a:xfrm>
            <a:off x="548640" y="3803760"/>
            <a:ext cx="8228880" cy="932040"/>
          </a:xfrm>
          <a:prstGeom prst="roundRect">
            <a:avLst>
              <a:gd name="adj" fmla="val 6863"/>
            </a:avLst>
          </a:prstGeom>
          <a:solidFill>
            <a:srgbClr val="eef3f7"/>
          </a:solidFill>
          <a:ln w="12700">
            <a:solidFill>
              <a:srgbClr val="dce5ec"/>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831" name="Text 10"/>
          <p:cNvSpPr/>
          <p:nvPr/>
        </p:nvSpPr>
        <p:spPr>
          <a:xfrm>
            <a:off x="731520" y="3877200"/>
            <a:ext cx="7863120" cy="80388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1450" spc="-1" strike="noStrike">
                <a:solidFill>
                  <a:srgbClr val="1a2733"/>
                </a:solidFill>
                <a:latin typeface="Calibri"/>
                <a:ea typeface="Calibri"/>
              </a:rPr>
              <a:t>Metaheuristics for energy scheduling</a:t>
            </a:r>
            <a:endParaRPr b="0" lang="en-US" sz="1450" spc="-1" strike="noStrike">
              <a:solidFill>
                <a:srgbClr val="000000"/>
              </a:solidFill>
              <a:latin typeface="Arial"/>
            </a:endParaRPr>
          </a:p>
          <a:p>
            <a:pPr defTabSz="914400">
              <a:lnSpc>
                <a:spcPct val="103000"/>
              </a:lnSpc>
              <a:tabLst>
                <a:tab algn="l" pos="0"/>
              </a:tabLst>
            </a:pPr>
            <a:endParaRPr b="0" lang="en-US" sz="1450" spc="-1" strike="noStrike">
              <a:solidFill>
                <a:srgbClr val="000000"/>
              </a:solidFill>
              <a:latin typeface="Arial"/>
            </a:endParaRPr>
          </a:p>
          <a:p>
            <a:pPr defTabSz="914400">
              <a:lnSpc>
                <a:spcPct val="103000"/>
              </a:lnSpc>
              <a:tabLst>
                <a:tab algn="l" pos="0"/>
              </a:tabLst>
            </a:pPr>
            <a:r>
              <a:rPr b="0" lang="en-US" sz="1200" spc="-1" strike="noStrike">
                <a:solidFill>
                  <a:srgbClr val="6b7c8f"/>
                </a:solidFill>
                <a:latin typeface="Calibri"/>
                <a:ea typeface="Calibri"/>
              </a:rPr>
              <a:t>PSO / GA widely used for unit commitment; we apply PSO to a non-linear electrolyzer under a discontinuous tariff.</a:t>
            </a:r>
            <a:endParaRPr b="0" lang="en-US" sz="1200" spc="-1" strike="noStrike">
              <a:solidFill>
                <a:srgbClr val="000000"/>
              </a:solidFill>
              <a:latin typeface="Arial"/>
            </a:endParaRPr>
          </a:p>
        </p:txBody>
      </p:sp>
      <p:sp>
        <p:nvSpPr>
          <p:cNvPr id="832" name="Text 11"/>
          <p:cNvSpPr/>
          <p:nvPr/>
        </p:nvSpPr>
        <p:spPr>
          <a:xfrm>
            <a:off x="8915400" y="3803760"/>
            <a:ext cx="2742480" cy="932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2a9d8f"/>
                </a:solidFill>
                <a:latin typeface="Calibri"/>
                <a:ea typeface="Calibri"/>
              </a:rPr>
              <a:t>USED: PSO engine</a:t>
            </a:r>
            <a:endParaRPr b="0" lang="en-US" sz="1250" spc="-1" strike="noStrike">
              <a:solidFill>
                <a:srgbClr val="000000"/>
              </a:solidFill>
              <a:latin typeface="Arial"/>
            </a:endParaRPr>
          </a:p>
        </p:txBody>
      </p:sp>
      <p:sp>
        <p:nvSpPr>
          <p:cNvPr id="833" name="Shape 12"/>
          <p:cNvSpPr/>
          <p:nvPr/>
        </p:nvSpPr>
        <p:spPr>
          <a:xfrm>
            <a:off x="548640" y="4883040"/>
            <a:ext cx="8228880" cy="932040"/>
          </a:xfrm>
          <a:prstGeom prst="roundRect">
            <a:avLst>
              <a:gd name="adj" fmla="val 6863"/>
            </a:avLst>
          </a:prstGeom>
          <a:solidFill>
            <a:srgbClr val="eef3f7"/>
          </a:solidFill>
          <a:ln w="12700">
            <a:solidFill>
              <a:srgbClr val="dce5ec"/>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834" name="Text 13"/>
          <p:cNvSpPr/>
          <p:nvPr/>
        </p:nvSpPr>
        <p:spPr>
          <a:xfrm>
            <a:off x="731520" y="4956120"/>
            <a:ext cx="7863120" cy="80388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1450" spc="-1" strike="noStrike">
                <a:solidFill>
                  <a:srgbClr val="1a2733"/>
                </a:solidFill>
                <a:latin typeface="Calibri"/>
                <a:ea typeface="Calibri"/>
              </a:rPr>
              <a:t>MPC for supervisory energy control</a:t>
            </a:r>
            <a:endParaRPr b="0" lang="en-US" sz="1450" spc="-1" strike="noStrike">
              <a:solidFill>
                <a:srgbClr val="000000"/>
              </a:solidFill>
              <a:latin typeface="Arial"/>
            </a:endParaRPr>
          </a:p>
          <a:p>
            <a:pPr defTabSz="914400">
              <a:lnSpc>
                <a:spcPct val="103000"/>
              </a:lnSpc>
              <a:tabLst>
                <a:tab algn="l" pos="0"/>
              </a:tabLst>
            </a:pPr>
            <a:endParaRPr b="0" lang="en-US" sz="1450" spc="-1" strike="noStrike">
              <a:solidFill>
                <a:srgbClr val="000000"/>
              </a:solidFill>
              <a:latin typeface="Arial"/>
            </a:endParaRPr>
          </a:p>
          <a:p>
            <a:pPr defTabSz="914400">
              <a:lnSpc>
                <a:spcPct val="103000"/>
              </a:lnSpc>
              <a:tabLst>
                <a:tab algn="l" pos="0"/>
              </a:tabLst>
            </a:pPr>
            <a:r>
              <a:rPr b="0" lang="en-US" sz="1200" spc="-1" strike="noStrike">
                <a:solidFill>
                  <a:srgbClr val="6b7c8f"/>
                </a:solidFill>
                <a:latin typeface="Calibri"/>
                <a:ea typeface="Calibri"/>
              </a:rPr>
              <a:t>Established in microgrids; we apply receding-horizon MPC to electrolyzer dispatch with a measured weather disturbance.</a:t>
            </a:r>
            <a:endParaRPr b="0" lang="en-US" sz="1200" spc="-1" strike="noStrike">
              <a:solidFill>
                <a:srgbClr val="000000"/>
              </a:solidFill>
              <a:latin typeface="Arial"/>
            </a:endParaRPr>
          </a:p>
        </p:txBody>
      </p:sp>
      <p:sp>
        <p:nvSpPr>
          <p:cNvPr id="835" name="Text 14"/>
          <p:cNvSpPr/>
          <p:nvPr/>
        </p:nvSpPr>
        <p:spPr>
          <a:xfrm>
            <a:off x="8915400" y="4883040"/>
            <a:ext cx="2742480" cy="932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2a9d8f"/>
                </a:solidFill>
                <a:latin typeface="Calibri"/>
                <a:ea typeface="Calibri"/>
              </a:rPr>
              <a:t>OUR FRAMING</a:t>
            </a:r>
            <a:endParaRPr b="0" lang="en-US" sz="1250" spc="-1" strike="noStrike">
              <a:solidFill>
                <a:srgbClr val="000000"/>
              </a:solidFill>
              <a:latin typeface="Arial"/>
            </a:endParaRPr>
          </a:p>
        </p:txBody>
      </p:sp>
      <p:sp>
        <p:nvSpPr>
          <p:cNvPr id="836" name="Text 15"/>
          <p:cNvSpPr/>
          <p:nvPr/>
        </p:nvSpPr>
        <p:spPr>
          <a:xfrm>
            <a:off x="548640" y="6035040"/>
            <a:ext cx="1106352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300" spc="-1" strike="noStrike">
                <a:solidFill>
                  <a:srgbClr val="1c7293"/>
                </a:solidFill>
                <a:latin typeface="Calibri"/>
                <a:ea typeface="Calibri"/>
              </a:rPr>
              <a:t>Our gap, in one line: an automated, ETAP-validated dispatch optimiser with a feedback (MPC) controller and a live demonstration — on real data.</a:t>
            </a:r>
            <a:endParaRPr b="0" lang="en-US"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4</TotalTime>
  <Application>LibreOffice/24.2.7.2$Linux_X86_64 LibreOffice_project/420$Build-2</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2026-07-04T06:54:01Z</dcterms:created>
  <dc:creator>M2 Automation — thesis defense</dc:creator>
  <dc:description/>
  <dc:language>en-US</dc:language>
  <cp:lastModifiedBy/>
  <dcterms:modified xsi:type="dcterms:W3CDTF">2026-07-04T09:43:18Z</dcterms:modified>
  <cp:revision>3</cp:revision>
  <dc:subject>PptxGenJS Presentation</dc:subject>
  <dc:title>Automated Supervisory Dispatch Control of a Solar–Grid–Electrolyzer Hydrogen Plant</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43</vt:i4>
  </property>
  <property fmtid="{D5CDD505-2E9C-101B-9397-08002B2CF9AE}" pid="3" name="PresentationFormat">
    <vt:lpwstr>On-screen Show (16:9)</vt:lpwstr>
  </property>
  <property fmtid="{D5CDD505-2E9C-101B-9397-08002B2CF9AE}" pid="4" name="Slides">
    <vt:i4>43</vt:i4>
  </property>
</Properties>
</file>
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I built an automatic supervisory controller that decides how to dispatch solar and grid power to the electrolyzer under changing weather and prices, validated against ETAP and run on real data. Frame it as a CONTROL problem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word 'controller'. The inputs (weather, prices) are disturbances and the objective; the electrolyzer setpoint is the control action; the network limits are hard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ETAP validation is the credibility anchor — pandapower reproduces ETAP exactly, so the automatable engine is trustworthy. The figure is the validated single-line load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control-engineering framing. Benchmarks: perfect-foresight (the bound) and a reactive rule-based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PSO is the engine the MPC calls at every re-plan. It is gradient-free, so it handles the non-linear electrolyzer curve and the discontinuous (3-rate) tariff directly, with no derivatives. The convergence curve shows the best plan dropping from a random start (~30,000 DA, demand unmet) down to the least-cost feasible plan (~5,565 DA) — and all three random seeds land on the same value, so the optimizer is reproducible, which matters for a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told it to avoid the peak — it derives that from the price signal. Three real 2023 days: clear summer, cloudy summer, clear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quantifies the contribution: the controller is measurably, substantially cheaper than how a plant would run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control-engineering result: feedback control (MPC) tracks the optimal bound and far exceeds the reactive baseline, even with imperfect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battery result is deliberately honest: technically it works, economically it is not justified at the Algerian tariff spread. Present it as a feasibility insight, not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live if there's a laptop: open app/plant_3d/index.html, drag the slider across the day, point out the peak shutdown and the voltages staying green. It mirrors how ETAP shows load flow, but animated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reaffirming the contribution: a working, validated, automated supervisory controller — solid control-engineering work — with real data and a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p:bgPr>
    </p:bg>
    <p:spTree>
      <p:nvGrpSpPr>
        <p:cNvPr id="1" name=""/>
        <p:cNvGrpSpPr/>
        <p:nvPr/>
      </p:nvGrpSpPr>
      <p:grpSpPr>
        <a:xfrm>
          <a:off x="0" y="0"/>
          <a:ext cx="0" cy="0"/>
          <a:chOff x="0" y="0"/>
          <a:chExt cx="0" cy="0"/>
        </a:xfrm>
      </p:grpSpPr>
      <p:sp>
        <p:nvSpPr>
          <p:cNvPr id="2" name="Shape 0"/>
          <p:cNvSpPr/>
          <p:nvPr/>
        </p:nvSpPr>
        <p:spPr>
          <a:xfrm>
            <a:off x="9692640" y="-2011680"/>
            <a:ext cx="5029200" cy="5029200"/>
          </a:xfrm>
          <a:prstGeom prst="ellipse">
            <a:avLst/>
          </a:prstGeom>
          <a:solidFill>
            <a:srgbClr val="16344B"/>
          </a:solidFill>
          <a:ln/>
        </p:spPr>
      </p:sp>
      <p:sp>
        <p:nvSpPr>
          <p:cNvPr id="3" name="Shape 1"/>
          <p:cNvSpPr/>
          <p:nvPr/>
        </p:nvSpPr>
        <p:spPr>
          <a:xfrm>
            <a:off x="10698480" y="4206240"/>
            <a:ext cx="3840480" cy="3840480"/>
          </a:xfrm>
          <a:prstGeom prst="ellipse">
            <a:avLst/>
          </a:prstGeom>
          <a:solidFill>
            <a:srgbClr val="12283C"/>
          </a:solidFill>
          <a:ln/>
        </p:spPr>
      </p:sp>
      <p:sp>
        <p:nvSpPr>
          <p:cNvPr id="4" name="Text 2"/>
          <p:cNvSpPr/>
          <p:nvPr/>
        </p:nvSpPr>
        <p:spPr>
          <a:xfrm>
            <a:off x="640080" y="822960"/>
            <a:ext cx="10058400" cy="365760"/>
          </a:xfrm>
          <a:prstGeom prst="rect">
            <a:avLst/>
          </a:prstGeom>
          <a:noFill/>
          <a:ln/>
        </p:spPr>
        <p:txBody>
          <a:bodyPr wrap="square" lIns="0" tIns="0" rIns="0" bIns="0" rtlCol="0" anchor="ctr"/>
          <a:lstStyle/>
          <a:p>
            <a:pPr indent="0" marL="0">
              <a:buNone/>
            </a:pPr>
            <a:r>
              <a:rPr lang="en-US" sz="1300" b="1" spc="300" kern="0" dirty="0">
                <a:solidFill>
                  <a:srgbClr val="F4A623"/>
                </a:solidFill>
                <a:latin typeface="Calibri" pitchFamily="34" charset="0"/>
                <a:ea typeface="Calibri" pitchFamily="34" charset="-122"/>
                <a:cs typeface="Calibri" pitchFamily="34" charset="-120"/>
              </a:rPr>
              <a:t>M2 AUTOMATION · UNIVERSITY OF BOUMERDÈS</a:t>
            </a:r>
            <a:endParaRPr lang="en-US" sz="1300" dirty="0"/>
          </a:p>
        </p:txBody>
      </p:sp>
      <p:sp>
        <p:nvSpPr>
          <p:cNvPr id="5" name="Text 3"/>
          <p:cNvSpPr/>
          <p:nvPr/>
        </p:nvSpPr>
        <p:spPr>
          <a:xfrm>
            <a:off x="640080" y="1554480"/>
            <a:ext cx="10607040" cy="18288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Automated Supervisory Dispatch Control of a</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Solar–Grid–Electrolyzer Hydrogen Plant</a:t>
            </a:r>
            <a:endParaRPr lang="en-US" sz="3800" dirty="0"/>
          </a:p>
        </p:txBody>
      </p:sp>
      <p:sp>
        <p:nvSpPr>
          <p:cNvPr id="6" name="Text 4"/>
          <p:cNvSpPr/>
          <p:nvPr/>
        </p:nvSpPr>
        <p:spPr>
          <a:xfrm>
            <a:off x="640080" y="3566160"/>
            <a:ext cx="9875520" cy="822960"/>
          </a:xfrm>
          <a:prstGeom prst="rect">
            <a:avLst/>
          </a:prstGeom>
          <a:noFill/>
          <a:ln/>
        </p:spPr>
        <p:txBody>
          <a:bodyPr wrap="square" lIns="0" tIns="0" rIns="0" bIns="0" rtlCol="0" anchor="ctr"/>
          <a:lstStyle/>
          <a:p>
            <a:pPr indent="0" marL="0">
              <a:buNone/>
            </a:pPr>
            <a:r>
              <a:rPr lang="en-US" sz="1600" dirty="0">
                <a:solidFill>
                  <a:srgbClr val="AEC2D4"/>
                </a:solidFill>
                <a:latin typeface="Calibri" pitchFamily="34" charset="0"/>
                <a:ea typeface="Calibri" pitchFamily="34" charset="-122"/>
                <a:cs typeface="Calibri" pitchFamily="34" charset="-120"/>
              </a:rPr>
              <a:t>An optimization-based (MPC) controller, validated against an ETAP digital twin and driven by real Ghardaïa weather and the Algerian time-of-use tariff.</a:t>
            </a:r>
            <a:endParaRPr lang="en-US" sz="1600" dirty="0"/>
          </a:p>
        </p:txBody>
      </p:sp>
      <p:sp>
        <p:nvSpPr>
          <p:cNvPr id="7" name="Text 5"/>
          <p:cNvSpPr/>
          <p:nvPr/>
        </p:nvSpPr>
        <p:spPr>
          <a:xfrm>
            <a:off x="640080" y="5120640"/>
            <a:ext cx="822960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Progress update for supervisor</a:t>
            </a:r>
            <a:endParaRPr lang="en-US" sz="1500" dirty="0"/>
          </a:p>
          <a:p>
            <a:pPr indent="0" marL="0">
              <a:buNone/>
            </a:pPr>
            <a:r>
              <a:rPr lang="en-US" sz="1300" dirty="0">
                <a:solidFill>
                  <a:srgbClr val="8EA6BC"/>
                </a:solidFill>
                <a:latin typeface="Calibri" pitchFamily="34" charset="0"/>
                <a:ea typeface="Calibri" pitchFamily="34" charset="-122"/>
                <a:cs typeface="Calibri" pitchFamily="34" charset="-120"/>
              </a:rPr>
              <a:t>youcefboubidi  ·  June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An automatic controller for power dispatch</a:t>
            </a:r>
            <a:endParaRPr lang="en-US" sz="3000" dirty="0"/>
          </a:p>
        </p:txBody>
      </p:sp>
      <p:sp>
        <p:nvSpPr>
          <p:cNvPr id="4" name="Text 2"/>
          <p:cNvSpPr/>
          <p:nvPr/>
        </p:nvSpPr>
        <p:spPr>
          <a:xfrm>
            <a:off x="548640" y="1600200"/>
            <a:ext cx="603504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Plant: a PEM electrolyzer fed by a solar array and the utility grid, through a 2 MVA / 11–0.415 kV substation.</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Decision, every step: how much power to draw, and from where — under variable irradiance, temperature and electricity price.</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Goal: meet a hydrogen demand at least cost while keeping the network within safe limits (voltage, transformer loading).</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This is a supervisory / optimal-control problem — not a one-off optimization study.</a:t>
            </a:r>
            <a:endParaRPr lang="en-US" sz="1500" dirty="0"/>
          </a:p>
        </p:txBody>
      </p:sp>
      <p:sp>
        <p:nvSpPr>
          <p:cNvPr id="5" name="Shape 3"/>
          <p:cNvSpPr/>
          <p:nvPr/>
        </p:nvSpPr>
        <p:spPr>
          <a:xfrm>
            <a:off x="7315200" y="1828800"/>
            <a:ext cx="4206240" cy="868680"/>
          </a:xfrm>
          <a:prstGeom prst="roundRect">
            <a:avLst>
              <a:gd name="adj" fmla="val 10526"/>
            </a:avLst>
          </a:prstGeom>
          <a:solidFill>
            <a:srgbClr val="EEF3F7"/>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6" name="Text 4"/>
          <p:cNvSpPr/>
          <p:nvPr/>
        </p:nvSpPr>
        <p:spPr>
          <a:xfrm>
            <a:off x="7315200" y="1828800"/>
            <a:ext cx="4206240" cy="868680"/>
          </a:xfrm>
          <a:prstGeom prst="rect">
            <a:avLst/>
          </a:prstGeom>
          <a:noFill/>
          <a:ln/>
        </p:spPr>
        <p:txBody>
          <a:bodyPr wrap="square" lIns="0" tIns="0" rIns="0" bIns="0" rtlCol="0" anchor="ctr"/>
          <a:lstStyle/>
          <a:p>
            <a:pPr algn="ctr" indent="0" marL="0">
              <a:buNone/>
            </a:pPr>
            <a:r>
              <a:rPr lang="en-US" sz="1700" b="1" dirty="0">
                <a:solidFill>
                  <a:srgbClr val="1A2733"/>
                </a:solidFill>
                <a:latin typeface="Calibri" pitchFamily="34" charset="0"/>
                <a:ea typeface="Calibri" pitchFamily="34" charset="-122"/>
                <a:cs typeface="Calibri" pitchFamily="34" charset="-120"/>
              </a:rPr>
              <a:t>Weather + price</a:t>
            </a:r>
            <a:endParaRPr lang="en-US" sz="1700" dirty="0"/>
          </a:p>
        </p:txBody>
      </p:sp>
      <p:sp>
        <p:nvSpPr>
          <p:cNvPr id="7" name="Shape 5"/>
          <p:cNvSpPr/>
          <p:nvPr/>
        </p:nvSpPr>
        <p:spPr>
          <a:xfrm>
            <a:off x="9418320" y="2697480"/>
            <a:ext cx="0" cy="365760"/>
          </a:xfrm>
          <a:prstGeom prst="line">
            <a:avLst/>
          </a:prstGeom>
          <a:noFill/>
          <a:ln w="25400">
            <a:solidFill>
              <a:srgbClr val="6B7C8F"/>
            </a:solidFill>
            <a:prstDash val="solid"/>
            <a:tailEnd type="triangle"/>
          </a:ln>
        </p:spPr>
      </p:sp>
      <p:sp>
        <p:nvSpPr>
          <p:cNvPr id="8" name="Shape 6"/>
          <p:cNvSpPr/>
          <p:nvPr/>
        </p:nvSpPr>
        <p:spPr>
          <a:xfrm>
            <a:off x="7315200" y="3063240"/>
            <a:ext cx="4206240" cy="868680"/>
          </a:xfrm>
          <a:prstGeom prst="roundRect">
            <a:avLst>
              <a:gd name="adj" fmla="val 10526"/>
            </a:avLst>
          </a:prstGeom>
          <a:solidFill>
            <a:srgbClr val="0E2233"/>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9" name="Text 7"/>
          <p:cNvSpPr/>
          <p:nvPr/>
        </p:nvSpPr>
        <p:spPr>
          <a:xfrm>
            <a:off x="7315200" y="3063240"/>
            <a:ext cx="420624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Controller (MPC)</a:t>
            </a:r>
            <a:endParaRPr lang="en-US" sz="1700" dirty="0"/>
          </a:p>
        </p:txBody>
      </p:sp>
      <p:sp>
        <p:nvSpPr>
          <p:cNvPr id="10" name="Shape 8"/>
          <p:cNvSpPr/>
          <p:nvPr/>
        </p:nvSpPr>
        <p:spPr>
          <a:xfrm>
            <a:off x="9418320" y="3931920"/>
            <a:ext cx="0" cy="365760"/>
          </a:xfrm>
          <a:prstGeom prst="line">
            <a:avLst/>
          </a:prstGeom>
          <a:noFill/>
          <a:ln w="25400">
            <a:solidFill>
              <a:srgbClr val="6B7C8F"/>
            </a:solidFill>
            <a:prstDash val="solid"/>
            <a:tailEnd type="triangle"/>
          </a:ln>
        </p:spPr>
      </p:sp>
      <p:sp>
        <p:nvSpPr>
          <p:cNvPr id="11" name="Shape 9"/>
          <p:cNvSpPr/>
          <p:nvPr/>
        </p:nvSpPr>
        <p:spPr>
          <a:xfrm>
            <a:off x="7315200" y="4297680"/>
            <a:ext cx="4206240" cy="868680"/>
          </a:xfrm>
          <a:prstGeom prst="roundRect">
            <a:avLst>
              <a:gd name="adj" fmla="val 10526"/>
            </a:avLst>
          </a:prstGeom>
          <a:solidFill>
            <a:srgbClr val="EEF3F7"/>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12" name="Text 10"/>
          <p:cNvSpPr/>
          <p:nvPr/>
        </p:nvSpPr>
        <p:spPr>
          <a:xfrm>
            <a:off x="7315200" y="4297680"/>
            <a:ext cx="4206240" cy="868680"/>
          </a:xfrm>
          <a:prstGeom prst="rect">
            <a:avLst/>
          </a:prstGeom>
          <a:noFill/>
          <a:ln/>
        </p:spPr>
        <p:txBody>
          <a:bodyPr wrap="square" lIns="0" tIns="0" rIns="0" bIns="0" rtlCol="0" anchor="ctr"/>
          <a:lstStyle/>
          <a:p>
            <a:pPr algn="ctr" indent="0" marL="0">
              <a:buNone/>
            </a:pPr>
            <a:r>
              <a:rPr lang="en-US" sz="1700" b="1" dirty="0">
                <a:solidFill>
                  <a:srgbClr val="1A2733"/>
                </a:solidFill>
                <a:latin typeface="Calibri" pitchFamily="34" charset="0"/>
                <a:ea typeface="Calibri" pitchFamily="34" charset="-122"/>
                <a:cs typeface="Calibri" pitchFamily="34" charset="-120"/>
              </a:rPr>
              <a:t>Electrolyzer → H₂</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METHOD — A VALIDATED DIGITAL TWIN ON REAL DATA</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ETAP-validated model, real Ghardaïa inputs</a:t>
            </a:r>
            <a:endParaRPr lang="en-US" sz="3000" dirty="0"/>
          </a:p>
        </p:txBody>
      </p:sp>
      <p:pic>
        <p:nvPicPr>
          <p:cNvPr id="4" name="Image 0" descr="D:/Projects/hydrogen-dispatch/results/figures/net_sunny.png">    </p:cNvPr>
          <p:cNvPicPr>
            <a:picLocks noChangeAspect="1"/>
          </p:cNvPicPr>
          <p:nvPr/>
        </p:nvPicPr>
        <p:blipFill>
          <a:blip r:embed="rId1"/>
          <a:srcRect l="0" r="0" t="0" b="0"/>
          <a:stretch/>
        </p:blipFill>
        <p:spPr>
          <a:xfrm>
            <a:off x="6492240" y="1554480"/>
            <a:ext cx="5212080" cy="4023360"/>
          </a:xfrm>
          <a:prstGeom prst="rect">
            <a:avLst/>
          </a:prstGeom>
        </p:spPr>
      </p:pic>
      <p:sp>
        <p:nvSpPr>
          <p:cNvPr id="5" name="Text 2"/>
          <p:cNvSpPr/>
          <p:nvPr/>
        </p:nvSpPr>
        <p:spPr>
          <a:xfrm>
            <a:off x="548640" y="1600200"/>
            <a:ext cx="566928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Electrical network rebuilt in pandapower and validated against the professional ETAP load flow — 24/24 checks pass.</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Solar: real CAMS satellite irradiance + ERA5 temperature → NREL SAM (PySAM), 15-min, full-year 2023.</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Prices: the real Algerian CREG time-of-use tariff (1.21 / 2.16 / 8.11 DA/kWh, night / day / 17–21 h peak).</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Site: Ghardaïa (32.59° N, 3.73° E). Every result rests on measured data, not assumptions.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300" kern="0" dirty="0">
                <a:solidFill>
                  <a:srgbClr val="F4A623"/>
                </a:solidFill>
                <a:latin typeface="Calibri" pitchFamily="34" charset="0"/>
                <a:ea typeface="Calibri" pitchFamily="34" charset="-122"/>
                <a:cs typeface="Calibri" pitchFamily="34" charset="-120"/>
              </a:rPr>
              <a:t>THE CONTROL CORE</a:t>
            </a:r>
            <a:endParaRPr lang="en-US" sz="12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Receding-horizon (MPC) supervisory controller</a:t>
            </a:r>
            <a:endParaRPr lang="en-US" sz="3000" dirty="0"/>
          </a:p>
        </p:txBody>
      </p:sp>
      <p:sp>
        <p:nvSpPr>
          <p:cNvPr id="4" name="Shape 2"/>
          <p:cNvSpPr/>
          <p:nvPr/>
        </p:nvSpPr>
        <p:spPr>
          <a:xfrm>
            <a:off x="548640" y="1783080"/>
            <a:ext cx="6126480" cy="713232"/>
          </a:xfrm>
          <a:prstGeom prst="roundRect">
            <a:avLst>
              <a:gd name="adj" fmla="val 8974"/>
            </a:avLst>
          </a:prstGeom>
          <a:solidFill>
            <a:srgbClr val="16344B"/>
          </a:solidFill>
          <a:ln w="12700">
            <a:solidFill>
              <a:srgbClr val="27516E"/>
            </a:solidFill>
            <a:prstDash val="solid"/>
          </a:ln>
        </p:spPr>
      </p:sp>
      <p:sp>
        <p:nvSpPr>
          <p:cNvPr id="5" name="Text 3"/>
          <p:cNvSpPr/>
          <p:nvPr/>
        </p:nvSpPr>
        <p:spPr>
          <a:xfrm>
            <a:off x="731520" y="1783080"/>
            <a:ext cx="2011680" cy="713232"/>
          </a:xfrm>
          <a:prstGeom prst="rect">
            <a:avLst/>
          </a:prstGeom>
          <a:noFill/>
          <a:ln/>
        </p:spPr>
        <p:txBody>
          <a:bodyPr wrap="square" lIns="0" tIns="0" rIns="0" bIns="0" rtlCol="0" anchor="ctr"/>
          <a:lstStyle/>
          <a:p>
            <a:pPr indent="0" marL="0">
              <a:buNone/>
            </a:pPr>
            <a:r>
              <a:rPr lang="en-US" sz="1500" b="1" dirty="0">
                <a:solidFill>
                  <a:srgbClr val="F4A623"/>
                </a:solidFill>
                <a:latin typeface="Calibri" pitchFamily="34" charset="0"/>
                <a:ea typeface="Calibri" pitchFamily="34" charset="-122"/>
                <a:cs typeface="Calibri" pitchFamily="34" charset="-120"/>
              </a:rPr>
              <a:t>State</a:t>
            </a:r>
            <a:endParaRPr lang="en-US" sz="1500" dirty="0"/>
          </a:p>
        </p:txBody>
      </p:sp>
      <p:sp>
        <p:nvSpPr>
          <p:cNvPr id="6" name="Text 4"/>
          <p:cNvSpPr/>
          <p:nvPr/>
        </p:nvSpPr>
        <p:spPr>
          <a:xfrm>
            <a:off x="2743200" y="1783080"/>
            <a:ext cx="3840480" cy="713232"/>
          </a:xfrm>
          <a:prstGeom prst="rect">
            <a:avLst/>
          </a:prstGeom>
          <a:noFill/>
          <a:ln/>
        </p:spPr>
        <p:txBody>
          <a:bodyPr wrap="square" lIns="0" tIns="0" rIns="0" bIns="0" rtlCol="0" anchor="ctr"/>
          <a:lstStyle/>
          <a:p>
            <a:pPr indent="0" marL="0">
              <a:buNone/>
            </a:pPr>
            <a:r>
              <a:rPr lang="en-US" sz="1400" dirty="0">
                <a:solidFill>
                  <a:srgbClr val="D6E3EF"/>
                </a:solidFill>
                <a:latin typeface="Calibri" pitchFamily="34" charset="0"/>
                <a:ea typeface="Calibri" pitchFamily="34" charset="-122"/>
                <a:cs typeface="Calibri" pitchFamily="34" charset="-120"/>
              </a:rPr>
              <a:t>time, battery charge, cumulative H₂</a:t>
            </a:r>
            <a:endParaRPr lang="en-US" sz="1400" dirty="0"/>
          </a:p>
        </p:txBody>
      </p:sp>
      <p:sp>
        <p:nvSpPr>
          <p:cNvPr id="7" name="Shape 5"/>
          <p:cNvSpPr/>
          <p:nvPr/>
        </p:nvSpPr>
        <p:spPr>
          <a:xfrm>
            <a:off x="548640" y="2624328"/>
            <a:ext cx="6126480" cy="713232"/>
          </a:xfrm>
          <a:prstGeom prst="roundRect">
            <a:avLst>
              <a:gd name="adj" fmla="val 8974"/>
            </a:avLst>
          </a:prstGeom>
          <a:solidFill>
            <a:srgbClr val="16344B"/>
          </a:solidFill>
          <a:ln w="12700">
            <a:solidFill>
              <a:srgbClr val="27516E"/>
            </a:solidFill>
            <a:prstDash val="solid"/>
          </a:ln>
        </p:spPr>
      </p:sp>
      <p:sp>
        <p:nvSpPr>
          <p:cNvPr id="8" name="Text 6"/>
          <p:cNvSpPr/>
          <p:nvPr/>
        </p:nvSpPr>
        <p:spPr>
          <a:xfrm>
            <a:off x="731520" y="2624328"/>
            <a:ext cx="2011680" cy="713232"/>
          </a:xfrm>
          <a:prstGeom prst="rect">
            <a:avLst/>
          </a:prstGeom>
          <a:noFill/>
          <a:ln/>
        </p:spPr>
        <p:txBody>
          <a:bodyPr wrap="square" lIns="0" tIns="0" rIns="0" bIns="0" rtlCol="0" anchor="ctr"/>
          <a:lstStyle/>
          <a:p>
            <a:pPr indent="0" marL="0">
              <a:buNone/>
            </a:pPr>
            <a:r>
              <a:rPr lang="en-US" sz="1500" b="1" dirty="0">
                <a:solidFill>
                  <a:srgbClr val="F4A623"/>
                </a:solidFill>
                <a:latin typeface="Calibri" pitchFamily="34" charset="0"/>
                <a:ea typeface="Calibri" pitchFamily="34" charset="-122"/>
                <a:cs typeface="Calibri" pitchFamily="34" charset="-120"/>
              </a:rPr>
              <a:t>Control input</a:t>
            </a:r>
            <a:endParaRPr lang="en-US" sz="1500" dirty="0"/>
          </a:p>
        </p:txBody>
      </p:sp>
      <p:sp>
        <p:nvSpPr>
          <p:cNvPr id="9" name="Text 7"/>
          <p:cNvSpPr/>
          <p:nvPr/>
        </p:nvSpPr>
        <p:spPr>
          <a:xfrm>
            <a:off x="2743200" y="2624328"/>
            <a:ext cx="3840480" cy="713232"/>
          </a:xfrm>
          <a:prstGeom prst="rect">
            <a:avLst/>
          </a:prstGeom>
          <a:noFill/>
          <a:ln/>
        </p:spPr>
        <p:txBody>
          <a:bodyPr wrap="square" lIns="0" tIns="0" rIns="0" bIns="0" rtlCol="0" anchor="ctr"/>
          <a:lstStyle/>
          <a:p>
            <a:pPr indent="0" marL="0">
              <a:buNone/>
            </a:pPr>
            <a:r>
              <a:rPr lang="en-US" sz="1400" dirty="0">
                <a:solidFill>
                  <a:srgbClr val="D6E3EF"/>
                </a:solidFill>
                <a:latin typeface="Calibri" pitchFamily="34" charset="0"/>
                <a:ea typeface="Calibri" pitchFamily="34" charset="-122"/>
                <a:cs typeface="Calibri" pitchFamily="34" charset="-120"/>
              </a:rPr>
              <a:t>electrolyzer setpoint (+ battery power)</a:t>
            </a:r>
            <a:endParaRPr lang="en-US" sz="1400" dirty="0"/>
          </a:p>
        </p:txBody>
      </p:sp>
      <p:sp>
        <p:nvSpPr>
          <p:cNvPr id="10" name="Shape 8"/>
          <p:cNvSpPr/>
          <p:nvPr/>
        </p:nvSpPr>
        <p:spPr>
          <a:xfrm>
            <a:off x="548640" y="3465576"/>
            <a:ext cx="6126480" cy="713232"/>
          </a:xfrm>
          <a:prstGeom prst="roundRect">
            <a:avLst>
              <a:gd name="adj" fmla="val 8974"/>
            </a:avLst>
          </a:prstGeom>
          <a:solidFill>
            <a:srgbClr val="16344B"/>
          </a:solidFill>
          <a:ln w="12700">
            <a:solidFill>
              <a:srgbClr val="27516E"/>
            </a:solidFill>
            <a:prstDash val="solid"/>
          </a:ln>
        </p:spPr>
      </p:sp>
      <p:sp>
        <p:nvSpPr>
          <p:cNvPr id="11" name="Text 9"/>
          <p:cNvSpPr/>
          <p:nvPr/>
        </p:nvSpPr>
        <p:spPr>
          <a:xfrm>
            <a:off x="731520" y="3465576"/>
            <a:ext cx="2011680" cy="713232"/>
          </a:xfrm>
          <a:prstGeom prst="rect">
            <a:avLst/>
          </a:prstGeom>
          <a:noFill/>
          <a:ln/>
        </p:spPr>
        <p:txBody>
          <a:bodyPr wrap="square" lIns="0" tIns="0" rIns="0" bIns="0" rtlCol="0" anchor="ctr"/>
          <a:lstStyle/>
          <a:p>
            <a:pPr indent="0" marL="0">
              <a:buNone/>
            </a:pPr>
            <a:r>
              <a:rPr lang="en-US" sz="1500" b="1" dirty="0">
                <a:solidFill>
                  <a:srgbClr val="F4A623"/>
                </a:solidFill>
                <a:latin typeface="Calibri" pitchFamily="34" charset="0"/>
                <a:ea typeface="Calibri" pitchFamily="34" charset="-122"/>
                <a:cs typeface="Calibri" pitchFamily="34" charset="-120"/>
              </a:rPr>
              <a:t>Disturbance</a:t>
            </a:r>
            <a:endParaRPr lang="en-US" sz="1500" dirty="0"/>
          </a:p>
        </p:txBody>
      </p:sp>
      <p:sp>
        <p:nvSpPr>
          <p:cNvPr id="12" name="Text 10"/>
          <p:cNvSpPr/>
          <p:nvPr/>
        </p:nvSpPr>
        <p:spPr>
          <a:xfrm>
            <a:off x="2743200" y="3465576"/>
            <a:ext cx="3840480" cy="713232"/>
          </a:xfrm>
          <a:prstGeom prst="rect">
            <a:avLst/>
          </a:prstGeom>
          <a:noFill/>
          <a:ln/>
        </p:spPr>
        <p:txBody>
          <a:bodyPr wrap="square" lIns="0" tIns="0" rIns="0" bIns="0" rtlCol="0" anchor="ctr"/>
          <a:lstStyle/>
          <a:p>
            <a:pPr indent="0" marL="0">
              <a:buNone/>
            </a:pPr>
            <a:r>
              <a:rPr lang="en-US" sz="1400" dirty="0">
                <a:solidFill>
                  <a:srgbClr val="D6E3EF"/>
                </a:solidFill>
                <a:latin typeface="Calibri" pitchFamily="34" charset="0"/>
                <a:ea typeface="Calibri" pitchFamily="34" charset="-122"/>
                <a:cs typeface="Calibri" pitchFamily="34" charset="-120"/>
              </a:rPr>
              <a:t>PV (weather) — measured, forecast ahead</a:t>
            </a:r>
            <a:endParaRPr lang="en-US" sz="1400" dirty="0"/>
          </a:p>
        </p:txBody>
      </p:sp>
      <p:sp>
        <p:nvSpPr>
          <p:cNvPr id="13" name="Shape 11"/>
          <p:cNvSpPr/>
          <p:nvPr/>
        </p:nvSpPr>
        <p:spPr>
          <a:xfrm>
            <a:off x="548640" y="4306824"/>
            <a:ext cx="6126480" cy="713232"/>
          </a:xfrm>
          <a:prstGeom prst="roundRect">
            <a:avLst>
              <a:gd name="adj" fmla="val 8974"/>
            </a:avLst>
          </a:prstGeom>
          <a:solidFill>
            <a:srgbClr val="16344B"/>
          </a:solidFill>
          <a:ln w="12700">
            <a:solidFill>
              <a:srgbClr val="27516E"/>
            </a:solidFill>
            <a:prstDash val="solid"/>
          </a:ln>
        </p:spPr>
      </p:sp>
      <p:sp>
        <p:nvSpPr>
          <p:cNvPr id="14" name="Text 12"/>
          <p:cNvSpPr/>
          <p:nvPr/>
        </p:nvSpPr>
        <p:spPr>
          <a:xfrm>
            <a:off x="731520" y="4306824"/>
            <a:ext cx="2011680" cy="713232"/>
          </a:xfrm>
          <a:prstGeom prst="rect">
            <a:avLst/>
          </a:prstGeom>
          <a:noFill/>
          <a:ln/>
        </p:spPr>
        <p:txBody>
          <a:bodyPr wrap="square" lIns="0" tIns="0" rIns="0" bIns="0" rtlCol="0" anchor="ctr"/>
          <a:lstStyle/>
          <a:p>
            <a:pPr indent="0" marL="0">
              <a:buNone/>
            </a:pPr>
            <a:r>
              <a:rPr lang="en-US" sz="1500" b="1" dirty="0">
                <a:solidFill>
                  <a:srgbClr val="F4A623"/>
                </a:solidFill>
                <a:latin typeface="Calibri" pitchFamily="34" charset="0"/>
                <a:ea typeface="Calibri" pitchFamily="34" charset="-122"/>
                <a:cs typeface="Calibri" pitchFamily="34" charset="-120"/>
              </a:rPr>
              <a:t>Constraints</a:t>
            </a:r>
            <a:endParaRPr lang="en-US" sz="1500" dirty="0"/>
          </a:p>
        </p:txBody>
      </p:sp>
      <p:sp>
        <p:nvSpPr>
          <p:cNvPr id="15" name="Text 13"/>
          <p:cNvSpPr/>
          <p:nvPr/>
        </p:nvSpPr>
        <p:spPr>
          <a:xfrm>
            <a:off x="2743200" y="4306824"/>
            <a:ext cx="3840480" cy="713232"/>
          </a:xfrm>
          <a:prstGeom prst="rect">
            <a:avLst/>
          </a:prstGeom>
          <a:noFill/>
          <a:ln/>
        </p:spPr>
        <p:txBody>
          <a:bodyPr wrap="square" lIns="0" tIns="0" rIns="0" bIns="0" rtlCol="0" anchor="ctr"/>
          <a:lstStyle/>
          <a:p>
            <a:pPr indent="0" marL="0">
              <a:buNone/>
            </a:pPr>
            <a:r>
              <a:rPr lang="en-US" sz="1400" dirty="0">
                <a:solidFill>
                  <a:srgbClr val="D6E3EF"/>
                </a:solidFill>
                <a:latin typeface="Calibri" pitchFamily="34" charset="0"/>
                <a:ea typeface="Calibri" pitchFamily="34" charset="-122"/>
                <a:cs typeface="Calibri" pitchFamily="34" charset="-120"/>
              </a:rPr>
              <a:t>voltage 0.95–1.05 pu, transformer ≤ 100 %, demand</a:t>
            </a:r>
            <a:endParaRPr lang="en-US" sz="1400" dirty="0"/>
          </a:p>
        </p:txBody>
      </p:sp>
      <p:sp>
        <p:nvSpPr>
          <p:cNvPr id="16" name="Shape 14"/>
          <p:cNvSpPr/>
          <p:nvPr/>
        </p:nvSpPr>
        <p:spPr>
          <a:xfrm>
            <a:off x="548640" y="5148072"/>
            <a:ext cx="6126480" cy="713232"/>
          </a:xfrm>
          <a:prstGeom prst="roundRect">
            <a:avLst>
              <a:gd name="adj" fmla="val 8974"/>
            </a:avLst>
          </a:prstGeom>
          <a:solidFill>
            <a:srgbClr val="16344B"/>
          </a:solidFill>
          <a:ln w="12700">
            <a:solidFill>
              <a:srgbClr val="27516E"/>
            </a:solidFill>
            <a:prstDash val="solid"/>
          </a:ln>
        </p:spPr>
      </p:sp>
      <p:sp>
        <p:nvSpPr>
          <p:cNvPr id="17" name="Text 15"/>
          <p:cNvSpPr/>
          <p:nvPr/>
        </p:nvSpPr>
        <p:spPr>
          <a:xfrm>
            <a:off x="731520" y="5148072"/>
            <a:ext cx="2011680" cy="713232"/>
          </a:xfrm>
          <a:prstGeom prst="rect">
            <a:avLst/>
          </a:prstGeom>
          <a:noFill/>
          <a:ln/>
        </p:spPr>
        <p:txBody>
          <a:bodyPr wrap="square" lIns="0" tIns="0" rIns="0" bIns="0" rtlCol="0" anchor="ctr"/>
          <a:lstStyle/>
          <a:p>
            <a:pPr indent="0" marL="0">
              <a:buNone/>
            </a:pPr>
            <a:r>
              <a:rPr lang="en-US" sz="1500" b="1" dirty="0">
                <a:solidFill>
                  <a:srgbClr val="F4A623"/>
                </a:solidFill>
                <a:latin typeface="Calibri" pitchFamily="34" charset="0"/>
                <a:ea typeface="Calibri" pitchFamily="34" charset="-122"/>
                <a:cs typeface="Calibri" pitchFamily="34" charset="-120"/>
              </a:rPr>
              <a:t>Objective</a:t>
            </a:r>
            <a:endParaRPr lang="en-US" sz="1500" dirty="0"/>
          </a:p>
        </p:txBody>
      </p:sp>
      <p:sp>
        <p:nvSpPr>
          <p:cNvPr id="18" name="Text 16"/>
          <p:cNvSpPr/>
          <p:nvPr/>
        </p:nvSpPr>
        <p:spPr>
          <a:xfrm>
            <a:off x="2743200" y="5148072"/>
            <a:ext cx="3840480" cy="713232"/>
          </a:xfrm>
          <a:prstGeom prst="rect">
            <a:avLst/>
          </a:prstGeom>
          <a:noFill/>
          <a:ln/>
        </p:spPr>
        <p:txBody>
          <a:bodyPr wrap="square" lIns="0" tIns="0" rIns="0" bIns="0" rtlCol="0" anchor="ctr"/>
          <a:lstStyle/>
          <a:p>
            <a:pPr indent="0" marL="0">
              <a:buNone/>
            </a:pPr>
            <a:r>
              <a:rPr lang="en-US" sz="1400" dirty="0">
                <a:solidFill>
                  <a:srgbClr val="D6E3EF"/>
                </a:solidFill>
                <a:latin typeface="Calibri" pitchFamily="34" charset="0"/>
                <a:ea typeface="Calibri" pitchFamily="34" charset="-122"/>
                <a:cs typeface="Calibri" pitchFamily="34" charset="-120"/>
              </a:rPr>
              <a:t>minimize grid energy cost (time-of-use)</a:t>
            </a:r>
            <a:endParaRPr lang="en-US" sz="1400" dirty="0"/>
          </a:p>
        </p:txBody>
      </p:sp>
      <p:sp>
        <p:nvSpPr>
          <p:cNvPr id="19" name="Text 17"/>
          <p:cNvSpPr/>
          <p:nvPr/>
        </p:nvSpPr>
        <p:spPr>
          <a:xfrm>
            <a:off x="7040880" y="1828800"/>
            <a:ext cx="4572000" cy="3291840"/>
          </a:xfrm>
          <a:prstGeom prst="rect">
            <a:avLst/>
          </a:prstGeom>
          <a:noFill/>
          <a:ln/>
        </p:spPr>
        <p:txBody>
          <a:bodyPr wrap="square" lIns="0" tIns="0" rIns="0" bIns="0" rtlCol="0" anchor="t"/>
          <a:lstStyle/>
          <a:p>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How it works
</a:t>
            </a:r>
            <a:endParaRPr lang="en-US" sz="1700" dirty="0"/>
          </a:p>
          <a:p>
            <a:pPr indent="0" marL="0">
              <a:lnSpc>
                <a:spcPct val="110000"/>
              </a:lnSpc>
              <a:buNone/>
            </a:pPr>
            <a:r>
              <a:rPr lang="en-US" sz="1500" dirty="0">
                <a:solidFill>
                  <a:srgbClr val="AEC2D4"/>
                </a:solidFill>
                <a:latin typeface="Calibri" pitchFamily="34" charset="0"/>
                <a:ea typeface="Calibri" pitchFamily="34" charset="-122"/>
                <a:cs typeface="Calibri" pitchFamily="34" charset="-120"/>
              </a:rPr>
              <a:t>Each hour the controller re-optimizes the remaining day on a forecast, applies only the next setpoint, then re-plans as the actual PV is realized — closed-loop feedback that rejects the weather disturbance.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METHOD — THE OPTIMIZATION ENGINE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How each plan is solved: particle-swarm optimization</a:t>
            </a:r>
            <a:endParaRPr lang="en-US" sz="3000" dirty="0"/>
          </a:p>
        </p:txBody>
      </p:sp>
      <p:pic>
        <p:nvPicPr>
          <p:cNvPr id="4" name="Image 0" descr="D:/Projects/hydrogen-dispatch/results/figures/pso_convergence.png">    </p:cNvPr>
          <p:cNvPicPr>
            <a:picLocks noChangeAspect="1"/>
          </p:cNvPicPr>
          <p:nvPr/>
        </p:nvPicPr>
        <p:blipFill>
          <a:blip r:embed="rId1"/>
          <a:srcRect l="0" r="0" t="0" b="0"/>
          <a:stretch/>
        </p:blipFill>
        <p:spPr>
          <a:xfrm>
            <a:off x="365760" y="1554480"/>
            <a:ext cx="7406640" cy="4663440"/>
          </a:xfrm>
          <a:prstGeom prst="rect">
            <a:avLst/>
          </a:prstGeom>
        </p:spPr>
      </p:pic>
      <p:sp>
        <p:nvSpPr>
          <p:cNvPr id="5" name="Shape 2"/>
          <p:cNvSpPr/>
          <p:nvPr/>
        </p:nvSpPr>
        <p:spPr>
          <a:xfrm>
            <a:off x="8321040" y="1783080"/>
            <a:ext cx="338328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6" name="Text 3"/>
          <p:cNvSpPr/>
          <p:nvPr/>
        </p:nvSpPr>
        <p:spPr>
          <a:xfrm>
            <a:off x="8412480" y="1947672"/>
            <a:ext cx="3200400" cy="658368"/>
          </a:xfrm>
          <a:prstGeom prst="rect">
            <a:avLst/>
          </a:prstGeom>
          <a:noFill/>
          <a:ln/>
        </p:spPr>
        <p:txBody>
          <a:bodyPr wrap="square" lIns="0" tIns="0" rIns="0" bIns="0" rtlCol="0" anchor="ctr"/>
          <a:lstStyle/>
          <a:p>
            <a:pPr algn="ctr" indent="0" marL="0">
              <a:buNone/>
            </a:pPr>
            <a:r>
              <a:rPr lang="en-US" sz="3000" b="1" dirty="0">
                <a:solidFill>
                  <a:srgbClr val="2A9D8F"/>
                </a:solidFill>
                <a:latin typeface="Cambria" pitchFamily="34" charset="0"/>
                <a:ea typeface="Cambria" pitchFamily="34" charset="-122"/>
                <a:cs typeface="Cambria" pitchFamily="34" charset="-120"/>
              </a:rPr>
              <a:t>3 / 3</a:t>
            </a:r>
            <a:endParaRPr lang="en-US" sz="3000" dirty="0"/>
          </a:p>
        </p:txBody>
      </p:sp>
      <p:sp>
        <p:nvSpPr>
          <p:cNvPr id="7" name="Text 4"/>
          <p:cNvSpPr/>
          <p:nvPr/>
        </p:nvSpPr>
        <p:spPr>
          <a:xfrm>
            <a:off x="8430768" y="2651760"/>
            <a:ext cx="316382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random seeds reach the same optimum — reproducible</a:t>
            </a:r>
            <a:endParaRPr lang="en-US" sz="1150" dirty="0"/>
          </a:p>
        </p:txBody>
      </p:sp>
      <p:sp>
        <p:nvSpPr>
          <p:cNvPr id="8" name="Text 5"/>
          <p:cNvSpPr/>
          <p:nvPr/>
        </p:nvSpPr>
        <p:spPr>
          <a:xfrm>
            <a:off x="8321040" y="3337560"/>
            <a:ext cx="347472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Re-planning is a hard search: 24 hourly setpoints, a non-linear electrolyzer and a 3-rate tariff — no closed-form solution.</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PSO = a swarm of candidate day-plans that 'fly' through the search space, each pulled toward its own best and the swarm's best.</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Fitness = grid energy cost + a penalty when the H₂ demand is missed.</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Converges to the least-cost plan in ~150 generations.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RESULT — WHAT THE CONTROLLER DOES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Rides free solar, dodges the evening peak</a:t>
            </a:r>
            <a:endParaRPr lang="en-US" sz="3000" dirty="0"/>
          </a:p>
        </p:txBody>
      </p:sp>
      <p:pic>
        <p:nvPicPr>
          <p:cNvPr id="4" name="Image 0" descr="D:/Projects/hydrogen-dispatch/results/figures/day_schedule_ghardaia.png">    </p:cNvPr>
          <p:cNvPicPr>
            <a:picLocks noChangeAspect="1"/>
          </p:cNvPicPr>
          <p:nvPr/>
        </p:nvPicPr>
        <p:blipFill>
          <a:blip r:embed="rId1"/>
          <a:srcRect l="0" r="0" t="0" b="0"/>
          <a:stretch/>
        </p:blipFill>
        <p:spPr>
          <a:xfrm>
            <a:off x="457200" y="1508760"/>
            <a:ext cx="7680960" cy="4937760"/>
          </a:xfrm>
          <a:prstGeom prst="rect">
            <a:avLst/>
          </a:prstGeom>
        </p:spPr>
      </p:pic>
      <p:sp>
        <p:nvSpPr>
          <p:cNvPr id="5" name="Shape 2"/>
          <p:cNvSpPr/>
          <p:nvPr/>
        </p:nvSpPr>
        <p:spPr>
          <a:xfrm>
            <a:off x="8595360" y="1737360"/>
            <a:ext cx="310896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6" name="Text 3"/>
          <p:cNvSpPr/>
          <p:nvPr/>
        </p:nvSpPr>
        <p:spPr>
          <a:xfrm>
            <a:off x="8686800" y="1901952"/>
            <a:ext cx="2926080" cy="658368"/>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27.8</a:t>
            </a:r>
            <a:endParaRPr lang="en-US" sz="3000" dirty="0"/>
          </a:p>
        </p:txBody>
      </p:sp>
      <p:sp>
        <p:nvSpPr>
          <p:cNvPr id="7" name="Text 4"/>
          <p:cNvSpPr/>
          <p:nvPr/>
        </p:nvSpPr>
        <p:spPr>
          <a:xfrm>
            <a:off x="8705088" y="2606040"/>
            <a:ext cx="288950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DA / kg  (clear summer, 200 kg/day)</a:t>
            </a:r>
            <a:endParaRPr lang="en-US" sz="1150" dirty="0"/>
          </a:p>
        </p:txBody>
      </p:sp>
      <p:sp>
        <p:nvSpPr>
          <p:cNvPr id="8" name="Text 5"/>
          <p:cNvSpPr/>
          <p:nvPr/>
        </p:nvSpPr>
        <p:spPr>
          <a:xfrm>
            <a:off x="8595360" y="3291840"/>
            <a:ext cx="320040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Full power on cheap night grid (1.21 DA).</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Setpoint tracks the PV mid-day (≈ zero grid).</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Shuts down through the 8.11 DA peak.</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Cloudy day shows real 15-min cloud transients.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RESULT — VALUE VS TRADITIONAL OPERATION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50–59 % cheaper than time-blind operation</a:t>
            </a:r>
            <a:endParaRPr lang="en-US" sz="3000" dirty="0"/>
          </a:p>
        </p:txBody>
      </p:sp>
      <p:pic>
        <p:nvPicPr>
          <p:cNvPr id="4" name="Image 0" descr="D:/Projects/hydrogen-dispatch/results/figures/baseline_comparison_ghardaia.png">    </p:cNvPr>
          <p:cNvPicPr>
            <a:picLocks noChangeAspect="1"/>
          </p:cNvPicPr>
          <p:nvPr/>
        </p:nvPicPr>
        <p:blipFill>
          <a:blip r:embed="rId1"/>
          <a:srcRect l="0" r="0" t="0" b="0"/>
          <a:stretch/>
        </p:blipFill>
        <p:spPr>
          <a:xfrm>
            <a:off x="457200" y="1554480"/>
            <a:ext cx="7223760" cy="4754880"/>
          </a:xfrm>
          <a:prstGeom prst="rect">
            <a:avLst/>
          </a:prstGeom>
        </p:spPr>
      </p:pic>
      <p:sp>
        <p:nvSpPr>
          <p:cNvPr id="5" name="Shape 2"/>
          <p:cNvSpPr/>
          <p:nvPr/>
        </p:nvSpPr>
        <p:spPr>
          <a:xfrm>
            <a:off x="8229600" y="1783080"/>
            <a:ext cx="169164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6" name="Text 3"/>
          <p:cNvSpPr/>
          <p:nvPr/>
        </p:nvSpPr>
        <p:spPr>
          <a:xfrm>
            <a:off x="8321040" y="1947672"/>
            <a:ext cx="1508760" cy="658368"/>
          </a:xfrm>
          <a:prstGeom prst="rect">
            <a:avLst/>
          </a:prstGeom>
          <a:noFill/>
          <a:ln/>
        </p:spPr>
        <p:txBody>
          <a:bodyPr wrap="square" lIns="0" tIns="0" rIns="0" bIns="0" rtlCol="0" anchor="ctr"/>
          <a:lstStyle/>
          <a:p>
            <a:pPr algn="ctr" indent="0" marL="0">
              <a:buNone/>
            </a:pPr>
            <a:r>
              <a:rPr lang="en-US" sz="3000" b="1" dirty="0">
                <a:solidFill>
                  <a:srgbClr val="F4A623"/>
                </a:solidFill>
                <a:latin typeface="Cambria" pitchFamily="34" charset="0"/>
                <a:ea typeface="Cambria" pitchFamily="34" charset="-122"/>
                <a:cs typeface="Cambria" pitchFamily="34" charset="-120"/>
              </a:rPr>
              <a:t>−59%</a:t>
            </a:r>
            <a:endParaRPr lang="en-US" sz="3000" dirty="0"/>
          </a:p>
        </p:txBody>
      </p:sp>
      <p:sp>
        <p:nvSpPr>
          <p:cNvPr id="7" name="Text 4"/>
          <p:cNvSpPr/>
          <p:nvPr/>
        </p:nvSpPr>
        <p:spPr>
          <a:xfrm>
            <a:off x="8339328" y="2651760"/>
            <a:ext cx="147218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vs constant baseload</a:t>
            </a:r>
            <a:endParaRPr lang="en-US" sz="1150" dirty="0"/>
          </a:p>
        </p:txBody>
      </p:sp>
      <p:sp>
        <p:nvSpPr>
          <p:cNvPr id="8" name="Shape 5"/>
          <p:cNvSpPr/>
          <p:nvPr/>
        </p:nvSpPr>
        <p:spPr>
          <a:xfrm>
            <a:off x="10058400" y="1783080"/>
            <a:ext cx="169164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9" name="Text 6"/>
          <p:cNvSpPr/>
          <p:nvPr/>
        </p:nvSpPr>
        <p:spPr>
          <a:xfrm>
            <a:off x="10149840" y="1947672"/>
            <a:ext cx="1508760" cy="658368"/>
          </a:xfrm>
          <a:prstGeom prst="rect">
            <a:avLst/>
          </a:prstGeom>
          <a:noFill/>
          <a:ln/>
        </p:spPr>
        <p:txBody>
          <a:bodyPr wrap="square" lIns="0" tIns="0" rIns="0" bIns="0" rtlCol="0" anchor="ctr"/>
          <a:lstStyle/>
          <a:p>
            <a:pPr algn="ctr" indent="0" marL="0">
              <a:buNone/>
            </a:pPr>
            <a:r>
              <a:rPr lang="en-US" sz="3000" b="1" dirty="0">
                <a:solidFill>
                  <a:srgbClr val="F4A623"/>
                </a:solidFill>
                <a:latin typeface="Cambria" pitchFamily="34" charset="0"/>
                <a:ea typeface="Cambria" pitchFamily="34" charset="-122"/>
                <a:cs typeface="Cambria" pitchFamily="34" charset="-120"/>
              </a:rPr>
              <a:t>−51%</a:t>
            </a:r>
            <a:endParaRPr lang="en-US" sz="3000" dirty="0"/>
          </a:p>
        </p:txBody>
      </p:sp>
      <p:sp>
        <p:nvSpPr>
          <p:cNvPr id="10" name="Text 7"/>
          <p:cNvSpPr/>
          <p:nvPr/>
        </p:nvSpPr>
        <p:spPr>
          <a:xfrm>
            <a:off x="10168128" y="2651760"/>
            <a:ext cx="147218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vs greedy ASAP</a:t>
            </a:r>
            <a:endParaRPr lang="en-US" sz="1150" dirty="0"/>
          </a:p>
        </p:txBody>
      </p:sp>
      <p:sp>
        <p:nvSpPr>
          <p:cNvPr id="11" name="Text 8"/>
          <p:cNvSpPr/>
          <p:nvPr/>
        </p:nvSpPr>
        <p:spPr>
          <a:xfrm>
            <a:off x="8229600" y="3383280"/>
            <a:ext cx="356616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Same hydrogen, same plant, same tariff — only the dispatch timing differs.</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Up to 100 % cheaper at low demand fully covered by solar.</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Naive rules degrade at high demand; the optimizer stays best.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RESULT — CONTROL-STRATEGY COMPARISON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MPC nearly matches the optimum, beats reactive control</a:t>
            </a:r>
            <a:endParaRPr lang="en-US" sz="3000" dirty="0"/>
          </a:p>
        </p:txBody>
      </p:sp>
      <p:pic>
        <p:nvPicPr>
          <p:cNvPr id="4" name="Image 0" descr="D:/Projects/hydrogen-dispatch/results/figures/mpc_comparison.png">    </p:cNvPr>
          <p:cNvPicPr>
            <a:picLocks noChangeAspect="1"/>
          </p:cNvPicPr>
          <p:nvPr/>
        </p:nvPicPr>
        <p:blipFill>
          <a:blip r:embed="rId1"/>
          <a:srcRect l="0" r="0" t="0" b="0"/>
          <a:stretch/>
        </p:blipFill>
        <p:spPr>
          <a:xfrm>
            <a:off x="457200" y="1554480"/>
            <a:ext cx="7772400" cy="4663440"/>
          </a:xfrm>
          <a:prstGeom prst="rect">
            <a:avLst/>
          </a:prstGeom>
        </p:spPr>
      </p:pic>
      <p:sp>
        <p:nvSpPr>
          <p:cNvPr id="5" name="Shape 2"/>
          <p:cNvSpPr/>
          <p:nvPr/>
        </p:nvSpPr>
        <p:spPr>
          <a:xfrm>
            <a:off x="8686800" y="1783080"/>
            <a:ext cx="301752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6" name="Text 3"/>
          <p:cNvSpPr/>
          <p:nvPr/>
        </p:nvSpPr>
        <p:spPr>
          <a:xfrm>
            <a:off x="8778240" y="1947672"/>
            <a:ext cx="2834640" cy="658368"/>
          </a:xfrm>
          <a:prstGeom prst="rect">
            <a:avLst/>
          </a:prstGeom>
          <a:noFill/>
          <a:ln/>
        </p:spPr>
        <p:txBody>
          <a:bodyPr wrap="square" lIns="0" tIns="0" rIns="0" bIns="0" rtlCol="0" anchor="ctr"/>
          <a:lstStyle/>
          <a:p>
            <a:pPr algn="ctr" indent="0" marL="0">
              <a:buNone/>
            </a:pPr>
            <a:r>
              <a:rPr lang="en-US" sz="3000" b="1" dirty="0">
                <a:solidFill>
                  <a:srgbClr val="2A9D8F"/>
                </a:solidFill>
                <a:latin typeface="Cambria" pitchFamily="34" charset="0"/>
                <a:ea typeface="Cambria" pitchFamily="34" charset="-122"/>
                <a:cs typeface="Cambria" pitchFamily="34" charset="-120"/>
              </a:rPr>
              <a:t>+2.4%</a:t>
            </a:r>
            <a:endParaRPr lang="en-US" sz="3000" dirty="0"/>
          </a:p>
        </p:txBody>
      </p:sp>
      <p:sp>
        <p:nvSpPr>
          <p:cNvPr id="7" name="Text 4"/>
          <p:cNvSpPr/>
          <p:nvPr/>
        </p:nvSpPr>
        <p:spPr>
          <a:xfrm>
            <a:off x="8796528" y="2651760"/>
            <a:ext cx="279806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MPC gap to perfect-foresight optimum</a:t>
            </a:r>
            <a:endParaRPr lang="en-US" sz="1150" dirty="0"/>
          </a:p>
        </p:txBody>
      </p:sp>
      <p:sp>
        <p:nvSpPr>
          <p:cNvPr id="8" name="Shape 5"/>
          <p:cNvSpPr/>
          <p:nvPr/>
        </p:nvSpPr>
        <p:spPr>
          <a:xfrm>
            <a:off x="8686800" y="3291840"/>
            <a:ext cx="301752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9" name="Text 6"/>
          <p:cNvSpPr/>
          <p:nvPr/>
        </p:nvSpPr>
        <p:spPr>
          <a:xfrm>
            <a:off x="8778240" y="3456432"/>
            <a:ext cx="2834640" cy="658368"/>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−51%</a:t>
            </a:r>
            <a:endParaRPr lang="en-US" sz="3000" dirty="0"/>
          </a:p>
        </p:txBody>
      </p:sp>
      <p:sp>
        <p:nvSpPr>
          <p:cNvPr id="10" name="Text 7"/>
          <p:cNvSpPr/>
          <p:nvPr/>
        </p:nvSpPr>
        <p:spPr>
          <a:xfrm>
            <a:off x="8796528" y="4160520"/>
            <a:ext cx="279806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MPC vs reactive rule-based</a:t>
            </a:r>
            <a:endParaRPr lang="en-US" sz="1150" dirty="0"/>
          </a:p>
        </p:txBody>
      </p:sp>
      <p:sp>
        <p:nvSpPr>
          <p:cNvPr id="11" name="Text 8"/>
          <p:cNvSpPr/>
          <p:nvPr/>
        </p:nvSpPr>
        <p:spPr>
          <a:xfrm>
            <a:off x="8686800" y="4892040"/>
            <a:ext cx="3108960" cy="1280160"/>
          </a:xfrm>
          <a:prstGeom prst="rect">
            <a:avLst/>
          </a:prstGeom>
          <a:noFill/>
          <a:ln/>
        </p:spPr>
        <p:txBody>
          <a:bodyPr wrap="square" lIns="0" tIns="0" rIns="0" bIns="0" rtlCol="0" anchor="t"/>
          <a:lstStyle/>
          <a:p>
            <a:pPr indent="0" marL="0">
              <a:buNone/>
            </a:pPr>
            <a:r>
              <a:rPr lang="en-US" sz="1350" dirty="0">
                <a:solidFill>
                  <a:srgbClr val="6B7C8F"/>
                </a:solidFill>
                <a:latin typeface="Calibri" pitchFamily="34" charset="0"/>
                <a:ea typeface="Calibri" pitchFamily="34" charset="-122"/>
                <a:cs typeface="Calibri" pitchFamily="34" charset="-120"/>
              </a:rPr>
              <a:t>Closed-loop MPC rejects the PV forecast disturbance and recovers ~98 % of the unreachable optimum — across 37 days of 2023.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RESULTS — FULL YEAR &amp; STORAGE FEASIBILITY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E2233"/>
                </a:solidFill>
                <a:latin typeface="Cambria" pitchFamily="34" charset="0"/>
                <a:ea typeface="Cambria" pitchFamily="34" charset="-122"/>
                <a:cs typeface="Cambria" pitchFamily="34" charset="-120"/>
              </a:rPr>
              <a:t>Year-round operation and a storage verdict</a:t>
            </a:r>
            <a:endParaRPr lang="en-US" sz="3000" dirty="0"/>
          </a:p>
        </p:txBody>
      </p:sp>
      <p:pic>
        <p:nvPicPr>
          <p:cNvPr id="4" name="Image 0" descr="D:/Projects/hydrogen-dispatch/results/figures/annual_calendar.png">    </p:cNvPr>
          <p:cNvPicPr>
            <a:picLocks noChangeAspect="1"/>
          </p:cNvPicPr>
          <p:nvPr/>
        </p:nvPicPr>
        <p:blipFill>
          <a:blip r:embed="rId1"/>
          <a:srcRect l="0" r="0" t="0" b="0"/>
          <a:stretch/>
        </p:blipFill>
        <p:spPr>
          <a:xfrm>
            <a:off x="457200" y="1554480"/>
            <a:ext cx="6766560" cy="2651760"/>
          </a:xfrm>
          <a:prstGeom prst="rect">
            <a:avLst/>
          </a:prstGeom>
        </p:spPr>
      </p:pic>
      <p:pic>
        <p:nvPicPr>
          <p:cNvPr id="5" name="Image 1" descr="D:/Projects/hydrogen-dispatch/results/figures/battery_sizing.png">    </p:cNvPr>
          <p:cNvPicPr>
            <a:picLocks noChangeAspect="1"/>
          </p:cNvPicPr>
          <p:nvPr/>
        </p:nvPicPr>
        <p:blipFill>
          <a:blip r:embed="rId2"/>
          <a:srcRect l="0" r="0" t="0" b="0"/>
          <a:stretch/>
        </p:blipFill>
        <p:spPr>
          <a:xfrm>
            <a:off x="640080" y="4297680"/>
            <a:ext cx="6309360" cy="2286000"/>
          </a:xfrm>
          <a:prstGeom prst="rect">
            <a:avLst/>
          </a:prstGeom>
        </p:spPr>
      </p:pic>
      <p:sp>
        <p:nvSpPr>
          <p:cNvPr id="6" name="Shape 2"/>
          <p:cNvSpPr/>
          <p:nvPr/>
        </p:nvSpPr>
        <p:spPr>
          <a:xfrm>
            <a:off x="7589520" y="1691640"/>
            <a:ext cx="210312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7" name="Text 3"/>
          <p:cNvSpPr/>
          <p:nvPr/>
        </p:nvSpPr>
        <p:spPr>
          <a:xfrm>
            <a:off x="7680960" y="1856232"/>
            <a:ext cx="1920240" cy="658368"/>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72.8 t</a:t>
            </a:r>
            <a:endParaRPr lang="en-US" sz="3000" dirty="0"/>
          </a:p>
        </p:txBody>
      </p:sp>
      <p:sp>
        <p:nvSpPr>
          <p:cNvPr id="8" name="Text 4"/>
          <p:cNvSpPr/>
          <p:nvPr/>
        </p:nvSpPr>
        <p:spPr>
          <a:xfrm>
            <a:off x="7699248" y="2560320"/>
            <a:ext cx="188366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H₂ / year (2023)</a:t>
            </a:r>
            <a:endParaRPr lang="en-US" sz="1150" dirty="0"/>
          </a:p>
        </p:txBody>
      </p:sp>
      <p:sp>
        <p:nvSpPr>
          <p:cNvPr id="9" name="Shape 5"/>
          <p:cNvSpPr/>
          <p:nvPr/>
        </p:nvSpPr>
        <p:spPr>
          <a:xfrm>
            <a:off x="9875520" y="1691640"/>
            <a:ext cx="192024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10" name="Text 6"/>
          <p:cNvSpPr/>
          <p:nvPr/>
        </p:nvSpPr>
        <p:spPr>
          <a:xfrm>
            <a:off x="9966960" y="1856232"/>
            <a:ext cx="1737360" cy="658368"/>
          </a:xfrm>
          <a:prstGeom prst="rect">
            <a:avLst/>
          </a:prstGeom>
          <a:noFill/>
          <a:ln/>
        </p:spPr>
        <p:txBody>
          <a:bodyPr wrap="square" lIns="0" tIns="0" rIns="0" bIns="0" rtlCol="0" anchor="ctr"/>
          <a:lstStyle/>
          <a:p>
            <a:pPr algn="ctr" indent="0" marL="0">
              <a:buNone/>
            </a:pPr>
            <a:r>
              <a:rPr lang="en-US" sz="3000" b="1" dirty="0">
                <a:solidFill>
                  <a:srgbClr val="2A9D8F"/>
                </a:solidFill>
                <a:latin typeface="Cambria" pitchFamily="34" charset="0"/>
                <a:ea typeface="Cambria" pitchFamily="34" charset="-122"/>
                <a:cs typeface="Cambria" pitchFamily="34" charset="-120"/>
              </a:rPr>
              <a:t>37%</a:t>
            </a:r>
            <a:endParaRPr lang="en-US" sz="3000" dirty="0"/>
          </a:p>
        </p:txBody>
      </p:sp>
      <p:sp>
        <p:nvSpPr>
          <p:cNvPr id="11" name="Text 7"/>
          <p:cNvSpPr/>
          <p:nvPr/>
        </p:nvSpPr>
        <p:spPr>
          <a:xfrm>
            <a:off x="9985248" y="2560320"/>
            <a:ext cx="170078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solar-powered</a:t>
            </a:r>
            <a:endParaRPr lang="en-US" sz="1150" dirty="0"/>
          </a:p>
        </p:txBody>
      </p:sp>
      <p:sp>
        <p:nvSpPr>
          <p:cNvPr id="12" name="Shape 8"/>
          <p:cNvSpPr/>
          <p:nvPr/>
        </p:nvSpPr>
        <p:spPr>
          <a:xfrm>
            <a:off x="7589520" y="3200400"/>
            <a:ext cx="210312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13" name="Text 9"/>
          <p:cNvSpPr/>
          <p:nvPr/>
        </p:nvSpPr>
        <p:spPr>
          <a:xfrm>
            <a:off x="7680960" y="3364992"/>
            <a:ext cx="1920240" cy="658368"/>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45.8</a:t>
            </a:r>
            <a:endParaRPr lang="en-US" sz="3000" dirty="0"/>
          </a:p>
        </p:txBody>
      </p:sp>
      <p:sp>
        <p:nvSpPr>
          <p:cNvPr id="14" name="Text 10"/>
          <p:cNvSpPr/>
          <p:nvPr/>
        </p:nvSpPr>
        <p:spPr>
          <a:xfrm>
            <a:off x="7699248" y="4069080"/>
            <a:ext cx="188366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DA/kg annual avg</a:t>
            </a:r>
            <a:endParaRPr lang="en-US" sz="1150" dirty="0"/>
          </a:p>
        </p:txBody>
      </p:sp>
      <p:sp>
        <p:nvSpPr>
          <p:cNvPr id="15" name="Shape 11"/>
          <p:cNvSpPr/>
          <p:nvPr/>
        </p:nvSpPr>
        <p:spPr>
          <a:xfrm>
            <a:off x="9875520" y="3200400"/>
            <a:ext cx="1920240" cy="1325880"/>
          </a:xfrm>
          <a:prstGeom prst="roundRect">
            <a:avLst>
              <a:gd name="adj" fmla="val 5517"/>
            </a:avLst>
          </a:prstGeom>
          <a:solidFill>
            <a:srgbClr val="FFFFFF"/>
          </a:solidFill>
          <a:ln w="12700">
            <a:solidFill>
              <a:srgbClr val="DCE5EC"/>
            </a:solidFill>
            <a:prstDash val="solid"/>
          </a:ln>
          <a:effectLst>
            <a:outerShdw sx="100000" sy="100000" kx="0" ky="0" algn="bl" rotWithShape="0" blurRad="114300" dist="38100" dir="5400000">
              <a:srgbClr val="0E2233">
                <a:alpha val="18000"/>
              </a:srgbClr>
            </a:outerShdw>
          </a:effectLst>
        </p:spPr>
      </p:sp>
      <p:sp>
        <p:nvSpPr>
          <p:cNvPr id="16" name="Text 12"/>
          <p:cNvSpPr/>
          <p:nvPr/>
        </p:nvSpPr>
        <p:spPr>
          <a:xfrm>
            <a:off x="9966960" y="3364992"/>
            <a:ext cx="1737360" cy="658368"/>
          </a:xfrm>
          <a:prstGeom prst="rect">
            <a:avLst/>
          </a:prstGeom>
          <a:noFill/>
          <a:ln/>
        </p:spPr>
        <p:txBody>
          <a:bodyPr wrap="square" lIns="0" tIns="0" rIns="0" bIns="0" rtlCol="0" anchor="ctr"/>
          <a:lstStyle/>
          <a:p>
            <a:pPr algn="ctr" indent="0" marL="0">
              <a:buNone/>
            </a:pPr>
            <a:r>
              <a:rPr lang="en-US" sz="3000" b="1" dirty="0">
                <a:solidFill>
                  <a:srgbClr val="F4A623"/>
                </a:solidFill>
                <a:latin typeface="Cambria" pitchFamily="34" charset="0"/>
                <a:ea typeface="Cambria" pitchFamily="34" charset="-122"/>
                <a:cs typeface="Cambria" pitchFamily="34" charset="-120"/>
              </a:rPr>
              <a:t>0 MWh</a:t>
            </a:r>
            <a:endParaRPr lang="en-US" sz="3000" dirty="0"/>
          </a:p>
        </p:txBody>
      </p:sp>
      <p:sp>
        <p:nvSpPr>
          <p:cNvPr id="17" name="Text 13"/>
          <p:cNvSpPr/>
          <p:nvPr/>
        </p:nvSpPr>
        <p:spPr>
          <a:xfrm>
            <a:off x="9985248" y="4069080"/>
            <a:ext cx="1700784" cy="384048"/>
          </a:xfrm>
          <a:prstGeom prst="rect">
            <a:avLst/>
          </a:prstGeom>
          <a:noFill/>
          <a:ln/>
        </p:spPr>
        <p:txBody>
          <a:bodyPr wrap="square" lIns="0" tIns="0" rIns="0" bIns="0" rtlCol="0" anchor="ctr"/>
          <a:lstStyle/>
          <a:p>
            <a:pPr algn="ctr" indent="0" marL="0">
              <a:buNone/>
            </a:pPr>
            <a:r>
              <a:rPr lang="en-US" sz="1150" dirty="0">
                <a:solidFill>
                  <a:srgbClr val="6B7C8F"/>
                </a:solidFill>
                <a:latin typeface="Calibri" pitchFamily="34" charset="0"/>
                <a:ea typeface="Calibri" pitchFamily="34" charset="-122"/>
                <a:cs typeface="Calibri" pitchFamily="34" charset="-120"/>
              </a:rPr>
              <a:t>optimal battery</a:t>
            </a:r>
            <a:endParaRPr lang="en-US" sz="1150" dirty="0"/>
          </a:p>
        </p:txBody>
      </p:sp>
      <p:sp>
        <p:nvSpPr>
          <p:cNvPr id="18" name="Text 14"/>
          <p:cNvSpPr/>
          <p:nvPr/>
        </p:nvSpPr>
        <p:spPr>
          <a:xfrm>
            <a:off x="7589520" y="4754880"/>
            <a:ext cx="4206240" cy="18288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Calendar heatmap: cheap, green summers vs dearer winters.</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Battery cuts energy cost (−26%) but does NOT pay back its CAPEX at this tariff — break-even ≈ $20/kWh (≈12× below today).</a:t>
            </a:r>
            <a:endParaRPr lang="en-US" sz="1500" dirty="0"/>
          </a:p>
          <a:p>
            <a:pPr marL="342900" indent="-342900">
              <a:spcAft>
                <a:spcPts val="900"/>
              </a:spcAft>
              <a:buSzPct val="100000"/>
              <a:buChar char="•"/>
            </a:pPr>
            <a:r>
              <a:rPr lang="en-US" sz="1500" dirty="0">
                <a:solidFill>
                  <a:srgbClr val="1A2733"/>
                </a:solidFill>
                <a:latin typeface="Calibri" pitchFamily="34" charset="0"/>
                <a:ea typeface="Calibri" pitchFamily="34" charset="-122"/>
                <a:cs typeface="Calibri" pitchFamily="34" charset="-120"/>
              </a:rPr>
              <a:t>An honest techno-economic / feasibility finding.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4A623"/>
                </a:solidFill>
                <a:latin typeface="Calibri" pitchFamily="34" charset="0"/>
                <a:ea typeface="Calibri" pitchFamily="34" charset="-122"/>
                <a:cs typeface="Calibri" pitchFamily="34" charset="-120"/>
              </a:rPr>
              <a:t>DELIVERABLE</a:t>
            </a:r>
            <a:endParaRPr lang="en-US" sz="1200" dirty="0"/>
          </a:p>
        </p:txBody>
      </p:sp>
      <p:sp>
        <p:nvSpPr>
          <p:cNvPr id="3" name="Text 1"/>
          <p:cNvSpPr/>
          <p:nvPr/>
        </p:nvSpPr>
        <p:spPr>
          <a:xfrm>
            <a:off x="548640" y="777240"/>
            <a:ext cx="8229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Interactive 3D digital twin</a:t>
            </a:r>
            <a:endParaRPr lang="en-US" sz="3000" dirty="0"/>
          </a:p>
        </p:txBody>
      </p:sp>
      <p:sp>
        <p:nvSpPr>
          <p:cNvPr id="4" name="Shape 2"/>
          <p:cNvSpPr/>
          <p:nvPr/>
        </p:nvSpPr>
        <p:spPr>
          <a:xfrm>
            <a:off x="9966960" y="548640"/>
            <a:ext cx="1737360" cy="502920"/>
          </a:xfrm>
          <a:prstGeom prst="roundRect">
            <a:avLst>
              <a:gd name="adj" fmla="val 18182"/>
            </a:avLst>
          </a:prstGeom>
          <a:solidFill>
            <a:srgbClr val="F4A623"/>
          </a:solidFill>
          <a:ln/>
        </p:spPr>
      </p:sp>
      <p:sp>
        <p:nvSpPr>
          <p:cNvPr id="5" name="Text 3"/>
          <p:cNvSpPr/>
          <p:nvPr/>
        </p:nvSpPr>
        <p:spPr>
          <a:xfrm>
            <a:off x="9966960" y="548640"/>
            <a:ext cx="1737360" cy="502920"/>
          </a:xfrm>
          <a:prstGeom prst="rect">
            <a:avLst/>
          </a:prstGeom>
          <a:noFill/>
          <a:ln/>
        </p:spPr>
        <p:txBody>
          <a:bodyPr wrap="square" lIns="0" tIns="0" rIns="0" bIns="0" rtlCol="0" anchor="ctr"/>
          <a:lstStyle/>
          <a:p>
            <a:pPr algn="ctr" indent="0" marL="0">
              <a:buNone/>
            </a:pPr>
            <a:r>
              <a:rPr lang="en-US" sz="1300" b="1" dirty="0">
                <a:solidFill>
                  <a:srgbClr val="0E2233"/>
                </a:solidFill>
                <a:latin typeface="Calibri" pitchFamily="34" charset="0"/>
                <a:ea typeface="Calibri" pitchFamily="34" charset="-122"/>
                <a:cs typeface="Calibri" pitchFamily="34" charset="-120"/>
              </a:rPr>
              <a:t>LIVE DEMO</a:t>
            </a:r>
            <a:endParaRPr lang="en-US" sz="1300" dirty="0"/>
          </a:p>
        </p:txBody>
      </p:sp>
      <p:sp>
        <p:nvSpPr>
          <p:cNvPr id="6" name="Shape 4"/>
          <p:cNvSpPr/>
          <p:nvPr/>
        </p:nvSpPr>
        <p:spPr>
          <a:xfrm>
            <a:off x="640080" y="2103120"/>
            <a:ext cx="1554480" cy="1097280"/>
          </a:xfrm>
          <a:prstGeom prst="roundRect">
            <a:avLst>
              <a:gd name="adj" fmla="val 8333"/>
            </a:avLst>
          </a:prstGeom>
          <a:solidFill>
            <a:srgbClr val="16344B"/>
          </a:solidFill>
          <a:ln w="25400">
            <a:solidFill>
              <a:srgbClr val="1C7293"/>
            </a:solidFill>
            <a:prstDash val="solid"/>
          </a:ln>
        </p:spPr>
      </p:sp>
      <p:sp>
        <p:nvSpPr>
          <p:cNvPr id="7" name="Text 5"/>
          <p:cNvSpPr/>
          <p:nvPr/>
        </p:nvSpPr>
        <p:spPr>
          <a:xfrm>
            <a:off x="640080"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Grid</a:t>
            </a:r>
            <a:endParaRPr lang="en-US" sz="1300" dirty="0"/>
          </a:p>
        </p:txBody>
      </p:sp>
      <p:sp>
        <p:nvSpPr>
          <p:cNvPr id="8" name="Shape 6"/>
          <p:cNvSpPr/>
          <p:nvPr/>
        </p:nvSpPr>
        <p:spPr>
          <a:xfrm>
            <a:off x="1344168" y="1901952"/>
            <a:ext cx="146304" cy="146304"/>
          </a:xfrm>
          <a:prstGeom prst="ellipse">
            <a:avLst/>
          </a:prstGeom>
          <a:solidFill>
            <a:srgbClr val="2A9D8F"/>
          </a:solidFill>
          <a:ln/>
        </p:spPr>
      </p:sp>
      <p:sp>
        <p:nvSpPr>
          <p:cNvPr id="9" name="Shape 7"/>
          <p:cNvSpPr/>
          <p:nvPr/>
        </p:nvSpPr>
        <p:spPr>
          <a:xfrm>
            <a:off x="2194560" y="2651760"/>
            <a:ext cx="292608" cy="0"/>
          </a:xfrm>
          <a:prstGeom prst="line">
            <a:avLst/>
          </a:prstGeom>
          <a:noFill/>
          <a:ln w="25400">
            <a:solidFill>
              <a:srgbClr val="F4A623"/>
            </a:solidFill>
            <a:prstDash val="solid"/>
          </a:ln>
        </p:spPr>
      </p:sp>
      <p:sp>
        <p:nvSpPr>
          <p:cNvPr id="10" name="Shape 8"/>
          <p:cNvSpPr/>
          <p:nvPr/>
        </p:nvSpPr>
        <p:spPr>
          <a:xfrm>
            <a:off x="2487168" y="2103120"/>
            <a:ext cx="1554480" cy="1097280"/>
          </a:xfrm>
          <a:prstGeom prst="roundRect">
            <a:avLst>
              <a:gd name="adj" fmla="val 8333"/>
            </a:avLst>
          </a:prstGeom>
          <a:solidFill>
            <a:srgbClr val="16344B"/>
          </a:solidFill>
          <a:ln w="25400">
            <a:solidFill>
              <a:srgbClr val="1C7293"/>
            </a:solidFill>
            <a:prstDash val="solid"/>
          </a:ln>
        </p:spPr>
      </p:sp>
      <p:sp>
        <p:nvSpPr>
          <p:cNvPr id="11" name="Text 9"/>
          <p:cNvSpPr/>
          <p:nvPr/>
        </p:nvSpPr>
        <p:spPr>
          <a:xfrm>
            <a:off x="2487168"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 kV</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bus</a:t>
            </a:r>
            <a:endParaRPr lang="en-US" sz="1300" dirty="0"/>
          </a:p>
        </p:txBody>
      </p:sp>
      <p:sp>
        <p:nvSpPr>
          <p:cNvPr id="12" name="Shape 10"/>
          <p:cNvSpPr/>
          <p:nvPr/>
        </p:nvSpPr>
        <p:spPr>
          <a:xfrm>
            <a:off x="3191256" y="1901952"/>
            <a:ext cx="146304" cy="146304"/>
          </a:xfrm>
          <a:prstGeom prst="ellipse">
            <a:avLst/>
          </a:prstGeom>
          <a:solidFill>
            <a:srgbClr val="2A9D8F"/>
          </a:solidFill>
          <a:ln/>
        </p:spPr>
      </p:sp>
      <p:sp>
        <p:nvSpPr>
          <p:cNvPr id="13" name="Shape 11"/>
          <p:cNvSpPr/>
          <p:nvPr/>
        </p:nvSpPr>
        <p:spPr>
          <a:xfrm>
            <a:off x="4041648" y="2651760"/>
            <a:ext cx="292608" cy="0"/>
          </a:xfrm>
          <a:prstGeom prst="line">
            <a:avLst/>
          </a:prstGeom>
          <a:noFill/>
          <a:ln w="25400">
            <a:solidFill>
              <a:srgbClr val="F4A623"/>
            </a:solidFill>
            <a:prstDash val="solid"/>
          </a:ln>
        </p:spPr>
      </p:sp>
      <p:sp>
        <p:nvSpPr>
          <p:cNvPr id="14" name="Shape 12"/>
          <p:cNvSpPr/>
          <p:nvPr/>
        </p:nvSpPr>
        <p:spPr>
          <a:xfrm>
            <a:off x="4334256" y="2103120"/>
            <a:ext cx="1554480" cy="1097280"/>
          </a:xfrm>
          <a:prstGeom prst="roundRect">
            <a:avLst>
              <a:gd name="adj" fmla="val 8333"/>
            </a:avLst>
          </a:prstGeom>
          <a:solidFill>
            <a:srgbClr val="16344B"/>
          </a:solidFill>
          <a:ln w="25400">
            <a:solidFill>
              <a:srgbClr val="F4A623"/>
            </a:solidFill>
            <a:prstDash val="solid"/>
          </a:ln>
        </p:spPr>
      </p:sp>
      <p:sp>
        <p:nvSpPr>
          <p:cNvPr id="15" name="Text 13"/>
          <p:cNvSpPr/>
          <p:nvPr/>
        </p:nvSpPr>
        <p:spPr>
          <a:xfrm>
            <a:off x="4334256"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 MVA</a:t>
            </a:r>
            <a:endParaRPr lang="en-US" sz="1300" dirty="0"/>
          </a:p>
        </p:txBody>
      </p:sp>
      <p:sp>
        <p:nvSpPr>
          <p:cNvPr id="16" name="Shape 14"/>
          <p:cNvSpPr/>
          <p:nvPr/>
        </p:nvSpPr>
        <p:spPr>
          <a:xfrm>
            <a:off x="5038344" y="1901952"/>
            <a:ext cx="146304" cy="146304"/>
          </a:xfrm>
          <a:prstGeom prst="ellipse">
            <a:avLst/>
          </a:prstGeom>
          <a:solidFill>
            <a:srgbClr val="2A9D8F"/>
          </a:solidFill>
          <a:ln/>
        </p:spPr>
      </p:sp>
      <p:sp>
        <p:nvSpPr>
          <p:cNvPr id="17" name="Shape 15"/>
          <p:cNvSpPr/>
          <p:nvPr/>
        </p:nvSpPr>
        <p:spPr>
          <a:xfrm>
            <a:off x="5888736" y="2651760"/>
            <a:ext cx="292608" cy="0"/>
          </a:xfrm>
          <a:prstGeom prst="line">
            <a:avLst/>
          </a:prstGeom>
          <a:noFill/>
          <a:ln w="25400">
            <a:solidFill>
              <a:srgbClr val="F4A623"/>
            </a:solidFill>
            <a:prstDash val="solid"/>
          </a:ln>
        </p:spPr>
      </p:sp>
      <p:sp>
        <p:nvSpPr>
          <p:cNvPr id="18" name="Shape 16"/>
          <p:cNvSpPr/>
          <p:nvPr/>
        </p:nvSpPr>
        <p:spPr>
          <a:xfrm>
            <a:off x="6181344" y="2103120"/>
            <a:ext cx="1554480" cy="1097280"/>
          </a:xfrm>
          <a:prstGeom prst="roundRect">
            <a:avLst>
              <a:gd name="adj" fmla="val 8333"/>
            </a:avLst>
          </a:prstGeom>
          <a:solidFill>
            <a:srgbClr val="16344B"/>
          </a:solidFill>
          <a:ln w="25400">
            <a:solidFill>
              <a:srgbClr val="1C7293"/>
            </a:solidFill>
            <a:prstDash val="solid"/>
          </a:ln>
        </p:spPr>
      </p:sp>
      <p:sp>
        <p:nvSpPr>
          <p:cNvPr id="19" name="Text 17"/>
          <p:cNvSpPr/>
          <p:nvPr/>
        </p:nvSpPr>
        <p:spPr>
          <a:xfrm>
            <a:off x="6181344"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0.415 kV</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bus</a:t>
            </a:r>
            <a:endParaRPr lang="en-US" sz="1300" dirty="0"/>
          </a:p>
        </p:txBody>
      </p:sp>
      <p:sp>
        <p:nvSpPr>
          <p:cNvPr id="20" name="Shape 18"/>
          <p:cNvSpPr/>
          <p:nvPr/>
        </p:nvSpPr>
        <p:spPr>
          <a:xfrm>
            <a:off x="6885432" y="1901952"/>
            <a:ext cx="146304" cy="146304"/>
          </a:xfrm>
          <a:prstGeom prst="ellipse">
            <a:avLst/>
          </a:prstGeom>
          <a:solidFill>
            <a:srgbClr val="2A9D8F"/>
          </a:solidFill>
          <a:ln/>
        </p:spPr>
      </p:sp>
      <p:sp>
        <p:nvSpPr>
          <p:cNvPr id="21" name="Shape 19"/>
          <p:cNvSpPr/>
          <p:nvPr/>
        </p:nvSpPr>
        <p:spPr>
          <a:xfrm>
            <a:off x="7735824" y="2651760"/>
            <a:ext cx="292608" cy="0"/>
          </a:xfrm>
          <a:prstGeom prst="line">
            <a:avLst/>
          </a:prstGeom>
          <a:noFill/>
          <a:ln w="25400">
            <a:solidFill>
              <a:srgbClr val="F4A623"/>
            </a:solidFill>
            <a:prstDash val="solid"/>
          </a:ln>
        </p:spPr>
      </p:sp>
      <p:sp>
        <p:nvSpPr>
          <p:cNvPr id="22" name="Shape 20"/>
          <p:cNvSpPr/>
          <p:nvPr/>
        </p:nvSpPr>
        <p:spPr>
          <a:xfrm>
            <a:off x="8028432" y="2103120"/>
            <a:ext cx="1554480" cy="1097280"/>
          </a:xfrm>
          <a:prstGeom prst="roundRect">
            <a:avLst>
              <a:gd name="adj" fmla="val 8333"/>
            </a:avLst>
          </a:prstGeom>
          <a:solidFill>
            <a:srgbClr val="16344B"/>
          </a:solidFill>
          <a:ln w="25400">
            <a:solidFill>
              <a:srgbClr val="2A9D8F"/>
            </a:solidFill>
            <a:prstDash val="solid"/>
          </a:ln>
        </p:spPr>
      </p:sp>
      <p:sp>
        <p:nvSpPr>
          <p:cNvPr id="23" name="Text 21"/>
          <p:cNvSpPr/>
          <p:nvPr/>
        </p:nvSpPr>
        <p:spPr>
          <a:xfrm>
            <a:off x="8028432"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PV</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array</a:t>
            </a:r>
            <a:endParaRPr lang="en-US" sz="1300" dirty="0"/>
          </a:p>
        </p:txBody>
      </p:sp>
      <p:sp>
        <p:nvSpPr>
          <p:cNvPr id="24" name="Shape 22"/>
          <p:cNvSpPr/>
          <p:nvPr/>
        </p:nvSpPr>
        <p:spPr>
          <a:xfrm>
            <a:off x="8732520" y="1901952"/>
            <a:ext cx="146304" cy="146304"/>
          </a:xfrm>
          <a:prstGeom prst="ellipse">
            <a:avLst/>
          </a:prstGeom>
          <a:solidFill>
            <a:srgbClr val="2A9D8F"/>
          </a:solidFill>
          <a:ln/>
        </p:spPr>
      </p:sp>
      <p:sp>
        <p:nvSpPr>
          <p:cNvPr id="25" name="Shape 23"/>
          <p:cNvSpPr/>
          <p:nvPr/>
        </p:nvSpPr>
        <p:spPr>
          <a:xfrm>
            <a:off x="9582912" y="2651760"/>
            <a:ext cx="292608" cy="0"/>
          </a:xfrm>
          <a:prstGeom prst="line">
            <a:avLst/>
          </a:prstGeom>
          <a:noFill/>
          <a:ln w="25400">
            <a:solidFill>
              <a:srgbClr val="F4A623"/>
            </a:solidFill>
            <a:prstDash val="solid"/>
          </a:ln>
        </p:spPr>
      </p:sp>
      <p:sp>
        <p:nvSpPr>
          <p:cNvPr id="26" name="Shape 24"/>
          <p:cNvSpPr/>
          <p:nvPr/>
        </p:nvSpPr>
        <p:spPr>
          <a:xfrm>
            <a:off x="9875520" y="2103120"/>
            <a:ext cx="1554480" cy="1097280"/>
          </a:xfrm>
          <a:prstGeom prst="roundRect">
            <a:avLst>
              <a:gd name="adj" fmla="val 8333"/>
            </a:avLst>
          </a:prstGeom>
          <a:solidFill>
            <a:srgbClr val="16344B"/>
          </a:solidFill>
          <a:ln w="25400">
            <a:solidFill>
              <a:srgbClr val="2A9D8F"/>
            </a:solidFill>
            <a:prstDash val="solid"/>
          </a:ln>
        </p:spPr>
      </p:sp>
      <p:sp>
        <p:nvSpPr>
          <p:cNvPr id="27" name="Text 25"/>
          <p:cNvSpPr/>
          <p:nvPr/>
        </p:nvSpPr>
        <p:spPr>
          <a:xfrm>
            <a:off x="9875520" y="2103120"/>
            <a:ext cx="15544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Electro-</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lyzer</a:t>
            </a:r>
            <a:endParaRPr lang="en-US" sz="1300" dirty="0"/>
          </a:p>
        </p:txBody>
      </p:sp>
      <p:sp>
        <p:nvSpPr>
          <p:cNvPr id="28" name="Shape 26"/>
          <p:cNvSpPr/>
          <p:nvPr/>
        </p:nvSpPr>
        <p:spPr>
          <a:xfrm>
            <a:off x="10579608" y="1901952"/>
            <a:ext cx="146304" cy="146304"/>
          </a:xfrm>
          <a:prstGeom prst="ellipse">
            <a:avLst/>
          </a:prstGeom>
          <a:solidFill>
            <a:srgbClr val="2A9D8F"/>
          </a:solidFill>
          <a:ln/>
        </p:spPr>
      </p:sp>
      <p:sp>
        <p:nvSpPr>
          <p:cNvPr id="29" name="Text 27"/>
          <p:cNvSpPr/>
          <p:nvPr/>
        </p:nvSpPr>
        <p:spPr>
          <a:xfrm>
            <a:off x="640080" y="3794760"/>
            <a:ext cx="1097280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C8D6E4"/>
                </a:solidFill>
                <a:latin typeface="Calibri" pitchFamily="34" charset="0"/>
                <a:ea typeface="Calibri" pitchFamily="34" charset="-122"/>
                <a:cs typeface="Calibri" pitchFamily="34" charset="-120"/>
              </a:rPr>
              <a:t>Three.js 3D scene of the plant with a time slider stepping through the day in 15-minute steps.</a:t>
            </a:r>
            <a:endParaRPr lang="en-US" sz="1500" dirty="0"/>
          </a:p>
          <a:p>
            <a:pPr marL="342900" indent="-342900">
              <a:spcAft>
                <a:spcPts val="900"/>
              </a:spcAft>
              <a:buSzPct val="100000"/>
              <a:buChar char="•"/>
            </a:pPr>
            <a:r>
              <a:rPr lang="en-US" sz="1500" dirty="0">
                <a:solidFill>
                  <a:srgbClr val="C8D6E4"/>
                </a:solidFill>
                <a:latin typeface="Calibri" pitchFamily="34" charset="0"/>
                <a:ea typeface="Calibri" pitchFamily="34" charset="-122"/>
                <a:cs typeface="Calibri" pitchFamily="34" charset="-120"/>
              </a:rPr>
              <a:t>ETAP-style floating labels per device — bus voltage, transformer loading, currents, power — colour-coded green/amber/red against the limits.</a:t>
            </a:r>
            <a:endParaRPr lang="en-US" sz="1500" dirty="0"/>
          </a:p>
          <a:p>
            <a:pPr marL="342900" indent="-342900">
              <a:spcAft>
                <a:spcPts val="900"/>
              </a:spcAft>
              <a:buSzPct val="100000"/>
              <a:buChar char="•"/>
            </a:pPr>
            <a:r>
              <a:rPr lang="en-US" sz="1500" dirty="0">
                <a:solidFill>
                  <a:srgbClr val="C8D6E4"/>
                </a:solidFill>
                <a:latin typeface="Calibri" pitchFamily="34" charset="0"/>
                <a:ea typeface="Calibri" pitchFamily="34" charset="-122"/>
                <a:cs typeface="Calibri" pitchFamily="34" charset="-120"/>
              </a:rPr>
              <a:t>Every value comes from the validated pandapower load flow (no invented numbers). Animated power-flow arrows show import / solar / load.</a:t>
            </a:r>
            <a:endParaRPr lang="en-US" sz="1500" dirty="0"/>
          </a:p>
          <a:p>
            <a:pPr marL="342900" indent="-342900">
              <a:spcAft>
                <a:spcPts val="900"/>
              </a:spcAft>
              <a:buSzPct val="100000"/>
              <a:buChar char="•"/>
            </a:pPr>
            <a:r>
              <a:rPr lang="en-US" sz="1500" dirty="0">
                <a:solidFill>
                  <a:srgbClr val="C8D6E4"/>
                </a:solidFill>
                <a:latin typeface="Calibri" pitchFamily="34" charset="0"/>
                <a:ea typeface="Calibri" pitchFamily="34" charset="-122"/>
                <a:cs typeface="Calibri" pitchFamily="34" charset="-120"/>
              </a:rPr>
              <a:t>Self-contained: opens by double-clicking — works offline, no server.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548640" y="548640"/>
            <a:ext cx="10058400" cy="365760"/>
          </a:xfrm>
          <a:prstGeom prst="rect">
            <a:avLst/>
          </a:prstGeom>
          <a:noFill/>
          <a:ln/>
        </p:spPr>
        <p:txBody>
          <a:bodyPr wrap="square" lIns="0" tIns="0" rIns="0" bIns="0" rtlCol="0" anchor="ctr"/>
          <a:lstStyle/>
          <a:p>
            <a:pPr indent="0" marL="0">
              <a:buNone/>
            </a:pPr>
            <a:r>
              <a:rPr lang="en-US" sz="1200" b="1" spc="300" kern="0" dirty="0">
                <a:solidFill>
                  <a:srgbClr val="F4A623"/>
                </a:solidFill>
                <a:latin typeface="Calibri" pitchFamily="34" charset="0"/>
                <a:ea typeface="Calibri" pitchFamily="34" charset="-122"/>
                <a:cs typeface="Calibri" pitchFamily="34" charset="-120"/>
              </a:rPr>
              <a:t>STATUS &amp; NEXT STEPS</a:t>
            </a:r>
            <a:endParaRPr lang="en-US" sz="1200" dirty="0"/>
          </a:p>
        </p:txBody>
      </p:sp>
      <p:sp>
        <p:nvSpPr>
          <p:cNvPr id="3" name="Text 1"/>
          <p:cNvSpPr/>
          <p:nvPr/>
        </p:nvSpPr>
        <p:spPr>
          <a:xfrm>
            <a:off x="548640" y="91440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the project stands</a:t>
            </a:r>
            <a:endParaRPr lang="en-US" sz="3000" dirty="0"/>
          </a:p>
        </p:txBody>
      </p:sp>
      <p:sp>
        <p:nvSpPr>
          <p:cNvPr id="4" name="Text 2"/>
          <p:cNvSpPr/>
          <p:nvPr/>
        </p:nvSpPr>
        <p:spPr>
          <a:xfrm>
            <a:off x="640080" y="1920240"/>
            <a:ext cx="5303520" cy="320040"/>
          </a:xfrm>
          <a:prstGeom prst="rect">
            <a:avLst/>
          </a:prstGeom>
          <a:noFill/>
          <a:ln/>
        </p:spPr>
        <p:txBody>
          <a:bodyPr wrap="square" lIns="0" tIns="0" rIns="0" bIns="0" rtlCol="0" anchor="ctr"/>
          <a:lstStyle/>
          <a:p>
            <a:pPr indent="0" marL="0">
              <a:buNone/>
            </a:pPr>
            <a:r>
              <a:rPr lang="en-US" sz="1400" b="1" spc="200" kern="0" dirty="0">
                <a:solidFill>
                  <a:srgbClr val="2A9D8F"/>
                </a:solidFill>
                <a:latin typeface="Calibri" pitchFamily="34" charset="0"/>
                <a:ea typeface="Calibri" pitchFamily="34" charset="-122"/>
                <a:cs typeface="Calibri" pitchFamily="34" charset="-120"/>
              </a:rPr>
              <a:t>DONE</a:t>
            </a:r>
            <a:endParaRPr lang="en-US" sz="1400" dirty="0"/>
          </a:p>
        </p:txBody>
      </p:sp>
      <p:sp>
        <p:nvSpPr>
          <p:cNvPr id="5" name="Text 3"/>
          <p:cNvSpPr/>
          <p:nvPr/>
        </p:nvSpPr>
        <p:spPr>
          <a:xfrm>
            <a:off x="640080" y="2286000"/>
            <a:ext cx="5394960" cy="38404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ETAP-validated network model (24/24 checks).</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Real-data pipeline: CAMS + ERA5 → PySAM, full 2023.</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MPC supervisory controller + strategy comparison.</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Dispatch, full-year and battery results.</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Interactive 3D digital twin (live).</a:t>
            </a:r>
            <a:endParaRPr lang="en-US" sz="1500" dirty="0"/>
          </a:p>
        </p:txBody>
      </p:sp>
      <p:sp>
        <p:nvSpPr>
          <p:cNvPr id="6" name="Text 4"/>
          <p:cNvSpPr/>
          <p:nvPr/>
        </p:nvSpPr>
        <p:spPr>
          <a:xfrm>
            <a:off x="6309360" y="1920240"/>
            <a:ext cx="5303520" cy="320040"/>
          </a:xfrm>
          <a:prstGeom prst="rect">
            <a:avLst/>
          </a:prstGeom>
          <a:noFill/>
          <a:ln/>
        </p:spPr>
        <p:txBody>
          <a:bodyPr wrap="square" lIns="0" tIns="0" rIns="0" bIns="0" rtlCol="0" anchor="ctr"/>
          <a:lstStyle/>
          <a:p>
            <a:pPr indent="0" marL="0">
              <a:buNone/>
            </a:pPr>
            <a:r>
              <a:rPr lang="en-US" sz="1400" b="1" spc="200" kern="0" dirty="0">
                <a:solidFill>
                  <a:srgbClr val="F4A623"/>
                </a:solidFill>
                <a:latin typeface="Calibri" pitchFamily="34" charset="0"/>
                <a:ea typeface="Calibri" pitchFamily="34" charset="-122"/>
                <a:cs typeface="Calibri" pitchFamily="34" charset="-120"/>
              </a:rPr>
              <a:t>NEXT</a:t>
            </a:r>
            <a:endParaRPr lang="en-US" sz="1400" dirty="0"/>
          </a:p>
        </p:txBody>
      </p:sp>
      <p:sp>
        <p:nvSpPr>
          <p:cNvPr id="7" name="Text 5"/>
          <p:cNvSpPr/>
          <p:nvPr/>
        </p:nvSpPr>
        <p:spPr>
          <a:xfrm>
            <a:off x="6309360" y="2286000"/>
            <a:ext cx="5303520" cy="38404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Tighten the control write-up (Ch. 4–5) around the MPC.</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Sensitivity / robustness across more weather years.</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Optional: bind the network (larger PV) so limits activate.</a:t>
            </a:r>
            <a:endParaRPr lang="en-US" sz="1500" dirty="0"/>
          </a:p>
          <a:p>
            <a:pPr marL="342900" indent="-342900">
              <a:spcAft>
                <a:spcPts val="900"/>
              </a:spcAft>
              <a:buSzPct val="100000"/>
              <a:buChar char="•"/>
            </a:pPr>
            <a:r>
              <a:rPr lang="en-US" sz="1500" dirty="0">
                <a:solidFill>
                  <a:srgbClr val="D6E3EF"/>
                </a:solidFill>
                <a:latin typeface="Calibri" pitchFamily="34" charset="0"/>
                <a:ea typeface="Calibri" pitchFamily="34" charset="-122"/>
                <a:cs typeface="Calibri" pitchFamily="34" charset="-120"/>
              </a:rPr>
              <a:t>Polish dashboard + 3D twin for the defense.</a:t>
            </a:r>
            <a:endParaRPr lang="en-US" sz="1500" dirty="0"/>
          </a:p>
        </p:txBody>
      </p:sp>
      <p:sp>
        <p:nvSpPr>
          <p:cNvPr id="8" name="Text 6"/>
          <p:cNvSpPr/>
          <p:nvPr/>
        </p:nvSpPr>
        <p:spPr>
          <a:xfrm>
            <a:off x="640080" y="6217920"/>
            <a:ext cx="10972800" cy="365760"/>
          </a:xfrm>
          <a:prstGeom prst="rect">
            <a:avLst/>
          </a:prstGeom>
          <a:noFill/>
          <a:ln/>
        </p:spPr>
        <p:txBody>
          <a:bodyPr wrap="square" lIns="0" tIns="0" rIns="0" bIns="0" rtlCol="0" anchor="ctr"/>
          <a:lstStyle/>
          <a:p>
            <a:pPr indent="0" marL="0">
              <a:buNone/>
            </a:pPr>
            <a:r>
              <a:rPr lang="en-US" sz="1200" i="1" dirty="0">
                <a:solidFill>
                  <a:srgbClr val="8EA6BC"/>
                </a:solidFill>
                <a:latin typeface="Calibri" pitchFamily="34" charset="0"/>
                <a:ea typeface="Calibri" pitchFamily="34" charset="-122"/>
                <a:cs typeface="Calibri" pitchFamily="34" charset="-120"/>
              </a:rPr>
              <a:t>All code, data and figures versioned on GitHub · youcefboubidi/hydrogen-dispatch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Supervisory Dispatch Control — Progress Update</dc:title>
  <dc:subject>PptxGenJS Presentation</dc:subject>
  <dc:creator>youcefboubidi</dc:creator>
  <cp:lastModifiedBy>youcefboubidi</cp:lastModifiedBy>
  <cp:revision>1</cp:revision>
  <dcterms:created xsi:type="dcterms:W3CDTF">2026-06-17T08:57:30Z</dcterms:created>
  <dcterms:modified xsi:type="dcterms:W3CDTF">2026-06-17T08:57:30Z</dcterms:modified>
</cp:coreProperties>
</file>